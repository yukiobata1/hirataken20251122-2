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770" y="1314599"/>
            <a:ext cx="767645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2元LJポテンシャルによる液体Gaの肩構造再現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936950" y="2362200"/>
            <a:ext cx="126995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55686" y="2717750"/>
            <a:ext cx="50326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分子動力学シミュレーションによるアプローチ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02811" y="3403550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進捗報告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背景と目的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079450"/>
            <a:ext cx="842030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液体Gaの特異な構造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4401" y="1508075"/>
            <a:ext cx="8420302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液体ガリウムの構造因子S(Q)には、Q = 2.8-3.5 A付近に特徴的な「肩」構造が存在する。これは単一のLJポテンシャルでは再現できない。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401" y="2193578"/>
            <a:ext cx="842030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4401" y="2622203"/>
            <a:ext cx="8255198" cy="8888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2元LJポテンシャルモデルで肩構造を再現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Gaの局所構造に2種類の環境が共存することを検証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最適パラメータの探索とVoronoi解析による構造理解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401" y="3701504"/>
            <a:ext cx="8255198" cy="628501"/>
          </a:xfrm>
          <a:prstGeom prst="rect">
            <a:avLst/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213" y="3701504"/>
            <a:ext cx="0" cy="62850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26" y="3892004"/>
            <a:ext cx="798310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仮説: Gaには「コンパクト」と「開かれた」2つの局所環境が共存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手法: 2元モデルの設計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015901"/>
            <a:ext cx="3968948" cy="1174254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6326" y="1177826"/>
            <a:ext cx="37180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 (タイプ1)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6326" y="1510308"/>
            <a:ext cx="371800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シグマ = 2.97 A (1.1倍基準)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6326" y="1769269"/>
            <a:ext cx="371800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コンパクトな局所構造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2342555"/>
            <a:ext cx="3968948" cy="1174254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6326" y="2504480"/>
            <a:ext cx="37180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Ga2 (タイプ2)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6326" y="2836962"/>
            <a:ext cx="371800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シグマ = 2.43 A (0.9倍基準)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6326" y="3095923"/>
            <a:ext cx="371800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開かれた局所構造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3669209"/>
            <a:ext cx="4048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基準シグマ = 2.70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4401" y="4009430"/>
            <a:ext cx="4048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イプシロン = 0.430 kcal/mol (共通)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0800" y="1015901"/>
            <a:ext cx="404832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シミュレーション条件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30800" y="1425476"/>
            <a:ext cx="3968948" cy="52551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2300" y="1526977"/>
            <a:ext cx="19206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パラメータ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15274" y="1526977"/>
            <a:ext cx="19206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0800" y="2430661"/>
            <a:ext cx="39689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0800" y="2027188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5274" y="2027188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423.15 K (150度C)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0800" y="2915096"/>
            <a:ext cx="39689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0800" y="2511623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15274" y="2511623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0800" y="3399532"/>
            <a:ext cx="39689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0800" y="2996059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数密度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5274" y="2996059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0.0522 原子/A3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0800" y="3883968"/>
            <a:ext cx="39689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0800" y="3480495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平衡化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15274" y="3480495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ステップ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0800" y="4368403"/>
            <a:ext cx="39689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0800" y="3964930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本番計測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15274" y="3964930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ステップ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グリッドサーチ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015901"/>
            <a:ext cx="36507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探索パラメータ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4401" y="1463576"/>
            <a:ext cx="3579168" cy="1549301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1663601"/>
            <a:ext cx="3242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シグマ12比 (Ga1-Ga2相互作用)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426" y="1990576"/>
            <a:ext cx="3179118" cy="1714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1.12, 1.13, 1.14, 1.15, 1.16, 1.17, 1.18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426" y="2238226"/>
            <a:ext cx="3242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Ga1割合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426" y="2565202"/>
            <a:ext cx="3179118" cy="1714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45%, 48%, 50%, 52%, 55%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01" y="3203377"/>
            <a:ext cx="36507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計35シミュレーション実行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4568" y="1015901"/>
            <a:ext cx="43809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評価指標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04568" y="1463576"/>
            <a:ext cx="4295031" cy="749201"/>
          </a:xfrm>
          <a:prstGeom prst="roundRect">
            <a:avLst>
              <a:gd name="adj" fmla="val 678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56968" y="1615976"/>
            <a:ext cx="4070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R因子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6968" y="1879402"/>
            <a:ext cx="4070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S(Q)全体の一致度を評価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4568" y="2339727"/>
            <a:ext cx="4295031" cy="720626"/>
          </a:xfrm>
          <a:prstGeom prst="roundRect">
            <a:avLst>
              <a:gd name="adj" fmla="val 7049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56968" y="2492127"/>
            <a:ext cx="40700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(Q = 1.5-5.0 A-1)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6968" y="2726978"/>
            <a:ext cx="4070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ピーク領域での二乗平均平方根誤差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04568" y="3187303"/>
            <a:ext cx="4295031" cy="749201"/>
          </a:xfrm>
          <a:prstGeom prst="roundRect">
            <a:avLst>
              <a:gd name="adj" fmla="val 678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56968" y="3339703"/>
            <a:ext cx="4070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RMSE肩領域 (Q = 2.8-3.5 A-1)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56968" y="3603129"/>
            <a:ext cx="4070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肩領域に特化した評価指標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87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結果: 最適フィッティング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685651"/>
            <a:ext cx="2202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最適パラメータ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3901" y="942826"/>
            <a:ext cx="2158901" cy="1393329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1130052"/>
            <a:ext cx="4795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シグマ12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56730" y="1130052"/>
            <a:ext cx="861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1.17倍 (3.159 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4927" y="1545878"/>
            <a:ext cx="4535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Ga1割合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72878" y="1545878"/>
            <a:ext cx="233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4927" y="1961704"/>
            <a:ext cx="4535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Ga2割合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72878" y="1961704"/>
            <a:ext cx="233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901" y="2399556"/>
            <a:ext cx="2202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評価結果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901" y="2656731"/>
            <a:ext cx="2158901" cy="561677"/>
          </a:xfrm>
          <a:prstGeom prst="roundRect">
            <a:avLst>
              <a:gd name="adj" fmla="val 9044"/>
            </a:avLst>
          </a:prstGeom>
          <a:solidFill>
            <a:srgbClr val="E8F6F3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4927" y="2843957"/>
            <a:ext cx="317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R因子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52179" y="2843957"/>
            <a:ext cx="3565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0.0580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901" y="3281809"/>
            <a:ext cx="2158901" cy="533102"/>
          </a:xfrm>
          <a:prstGeom prst="roundRect">
            <a:avLst>
              <a:gd name="adj" fmla="val 9529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4927" y="3469035"/>
            <a:ext cx="336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52179" y="3469035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901" y="3878312"/>
            <a:ext cx="2158901" cy="561677"/>
          </a:xfrm>
          <a:prstGeom prst="roundRect">
            <a:avLst>
              <a:gd name="adj" fmla="val 9044"/>
            </a:avLst>
          </a:prstGeom>
          <a:solidFill>
            <a:srgbClr val="E8F6F3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4927" y="4065538"/>
            <a:ext cx="6866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RMSE肩領域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52179" y="4065538"/>
            <a:ext cx="3565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0.0259</a:t>
            </a:r>
            <a:endParaRPr lang="en-US" sz="900" dirty="0"/>
          </a:p>
        </p:txBody>
      </p:sp>
      <p:pic>
        <p:nvPicPr>
          <p:cNvPr id="22" name="Image 0" descr="/home/yuki/lammps_settings_obata/hirataken20251122-2/outputs/fine_search_shoulder/analysis/best_fit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0" y="816471"/>
            <a:ext cx="4063901" cy="355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結果: パラメータ依存性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800100"/>
            <a:ext cx="2202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傾向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27075"/>
            <a:ext cx="2158901" cy="9840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シグマ12 = 1.15-1.17倍が最適ゾーン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 &lt; 50%でR因子改善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肩領域にはシグマ12 = 1.17倍が効果的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3901" y="2238077"/>
            <a:ext cx="2158901" cy="558403"/>
          </a:xfrm>
          <a:prstGeom prst="roundRect">
            <a:avLst>
              <a:gd name="adj" fmla="val 9097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402" y="2339578"/>
            <a:ext cx="199501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Ga2（大きい原子）がやや優勢な系で肩構造が良く再現される</a:t>
            </a:r>
            <a:endParaRPr lang="en-US" sz="1000" dirty="0"/>
          </a:p>
        </p:txBody>
      </p:sp>
      <p:pic>
        <p:nvPicPr>
          <p:cNvPr id="8" name="Image 0" descr="/home/yuki/lammps_settings_obata/hirataken20251122-2/outputs/fine_search_shoulder/analysis/rfacto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00" y="1244650"/>
            <a:ext cx="4191000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ボロノイ解析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800100"/>
            <a:ext cx="2202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局所構造統計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01626"/>
            <a:ext cx="2158901" cy="383977"/>
          </a:xfrm>
          <a:prstGeom prst="roundRect">
            <a:avLst>
              <a:gd name="adj" fmla="val 13230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1174552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平均配位数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84028" y="1174552"/>
            <a:ext cx="3241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901" y="1561802"/>
            <a:ext cx="2158901" cy="383977"/>
          </a:xfrm>
          <a:prstGeom prst="roundRect">
            <a:avLst>
              <a:gd name="adj" fmla="val 13230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1634728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原子体積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91146" y="1634728"/>
            <a:ext cx="5208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13.41 A3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901" y="2021979"/>
            <a:ext cx="2202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主要多面体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901" y="2323505"/>
            <a:ext cx="2158901" cy="364927"/>
          </a:xfrm>
          <a:prstGeom prst="roundRect">
            <a:avLst>
              <a:gd name="adj" fmla="val 13921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927" y="2396430"/>
            <a:ext cx="687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&lt;0,0,0,3,6,4&gt;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2305" y="2396430"/>
            <a:ext cx="2952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3901" y="2764631"/>
            <a:ext cx="2158901" cy="364927"/>
          </a:xfrm>
          <a:prstGeom prst="roundRect">
            <a:avLst>
              <a:gd name="adj" fmla="val 13921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927" y="2837557"/>
            <a:ext cx="687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&lt;0,0,0,2,8,4&gt;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2305" y="2837557"/>
            <a:ext cx="2952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901" y="3231059"/>
            <a:ext cx="2158901" cy="526852"/>
          </a:xfrm>
          <a:prstGeom prst="roundRect">
            <a:avLst>
              <a:gd name="adj" fmla="val 964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5402" y="3332559"/>
            <a:ext cx="199501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Ga1/Ga2で異なる局所環境を確認。双峰体積分布が肩構造の起源を支持。</a:t>
            </a:r>
            <a:endParaRPr lang="en-US" sz="900" dirty="0"/>
          </a:p>
        </p:txBody>
      </p:sp>
      <p:pic>
        <p:nvPicPr>
          <p:cNvPr id="20" name="Image 0" descr="/home/yuki/lammps_settings_obata/hirataken20251122-2/outputs/fine_search_shoulder/voronoi/voronoi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00" y="1244650"/>
            <a:ext cx="4191000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924074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1558975"/>
            <a:ext cx="2582317" cy="1057275"/>
          </a:xfrm>
          <a:prstGeom prst="roundRect">
            <a:avLst>
              <a:gd name="adj" fmla="val 720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6437" y="1749475"/>
            <a:ext cx="22453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437" y="2178100"/>
            <a:ext cx="22453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R因子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80767" y="1558975"/>
            <a:ext cx="2582317" cy="1057275"/>
          </a:xfrm>
          <a:prstGeom prst="roundRect">
            <a:avLst>
              <a:gd name="adj" fmla="val 720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49254" y="1749475"/>
            <a:ext cx="22453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49254" y="2244775"/>
            <a:ext cx="22453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最適シグマ12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53584" y="1558975"/>
            <a:ext cx="2582317" cy="1057275"/>
          </a:xfrm>
          <a:prstGeom prst="roundRect">
            <a:avLst>
              <a:gd name="adj" fmla="val 720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2071" y="1749475"/>
            <a:ext cx="22453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22071" y="2178100"/>
            <a:ext cx="22453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Ga1割合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933700"/>
            <a:ext cx="8128099" cy="1285577"/>
          </a:xfrm>
          <a:prstGeom prst="roundRect">
            <a:avLst>
              <a:gd name="adj" fmla="val 5927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8450" y="3124200"/>
            <a:ext cx="7747099" cy="80307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2元LJモデルで液体Gaの肩構造を高精度で再現</a:t>
            </a:r>
            <a:endParaRPr lang="en-US" sz="12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肩領域のRMSE = 0.026と極めて良好な一致</a:t>
            </a:r>
            <a:endParaRPr lang="en-US" sz="12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ボロノイ解析により2つの局所環境の共存を確認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2元LJポテンシャルによる液体Gaの肩構造再現</dc:title>
  <dc:subject>PptxGenJS Presentation</dc:subject>
  <dc:creator>Progress Report</dc:creator>
  <cp:lastModifiedBy>Progress Report</cp:lastModifiedBy>
  <cp:revision>1</cp:revision>
  <dcterms:created xsi:type="dcterms:W3CDTF">2026-01-08T11:51:31Z</dcterms:created>
  <dcterms:modified xsi:type="dcterms:W3CDTF">2026-01-08T11:51:31Z</dcterms:modified>
</cp:coreProperties>
</file>