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77" r:id="rId3"/>
    <p:sldId id="258" r:id="rId4"/>
    <p:sldId id="266" r:id="rId5"/>
    <p:sldId id="259" r:id="rId6"/>
    <p:sldId id="272" r:id="rId7"/>
    <p:sldId id="275" r:id="rId8"/>
    <p:sldId id="273" r:id="rId9"/>
    <p:sldId id="274" r:id="rId10"/>
    <p:sldId id="262" r:id="rId11"/>
    <p:sldId id="281" r:id="rId12"/>
    <p:sldId id="280" r:id="rId13"/>
    <p:sldId id="284" r:id="rId14"/>
  </p:sldIdLst>
  <p:sldSz cx="12192000" cy="6858000"/>
  <p:notesSz cx="9144000" cy="6858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4E95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3F7C6E-593F-46B8-A0FC-85800C859550}" v="78" dt="2025-06-26T09:17:38.58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07" autoAdjust="0"/>
    <p:restoredTop sz="94660"/>
  </p:normalViewPr>
  <p:slideViewPr>
    <p:cSldViewPr snapToGrid="0">
      <p:cViewPr varScale="1">
        <p:scale>
          <a:sx n="70" d="100"/>
          <a:sy n="70" d="100"/>
        </p:scale>
        <p:origin x="7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kinaga Iwao" userId="2828c3972eac4e78" providerId="LiveId" clId="{DD3F7C6E-593F-46B8-A0FC-85800C859550}"/>
    <pc:docChg chg="undo custSel addSld delSld modSld">
      <pc:chgData name="Yukinaga Iwao" userId="2828c3972eac4e78" providerId="LiveId" clId="{DD3F7C6E-593F-46B8-A0FC-85800C859550}" dt="2025-06-26T09:20:02.140" v="335" actId="47"/>
      <pc:docMkLst>
        <pc:docMk/>
      </pc:docMkLst>
      <pc:sldChg chg="add del">
        <pc:chgData name="Yukinaga Iwao" userId="2828c3972eac4e78" providerId="LiveId" clId="{DD3F7C6E-593F-46B8-A0FC-85800C859550}" dt="2025-06-12T15:38:29.364" v="1" actId="47"/>
        <pc:sldMkLst>
          <pc:docMk/>
          <pc:sldMk cId="1126637225" sldId="282"/>
        </pc:sldMkLst>
      </pc:sldChg>
      <pc:sldChg chg="new del">
        <pc:chgData name="Yukinaga Iwao" userId="2828c3972eac4e78" providerId="LiveId" clId="{DD3F7C6E-593F-46B8-A0FC-85800C859550}" dt="2025-06-24T12:51:24.146" v="98" actId="47"/>
        <pc:sldMkLst>
          <pc:docMk/>
          <pc:sldMk cId="1199904327" sldId="282"/>
        </pc:sldMkLst>
      </pc:sldChg>
      <pc:sldChg chg="new del">
        <pc:chgData name="Yukinaga Iwao" userId="2828c3972eac4e78" providerId="LiveId" clId="{DD3F7C6E-593F-46B8-A0FC-85800C859550}" dt="2025-06-26T09:19:54.911" v="334" actId="47"/>
        <pc:sldMkLst>
          <pc:docMk/>
          <pc:sldMk cId="191250126" sldId="283"/>
        </pc:sldMkLst>
      </pc:sldChg>
      <pc:sldChg chg="addSp delSp modSp add mod">
        <pc:chgData name="Yukinaga Iwao" userId="2828c3972eac4e78" providerId="LiveId" clId="{DD3F7C6E-593F-46B8-A0FC-85800C859550}" dt="2025-06-26T09:17:38.567" v="333" actId="1076"/>
        <pc:sldMkLst>
          <pc:docMk/>
          <pc:sldMk cId="262270127" sldId="284"/>
        </pc:sldMkLst>
        <pc:spChg chg="add mod">
          <ac:chgData name="Yukinaga Iwao" userId="2828c3972eac4e78" providerId="LiveId" clId="{DD3F7C6E-593F-46B8-A0FC-85800C859550}" dt="2025-06-24T09:31:26.939" v="94" actId="14100"/>
          <ac:spMkLst>
            <pc:docMk/>
            <pc:sldMk cId="262270127" sldId="284"/>
            <ac:spMk id="2" creationId="{3AAF97DB-9584-383B-8F51-DDE2BEB33CA3}"/>
          </ac:spMkLst>
        </pc:spChg>
        <pc:spChg chg="mod">
          <ac:chgData name="Yukinaga Iwao" userId="2828c3972eac4e78" providerId="LiveId" clId="{DD3F7C6E-593F-46B8-A0FC-85800C859550}" dt="2025-06-24T06:38:03.714" v="42" actId="1076"/>
          <ac:spMkLst>
            <pc:docMk/>
            <pc:sldMk cId="262270127" sldId="284"/>
            <ac:spMk id="3" creationId="{A3ECF446-199D-E68F-3BEC-79CC01A17606}"/>
          </ac:spMkLst>
        </pc:spChg>
        <pc:spChg chg="mod">
          <ac:chgData name="Yukinaga Iwao" userId="2828c3972eac4e78" providerId="LiveId" clId="{DD3F7C6E-593F-46B8-A0FC-85800C859550}" dt="2025-06-24T06:38:56.862" v="49" actId="1076"/>
          <ac:spMkLst>
            <pc:docMk/>
            <pc:sldMk cId="262270127" sldId="284"/>
            <ac:spMk id="4" creationId="{C9A9DFB9-C13B-305A-B98A-3372C90C2FB9}"/>
          </ac:spMkLst>
        </pc:spChg>
        <pc:spChg chg="mod">
          <ac:chgData name="Yukinaga Iwao" userId="2828c3972eac4e78" providerId="LiveId" clId="{DD3F7C6E-593F-46B8-A0FC-85800C859550}" dt="2025-06-24T06:40:44.116" v="74" actId="255"/>
          <ac:spMkLst>
            <pc:docMk/>
            <pc:sldMk cId="262270127" sldId="284"/>
            <ac:spMk id="5" creationId="{E607BB39-DDDD-2C92-80E4-CDD2DA8E730A}"/>
          </ac:spMkLst>
        </pc:spChg>
        <pc:spChg chg="mod">
          <ac:chgData name="Yukinaga Iwao" userId="2828c3972eac4e78" providerId="LiveId" clId="{DD3F7C6E-593F-46B8-A0FC-85800C859550}" dt="2025-06-24T06:40:22.927" v="71" actId="1076"/>
          <ac:spMkLst>
            <pc:docMk/>
            <pc:sldMk cId="262270127" sldId="284"/>
            <ac:spMk id="8" creationId="{E87710C3-D66D-30D2-3B51-10DC82793B77}"/>
          </ac:spMkLst>
        </pc:spChg>
        <pc:spChg chg="mod">
          <ac:chgData name="Yukinaga Iwao" userId="2828c3972eac4e78" providerId="LiveId" clId="{DD3F7C6E-593F-46B8-A0FC-85800C859550}" dt="2025-06-24T06:39:58.632" v="60" actId="1076"/>
          <ac:spMkLst>
            <pc:docMk/>
            <pc:sldMk cId="262270127" sldId="284"/>
            <ac:spMk id="10" creationId="{998A343A-CE19-EBC0-9580-9E4C5D25D18F}"/>
          </ac:spMkLst>
        </pc:spChg>
        <pc:spChg chg="mod">
          <ac:chgData name="Yukinaga Iwao" userId="2828c3972eac4e78" providerId="LiveId" clId="{DD3F7C6E-593F-46B8-A0FC-85800C859550}" dt="2025-06-24T06:39:01.939" v="50" actId="1076"/>
          <ac:spMkLst>
            <pc:docMk/>
            <pc:sldMk cId="262270127" sldId="284"/>
            <ac:spMk id="11" creationId="{E1AFC362-8CBF-4D22-2665-8564B6EEB295}"/>
          </ac:spMkLst>
        </pc:spChg>
        <pc:spChg chg="mod">
          <ac:chgData name="Yukinaga Iwao" userId="2828c3972eac4e78" providerId="LiveId" clId="{DD3F7C6E-593F-46B8-A0FC-85800C859550}" dt="2025-06-24T06:40:03.826" v="67" actId="1035"/>
          <ac:spMkLst>
            <pc:docMk/>
            <pc:sldMk cId="262270127" sldId="284"/>
            <ac:spMk id="12" creationId="{DC236F0A-5204-C6A2-2E7F-524ADD3DD4AC}"/>
          </ac:spMkLst>
        </pc:spChg>
        <pc:spChg chg="add mod">
          <ac:chgData name="Yukinaga Iwao" userId="2828c3972eac4e78" providerId="LiveId" clId="{DD3F7C6E-593F-46B8-A0FC-85800C859550}" dt="2025-06-26T09:03:57.061" v="125" actId="14100"/>
          <ac:spMkLst>
            <pc:docMk/>
            <pc:sldMk cId="262270127" sldId="284"/>
            <ac:spMk id="15" creationId="{DD4E5F4A-D2D5-D6FC-70D1-9AFE4A096465}"/>
          </ac:spMkLst>
        </pc:spChg>
        <pc:spChg chg="mod">
          <ac:chgData name="Yukinaga Iwao" userId="2828c3972eac4e78" providerId="LiveId" clId="{DD3F7C6E-593F-46B8-A0FC-85800C859550}" dt="2025-06-24T06:33:13.100" v="26" actId="14100"/>
          <ac:spMkLst>
            <pc:docMk/>
            <pc:sldMk cId="262270127" sldId="284"/>
            <ac:spMk id="19" creationId="{CC24FEAD-037D-9039-AC95-0F10BE68DB24}"/>
          </ac:spMkLst>
        </pc:spChg>
        <pc:spChg chg="mod">
          <ac:chgData name="Yukinaga Iwao" userId="2828c3972eac4e78" providerId="LiveId" clId="{DD3F7C6E-593F-46B8-A0FC-85800C859550}" dt="2025-06-24T06:40:36.149" v="73" actId="255"/>
          <ac:spMkLst>
            <pc:docMk/>
            <pc:sldMk cId="262270127" sldId="284"/>
            <ac:spMk id="22" creationId="{6AD5C75F-BCD8-3BD0-DD2D-DF3912CDD4F1}"/>
          </ac:spMkLst>
        </pc:spChg>
        <pc:spChg chg="add mod ord">
          <ac:chgData name="Yukinaga Iwao" userId="2828c3972eac4e78" providerId="LiveId" clId="{DD3F7C6E-593F-46B8-A0FC-85800C859550}" dt="2025-06-26T09:13:54.811" v="305" actId="167"/>
          <ac:spMkLst>
            <pc:docMk/>
            <pc:sldMk cId="262270127" sldId="284"/>
            <ac:spMk id="23" creationId="{CF0FFA9C-0FDA-85E3-9CA5-4A682C547E83}"/>
          </ac:spMkLst>
        </pc:spChg>
        <pc:spChg chg="add mod">
          <ac:chgData name="Yukinaga Iwao" userId="2828c3972eac4e78" providerId="LiveId" clId="{DD3F7C6E-593F-46B8-A0FC-85800C859550}" dt="2025-06-26T09:14:29.169" v="310" actId="14100"/>
          <ac:spMkLst>
            <pc:docMk/>
            <pc:sldMk cId="262270127" sldId="284"/>
            <ac:spMk id="24" creationId="{3980C0E0-1FE9-003A-A4B0-E23E76955B86}"/>
          </ac:spMkLst>
        </pc:spChg>
        <pc:spChg chg="mod">
          <ac:chgData name="Yukinaga Iwao" userId="2828c3972eac4e78" providerId="LiveId" clId="{DD3F7C6E-593F-46B8-A0FC-85800C859550}" dt="2025-06-24T06:39:55.032" v="59" actId="1076"/>
          <ac:spMkLst>
            <pc:docMk/>
            <pc:sldMk cId="262270127" sldId="284"/>
            <ac:spMk id="25" creationId="{7566477F-1140-7A7A-D3BD-50B9A7CA7DF9}"/>
          </ac:spMkLst>
        </pc:spChg>
        <pc:spChg chg="add mod">
          <ac:chgData name="Yukinaga Iwao" userId="2828c3972eac4e78" providerId="LiveId" clId="{DD3F7C6E-593F-46B8-A0FC-85800C859550}" dt="2025-06-26T09:08:10.031" v="191" actId="1076"/>
          <ac:spMkLst>
            <pc:docMk/>
            <pc:sldMk cId="262270127" sldId="284"/>
            <ac:spMk id="30" creationId="{CD7901D7-B0E0-9890-F74D-8FBA46C2933E}"/>
          </ac:spMkLst>
        </pc:spChg>
        <pc:spChg chg="add mod">
          <ac:chgData name="Yukinaga Iwao" userId="2828c3972eac4e78" providerId="LiveId" clId="{DD3F7C6E-593F-46B8-A0FC-85800C859550}" dt="2025-06-26T09:12:03.592" v="301" actId="14100"/>
          <ac:spMkLst>
            <pc:docMk/>
            <pc:sldMk cId="262270127" sldId="284"/>
            <ac:spMk id="31" creationId="{85389A87-0156-712D-C1E1-DBBAE6C2FFA0}"/>
          </ac:spMkLst>
        </pc:spChg>
        <pc:spChg chg="add mod">
          <ac:chgData name="Yukinaga Iwao" userId="2828c3972eac4e78" providerId="LiveId" clId="{DD3F7C6E-593F-46B8-A0FC-85800C859550}" dt="2025-06-26T09:03:27.200" v="123" actId="1076"/>
          <ac:spMkLst>
            <pc:docMk/>
            <pc:sldMk cId="262270127" sldId="284"/>
            <ac:spMk id="32" creationId="{F4E1174F-2DFB-8729-9A53-7569F0F14E8D}"/>
          </ac:spMkLst>
        </pc:spChg>
        <pc:spChg chg="add mod">
          <ac:chgData name="Yukinaga Iwao" userId="2828c3972eac4e78" providerId="LiveId" clId="{DD3F7C6E-593F-46B8-A0FC-85800C859550}" dt="2025-06-26T09:03:42.364" v="124" actId="1076"/>
          <ac:spMkLst>
            <pc:docMk/>
            <pc:sldMk cId="262270127" sldId="284"/>
            <ac:spMk id="33" creationId="{4F76FF5D-9B0C-4C7D-E663-C906A4F22E1A}"/>
          </ac:spMkLst>
        </pc:spChg>
        <pc:spChg chg="add del mod">
          <ac:chgData name="Yukinaga Iwao" userId="2828c3972eac4e78" providerId="LiveId" clId="{DD3F7C6E-593F-46B8-A0FC-85800C859550}" dt="2025-06-26T09:02:46.752" v="116" actId="21"/>
          <ac:spMkLst>
            <pc:docMk/>
            <pc:sldMk cId="262270127" sldId="284"/>
            <ac:spMk id="34" creationId="{477EEFA5-E0BD-6996-4C9A-FFD8F17D892E}"/>
          </ac:spMkLst>
        </pc:spChg>
        <pc:graphicFrameChg chg="mod">
          <ac:chgData name="Yukinaga Iwao" userId="2828c3972eac4e78" providerId="LiveId" clId="{DD3F7C6E-593F-46B8-A0FC-85800C859550}" dt="2025-06-24T06:38:56.862" v="49" actId="1076"/>
          <ac:graphicFrameMkLst>
            <pc:docMk/>
            <pc:sldMk cId="262270127" sldId="284"/>
            <ac:graphicFrameMk id="9" creationId="{6539094C-60EB-F5A0-9CF9-F5C06018A6E2}"/>
          </ac:graphicFrameMkLst>
        </pc:graphicFrameChg>
        <pc:picChg chg="mod">
          <ac:chgData name="Yukinaga Iwao" userId="2828c3972eac4e78" providerId="LiveId" clId="{DD3F7C6E-593F-46B8-A0FC-85800C859550}" dt="2025-06-24T06:40:52.553" v="76" actId="1076"/>
          <ac:picMkLst>
            <pc:docMk/>
            <pc:sldMk cId="262270127" sldId="284"/>
            <ac:picMk id="6" creationId="{AA1B9750-BCAC-DF51-C471-10FDAB4A4BDD}"/>
          </ac:picMkLst>
        </pc:picChg>
        <pc:picChg chg="mod">
          <ac:chgData name="Yukinaga Iwao" userId="2828c3972eac4e78" providerId="LiveId" clId="{DD3F7C6E-593F-46B8-A0FC-85800C859550}" dt="2025-06-24T06:40:29.707" v="72" actId="1076"/>
          <ac:picMkLst>
            <pc:docMk/>
            <pc:sldMk cId="262270127" sldId="284"/>
            <ac:picMk id="7" creationId="{D16749D9-EB67-C159-46CB-97255AB26B92}"/>
          </ac:picMkLst>
        </pc:picChg>
        <pc:picChg chg="mod">
          <ac:chgData name="Yukinaga Iwao" userId="2828c3972eac4e78" providerId="LiveId" clId="{DD3F7C6E-593F-46B8-A0FC-85800C859550}" dt="2025-06-26T09:12:18.047" v="302" actId="1076"/>
          <ac:picMkLst>
            <pc:docMk/>
            <pc:sldMk cId="262270127" sldId="284"/>
            <ac:picMk id="16" creationId="{71026D96-F719-0150-BE22-9973D9ED8B47}"/>
          </ac:picMkLst>
        </pc:picChg>
        <pc:picChg chg="mod">
          <ac:chgData name="Yukinaga Iwao" userId="2828c3972eac4e78" providerId="LiveId" clId="{DD3F7C6E-593F-46B8-A0FC-85800C859550}" dt="2025-06-26T09:17:38.567" v="333" actId="1076"/>
          <ac:picMkLst>
            <pc:docMk/>
            <pc:sldMk cId="262270127" sldId="284"/>
            <ac:picMk id="17" creationId="{7A6B4DC5-BDCF-A155-D2B4-07DFF8CDB3F4}"/>
          </ac:picMkLst>
        </pc:picChg>
        <pc:picChg chg="mod">
          <ac:chgData name="Yukinaga Iwao" userId="2828c3972eac4e78" providerId="LiveId" clId="{DD3F7C6E-593F-46B8-A0FC-85800C859550}" dt="2025-06-26T09:15:02.279" v="318" actId="1035"/>
          <ac:picMkLst>
            <pc:docMk/>
            <pc:sldMk cId="262270127" sldId="284"/>
            <ac:picMk id="18" creationId="{0D36E16D-42E3-6A0E-4D18-5DDFD5F1682D}"/>
          </ac:picMkLst>
        </pc:picChg>
        <pc:picChg chg="mod">
          <ac:chgData name="Yukinaga Iwao" userId="2828c3972eac4e78" providerId="LiveId" clId="{DD3F7C6E-593F-46B8-A0FC-85800C859550}" dt="2025-06-26T09:15:16.737" v="328" actId="1036"/>
          <ac:picMkLst>
            <pc:docMk/>
            <pc:sldMk cId="262270127" sldId="284"/>
            <ac:picMk id="20" creationId="{9B3FD655-730B-C8D8-5E56-7E7DABADC0D9}"/>
          </ac:picMkLst>
        </pc:picChg>
        <pc:picChg chg="mod">
          <ac:chgData name="Yukinaga Iwao" userId="2828c3972eac4e78" providerId="LiveId" clId="{DD3F7C6E-593F-46B8-A0FC-85800C859550}" dt="2025-06-26T09:15:33.442" v="332" actId="1076"/>
          <ac:picMkLst>
            <pc:docMk/>
            <pc:sldMk cId="262270127" sldId="284"/>
            <ac:picMk id="21" creationId="{852F5833-B5C5-AE2F-0C2D-F182D218EF19}"/>
          </ac:picMkLst>
        </pc:picChg>
        <pc:picChg chg="mod">
          <ac:chgData name="Yukinaga Iwao" userId="2828c3972eac4e78" providerId="LiveId" clId="{DD3F7C6E-593F-46B8-A0FC-85800C859550}" dt="2025-06-26T09:11:09.979" v="274" actId="1076"/>
          <ac:picMkLst>
            <pc:docMk/>
            <pc:sldMk cId="262270127" sldId="284"/>
            <ac:picMk id="26" creationId="{2C7AD4EA-27D2-D8E6-7BC4-915A4FFDDD00}"/>
          </ac:picMkLst>
        </pc:picChg>
        <pc:picChg chg="mod">
          <ac:chgData name="Yukinaga Iwao" userId="2828c3972eac4e78" providerId="LiveId" clId="{DD3F7C6E-593F-46B8-A0FC-85800C859550}" dt="2025-06-26T09:11:13.789" v="275" actId="1076"/>
          <ac:picMkLst>
            <pc:docMk/>
            <pc:sldMk cId="262270127" sldId="284"/>
            <ac:picMk id="27" creationId="{D18E9177-4A5B-8DD9-B7F1-0E9E7BE8B5D4}"/>
          </ac:picMkLst>
        </pc:picChg>
        <pc:picChg chg="mod">
          <ac:chgData name="Yukinaga Iwao" userId="2828c3972eac4e78" providerId="LiveId" clId="{DD3F7C6E-593F-46B8-A0FC-85800C859550}" dt="2025-06-26T09:11:20.021" v="277" actId="1076"/>
          <ac:picMkLst>
            <pc:docMk/>
            <pc:sldMk cId="262270127" sldId="284"/>
            <ac:picMk id="28" creationId="{14445692-7A61-9414-C420-5B138A2C77A6}"/>
          </ac:picMkLst>
        </pc:picChg>
        <pc:picChg chg="mod">
          <ac:chgData name="Yukinaga Iwao" userId="2828c3972eac4e78" providerId="LiveId" clId="{DD3F7C6E-593F-46B8-A0FC-85800C859550}" dt="2025-06-26T09:11:22.068" v="278" actId="1076"/>
          <ac:picMkLst>
            <pc:docMk/>
            <pc:sldMk cId="262270127" sldId="284"/>
            <ac:picMk id="29" creationId="{035CF720-1561-6580-B148-B55958BB9812}"/>
          </ac:picMkLst>
        </pc:picChg>
      </pc:sldChg>
      <pc:sldChg chg="add del">
        <pc:chgData name="Yukinaga Iwao" userId="2828c3972eac4e78" providerId="LiveId" clId="{DD3F7C6E-593F-46B8-A0FC-85800C859550}" dt="2025-06-26T09:20:02.140" v="335" actId="47"/>
        <pc:sldMkLst>
          <pc:docMk/>
          <pc:sldMk cId="111919570" sldId="285"/>
        </pc:sldMkLst>
      </pc:sldChg>
    </pc:docChg>
  </pc:docChgLst>
  <pc:docChgLst>
    <pc:chgData name="Yukinaga Iwao" userId="2828c3972eac4e78" providerId="LiveId" clId="{670EFBC5-4409-4E79-92BA-06B85C119804}"/>
    <pc:docChg chg="undo redo custSel addSld delSld modSld sldOrd modNotesMaster">
      <pc:chgData name="Yukinaga Iwao" userId="2828c3972eac4e78" providerId="LiveId" clId="{670EFBC5-4409-4E79-92BA-06B85C119804}" dt="2025-02-08T01:27:56.954" v="17193"/>
      <pc:docMkLst>
        <pc:docMk/>
      </pc:docMkLst>
      <pc:sldChg chg="modSp mod">
        <pc:chgData name="Yukinaga Iwao" userId="2828c3972eac4e78" providerId="LiveId" clId="{670EFBC5-4409-4E79-92BA-06B85C119804}" dt="2025-02-06T11:23:32.514" v="17185" actId="20577"/>
        <pc:sldMkLst>
          <pc:docMk/>
          <pc:sldMk cId="2548825849" sldId="256"/>
        </pc:sldMkLst>
      </pc:sldChg>
      <pc:sldChg chg="modSp del mod">
        <pc:chgData name="Yukinaga Iwao" userId="2828c3972eac4e78" providerId="LiveId" clId="{670EFBC5-4409-4E79-92BA-06B85C119804}" dt="2025-02-05T00:09:36.098" v="15259" actId="2696"/>
        <pc:sldMkLst>
          <pc:docMk/>
          <pc:sldMk cId="1335500560" sldId="257"/>
        </pc:sldMkLst>
      </pc:sldChg>
      <pc:sldChg chg="addSp delSp modSp add del mod setBg">
        <pc:chgData name="Yukinaga Iwao" userId="2828c3972eac4e78" providerId="LiveId" clId="{670EFBC5-4409-4E79-92BA-06B85C119804}" dt="2025-02-06T11:20:40.515" v="17176" actId="2696"/>
        <pc:sldMkLst>
          <pc:docMk/>
          <pc:sldMk cId="3864212246" sldId="257"/>
        </pc:sldMkLst>
      </pc:sldChg>
      <pc:sldChg chg="addSp delSp modSp mod">
        <pc:chgData name="Yukinaga Iwao" userId="2828c3972eac4e78" providerId="LiveId" clId="{670EFBC5-4409-4E79-92BA-06B85C119804}" dt="2025-02-01T01:46:51.555" v="14648" actId="1036"/>
        <pc:sldMkLst>
          <pc:docMk/>
          <pc:sldMk cId="1028764858" sldId="258"/>
        </pc:sldMkLst>
      </pc:sldChg>
      <pc:sldChg chg="addSp delSp modSp mod">
        <pc:chgData name="Yukinaga Iwao" userId="2828c3972eac4e78" providerId="LiveId" clId="{670EFBC5-4409-4E79-92BA-06B85C119804}" dt="2025-01-31T21:29:34.584" v="14640" actId="14100"/>
        <pc:sldMkLst>
          <pc:docMk/>
          <pc:sldMk cId="3693555189" sldId="259"/>
        </pc:sldMkLst>
      </pc:sldChg>
      <pc:sldChg chg="del">
        <pc:chgData name="Yukinaga Iwao" userId="2828c3972eac4e78" providerId="LiveId" clId="{670EFBC5-4409-4E79-92BA-06B85C119804}" dt="2024-12-15T14:43:37.317" v="2590" actId="2696"/>
        <pc:sldMkLst>
          <pc:docMk/>
          <pc:sldMk cId="573027228" sldId="260"/>
        </pc:sldMkLst>
      </pc:sldChg>
      <pc:sldChg chg="addSp modSp mod">
        <pc:chgData name="Yukinaga Iwao" userId="2828c3972eac4e78" providerId="LiveId" clId="{670EFBC5-4409-4E79-92BA-06B85C119804}" dt="2025-02-05T05:29:34.765" v="15329"/>
        <pc:sldMkLst>
          <pc:docMk/>
          <pc:sldMk cId="1142733227" sldId="262"/>
        </pc:sldMkLst>
      </pc:sldChg>
      <pc:sldChg chg="new del">
        <pc:chgData name="Yukinaga Iwao" userId="2828c3972eac4e78" providerId="LiveId" clId="{670EFBC5-4409-4E79-92BA-06B85C119804}" dt="2024-11-21T18:09:49.921" v="6" actId="680"/>
        <pc:sldMkLst>
          <pc:docMk/>
          <pc:sldMk cId="248579160" sldId="263"/>
        </pc:sldMkLst>
      </pc:sldChg>
      <pc:sldChg chg="modSp add del mod">
        <pc:chgData name="Yukinaga Iwao" userId="2828c3972eac4e78" providerId="LiveId" clId="{670EFBC5-4409-4E79-92BA-06B85C119804}" dt="2024-11-21T18:37:29.542" v="269" actId="2696"/>
        <pc:sldMkLst>
          <pc:docMk/>
          <pc:sldMk cId="2982098520" sldId="263"/>
        </pc:sldMkLst>
      </pc:sldChg>
      <pc:sldChg chg="new del">
        <pc:chgData name="Yukinaga Iwao" userId="2828c3972eac4e78" providerId="LiveId" clId="{670EFBC5-4409-4E79-92BA-06B85C119804}" dt="2024-11-21T18:09:37.918" v="4" actId="2696"/>
        <pc:sldMkLst>
          <pc:docMk/>
          <pc:sldMk cId="4245307921" sldId="263"/>
        </pc:sldMkLst>
      </pc:sldChg>
      <pc:sldChg chg="delSp modSp add del mod">
        <pc:chgData name="Yukinaga Iwao" userId="2828c3972eac4e78" providerId="LiveId" clId="{670EFBC5-4409-4E79-92BA-06B85C119804}" dt="2024-11-21T18:36:04.539" v="225" actId="2696"/>
        <pc:sldMkLst>
          <pc:docMk/>
          <pc:sldMk cId="3473361419" sldId="264"/>
        </pc:sldMkLst>
      </pc:sldChg>
      <pc:sldChg chg="modSp add del mod">
        <pc:chgData name="Yukinaga Iwao" userId="2828c3972eac4e78" providerId="LiveId" clId="{670EFBC5-4409-4E79-92BA-06B85C119804}" dt="2024-11-21T18:34:47.055" v="170" actId="2696"/>
        <pc:sldMkLst>
          <pc:docMk/>
          <pc:sldMk cId="3220680552" sldId="265"/>
        </pc:sldMkLst>
      </pc:sldChg>
      <pc:sldChg chg="addSp delSp modSp add mod ord delAnim modAnim">
        <pc:chgData name="Yukinaga Iwao" userId="2828c3972eac4e78" providerId="LiveId" clId="{670EFBC5-4409-4E79-92BA-06B85C119804}" dt="2025-02-05T05:20:18.500" v="15287"/>
        <pc:sldMkLst>
          <pc:docMk/>
          <pc:sldMk cId="3490493541" sldId="266"/>
        </pc:sldMkLst>
      </pc:sldChg>
      <pc:sldChg chg="new del">
        <pc:chgData name="Yukinaga Iwao" userId="2828c3972eac4e78" providerId="LiveId" clId="{670EFBC5-4409-4E79-92BA-06B85C119804}" dt="2024-11-21T18:32:00.551" v="87" actId="2696"/>
        <pc:sldMkLst>
          <pc:docMk/>
          <pc:sldMk cId="3860463830" sldId="266"/>
        </pc:sldMkLst>
      </pc:sldChg>
      <pc:sldChg chg="modSp add del mod">
        <pc:chgData name="Yukinaga Iwao" userId="2828c3972eac4e78" providerId="LiveId" clId="{670EFBC5-4409-4E79-92BA-06B85C119804}" dt="2024-11-21T18:43:17.235" v="447" actId="2696"/>
        <pc:sldMkLst>
          <pc:docMk/>
          <pc:sldMk cId="1749718386" sldId="267"/>
        </pc:sldMkLst>
      </pc:sldChg>
      <pc:sldChg chg="addSp delSp add del setBg delDesignElem">
        <pc:chgData name="Yukinaga Iwao" userId="2828c3972eac4e78" providerId="LiveId" clId="{670EFBC5-4409-4E79-92BA-06B85C119804}" dt="2024-11-21T18:44:11.458" v="473"/>
        <pc:sldMkLst>
          <pc:docMk/>
          <pc:sldMk cId="4255511322" sldId="267"/>
        </pc:sldMkLst>
      </pc:sldChg>
      <pc:sldChg chg="add del">
        <pc:chgData name="Yukinaga Iwao" userId="2828c3972eac4e78" providerId="LiveId" clId="{670EFBC5-4409-4E79-92BA-06B85C119804}" dt="2024-11-21T18:43:14.164" v="446" actId="2696"/>
        <pc:sldMkLst>
          <pc:docMk/>
          <pc:sldMk cId="3197890546" sldId="268"/>
        </pc:sldMkLst>
      </pc:sldChg>
      <pc:sldChg chg="addSp delSp modSp add del mod ord delAnim modAnim">
        <pc:chgData name="Yukinaga Iwao" userId="2828c3972eac4e78" providerId="LiveId" clId="{670EFBC5-4409-4E79-92BA-06B85C119804}" dt="2024-12-16T14:52:41.595" v="7685" actId="2696"/>
        <pc:sldMkLst>
          <pc:docMk/>
          <pc:sldMk cId="2519663682" sldId="269"/>
        </pc:sldMkLst>
      </pc:sldChg>
      <pc:sldChg chg="modSp add del mod">
        <pc:chgData name="Yukinaga Iwao" userId="2828c3972eac4e78" providerId="LiveId" clId="{670EFBC5-4409-4E79-92BA-06B85C119804}" dt="2024-11-21T23:32:32.355" v="867" actId="2696"/>
        <pc:sldMkLst>
          <pc:docMk/>
          <pc:sldMk cId="3017450177" sldId="270"/>
        </pc:sldMkLst>
      </pc:sldChg>
      <pc:sldChg chg="addSp delSp modSp add del mod ord">
        <pc:chgData name="Yukinaga Iwao" userId="2828c3972eac4e78" providerId="LiveId" clId="{670EFBC5-4409-4E79-92BA-06B85C119804}" dt="2025-01-30T01:20:46.331" v="14626" actId="2696"/>
        <pc:sldMkLst>
          <pc:docMk/>
          <pc:sldMk cId="1698088147" sldId="271"/>
        </pc:sldMkLst>
      </pc:sldChg>
      <pc:sldChg chg="addSp delSp modSp add mod">
        <pc:chgData name="Yukinaga Iwao" userId="2828c3972eac4e78" providerId="LiveId" clId="{670EFBC5-4409-4E79-92BA-06B85C119804}" dt="2025-02-05T06:21:52.953" v="15337" actId="20577"/>
        <pc:sldMkLst>
          <pc:docMk/>
          <pc:sldMk cId="108145242" sldId="272"/>
        </pc:sldMkLst>
      </pc:sldChg>
      <pc:sldChg chg="addSp delSp modSp add mod ord">
        <pc:chgData name="Yukinaga Iwao" userId="2828c3972eac4e78" providerId="LiveId" clId="{670EFBC5-4409-4E79-92BA-06B85C119804}" dt="2025-02-05T05:24:32.838" v="15310"/>
        <pc:sldMkLst>
          <pc:docMk/>
          <pc:sldMk cId="2281281688" sldId="273"/>
        </pc:sldMkLst>
      </pc:sldChg>
      <pc:sldChg chg="addSp delSp modSp add mod">
        <pc:chgData name="Yukinaga Iwao" userId="2828c3972eac4e78" providerId="LiveId" clId="{670EFBC5-4409-4E79-92BA-06B85C119804}" dt="2025-01-30T00:43:27.553" v="14103" actId="20577"/>
        <pc:sldMkLst>
          <pc:docMk/>
          <pc:sldMk cId="407507609" sldId="274"/>
        </pc:sldMkLst>
      </pc:sldChg>
      <pc:sldChg chg="add del ord">
        <pc:chgData name="Yukinaga Iwao" userId="2828c3972eac4e78" providerId="LiveId" clId="{670EFBC5-4409-4E79-92BA-06B85C119804}" dt="2024-12-15T16:34:57.881" v="2626" actId="47"/>
        <pc:sldMkLst>
          <pc:docMk/>
          <pc:sldMk cId="1272536466" sldId="274"/>
        </pc:sldMkLst>
      </pc:sldChg>
      <pc:sldChg chg="addSp delSp modSp add mod">
        <pc:chgData name="Yukinaga Iwao" userId="2828c3972eac4e78" providerId="LiveId" clId="{670EFBC5-4409-4E79-92BA-06B85C119804}" dt="2025-02-05T05:22:34.488" v="15302" actId="1076"/>
        <pc:sldMkLst>
          <pc:docMk/>
          <pc:sldMk cId="1689523057" sldId="275"/>
        </pc:sldMkLst>
      </pc:sldChg>
      <pc:sldChg chg="delSp modSp add del mod setBg delDesignElem">
        <pc:chgData name="Yukinaga Iwao" userId="2828c3972eac4e78" providerId="LiveId" clId="{670EFBC5-4409-4E79-92BA-06B85C119804}" dt="2025-02-04T13:31:03.204" v="15256" actId="2696"/>
        <pc:sldMkLst>
          <pc:docMk/>
          <pc:sldMk cId="345834874" sldId="276"/>
        </pc:sldMkLst>
      </pc:sldChg>
      <pc:sldChg chg="addSp delSp add del mod ord">
        <pc:chgData name="Yukinaga Iwao" userId="2828c3972eac4e78" providerId="LiveId" clId="{670EFBC5-4409-4E79-92BA-06B85C119804}" dt="2025-01-30T00:42:28.683" v="14077" actId="2696"/>
        <pc:sldMkLst>
          <pc:docMk/>
          <pc:sldMk cId="1100914930" sldId="276"/>
        </pc:sldMkLst>
      </pc:sldChg>
      <pc:sldChg chg="addSp delSp modSp add mod">
        <pc:chgData name="Yukinaga Iwao" userId="2828c3972eac4e78" providerId="LiveId" clId="{670EFBC5-4409-4E79-92BA-06B85C119804}" dt="2025-02-04T13:46:22.931" v="15257" actId="20577"/>
        <pc:sldMkLst>
          <pc:docMk/>
          <pc:sldMk cId="1778384155" sldId="277"/>
        </pc:sldMkLst>
      </pc:sldChg>
      <pc:sldChg chg="add del">
        <pc:chgData name="Yukinaga Iwao" userId="2828c3972eac4e78" providerId="LiveId" clId="{670EFBC5-4409-4E79-92BA-06B85C119804}" dt="2025-01-30T00:42:25.914" v="14076" actId="2696"/>
        <pc:sldMkLst>
          <pc:docMk/>
          <pc:sldMk cId="3680415532" sldId="277"/>
        </pc:sldMkLst>
      </pc:sldChg>
      <pc:sldChg chg="add del ord">
        <pc:chgData name="Yukinaga Iwao" userId="2828c3972eac4e78" providerId="LiveId" clId="{670EFBC5-4409-4E79-92BA-06B85C119804}" dt="2025-02-06T11:24:09.598" v="17186" actId="2696"/>
        <pc:sldMkLst>
          <pc:docMk/>
          <pc:sldMk cId="1757164653" sldId="278"/>
        </pc:sldMkLst>
      </pc:sldChg>
      <pc:sldChg chg="new del">
        <pc:chgData name="Yukinaga Iwao" userId="2828c3972eac4e78" providerId="LiveId" clId="{670EFBC5-4409-4E79-92BA-06B85C119804}" dt="2025-02-05T23:57:45.344" v="15453" actId="2696"/>
        <pc:sldMkLst>
          <pc:docMk/>
          <pc:sldMk cId="1732409288" sldId="279"/>
        </pc:sldMkLst>
      </pc:sldChg>
      <pc:sldChg chg="addSp delSp modSp new del mod">
        <pc:chgData name="Yukinaga Iwao" userId="2828c3972eac4e78" providerId="LiveId" clId="{670EFBC5-4409-4E79-92BA-06B85C119804}" dt="2025-02-06T11:22:40.787" v="17178" actId="2696"/>
        <pc:sldMkLst>
          <pc:docMk/>
          <pc:sldMk cId="3946221512" sldId="279"/>
        </pc:sldMkLst>
      </pc:sldChg>
      <pc:sldChg chg="addSp delSp modSp new mod ord">
        <pc:chgData name="Yukinaga Iwao" userId="2828c3972eac4e78" providerId="LiveId" clId="{670EFBC5-4409-4E79-92BA-06B85C119804}" dt="2025-02-08T01:27:56.954" v="17193"/>
        <pc:sldMkLst>
          <pc:docMk/>
          <pc:sldMk cId="736385151" sldId="280"/>
        </pc:sldMkLst>
      </pc:sldChg>
      <pc:sldChg chg="addSp delSp modSp new del mod setBg">
        <pc:chgData name="Yukinaga Iwao" userId="2828c3972eac4e78" providerId="LiveId" clId="{670EFBC5-4409-4E79-92BA-06B85C119804}" dt="2025-02-06T11:22:19.308" v="17177" actId="2696"/>
        <pc:sldMkLst>
          <pc:docMk/>
          <pc:sldMk cId="4033360537" sldId="281"/>
        </pc:sldMkLst>
      </pc:sldChg>
      <pc:sldChg chg="new">
        <pc:chgData name="Yukinaga Iwao" userId="2828c3972eac4e78" providerId="LiveId" clId="{670EFBC5-4409-4E79-92BA-06B85C119804}" dt="2025-02-07T00:00:59.929" v="17189" actId="680"/>
        <pc:sldMkLst>
          <pc:docMk/>
          <pc:sldMk cId="4046764266" sldId="28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Microsoft%20PowerPoint%20&#20869;&#12398;&#12464;&#12521;&#1250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2828c3972eac4e78/&#12489;&#12461;&#12517;&#12513;&#12531;&#12488;/CoordrationAnalysi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967063961762384"/>
          <c:y val="8.4843886408761435E-2"/>
          <c:w val="0.74675785640451353"/>
          <c:h val="0.6483098022311905"/>
        </c:manualLayout>
      </c:layout>
      <c:lineChart>
        <c:grouping val="standard"/>
        <c:varyColors val="0"/>
        <c:ser>
          <c:idx val="0"/>
          <c:order val="0"/>
          <c:spPr>
            <a:ln w="28575" cap="rnd">
              <a:solidFill>
                <a:schemeClr val="tx1"/>
              </a:solidFill>
              <a:round/>
            </a:ln>
            <a:effectLst/>
          </c:spPr>
          <c:marker>
            <c:symbol val="none"/>
          </c:marker>
          <c:cat>
            <c:strRef>
              <c:f>'[Microsoft PowerPoint 内のグラフ]Sheet1'!$BA$5:$BB$8</c:f>
              <c:strCache>
                <c:ptCount val="4"/>
                <c:pt idx="0">
                  <c:v>t0</c:v>
                </c:pt>
                <c:pt idx="1">
                  <c:v>t1</c:v>
                </c:pt>
                <c:pt idx="2">
                  <c:v>t2</c:v>
                </c:pt>
                <c:pt idx="3">
                  <c:v>t3</c:v>
                </c:pt>
              </c:strCache>
            </c:strRef>
          </c:cat>
          <c:val>
            <c:numRef>
              <c:f>'[Microsoft PowerPoint 内のグラフ]Sheet1'!$BC$5:$BC$8</c:f>
              <c:numCache>
                <c:formatCode>General</c:formatCode>
                <c:ptCount val="4"/>
                <c:pt idx="0">
                  <c:v>3000</c:v>
                </c:pt>
                <c:pt idx="1">
                  <c:v>3000</c:v>
                </c:pt>
                <c:pt idx="2">
                  <c:v>300</c:v>
                </c:pt>
                <c:pt idx="3">
                  <c:v>300</c:v>
                </c:pt>
              </c:numCache>
            </c:numRef>
          </c:val>
          <c:smooth val="0"/>
          <c:extLst>
            <c:ext xmlns:c16="http://schemas.microsoft.com/office/drawing/2014/chart" uri="{C3380CC4-5D6E-409C-BE32-E72D297353CC}">
              <c16:uniqueId val="{00000000-E263-4E26-9F15-9588EB3E9C69}"/>
            </c:ext>
          </c:extLst>
        </c:ser>
        <c:dLbls>
          <c:showLegendKey val="0"/>
          <c:showVal val="0"/>
          <c:showCatName val="0"/>
          <c:showSerName val="0"/>
          <c:showPercent val="0"/>
          <c:showBubbleSize val="0"/>
        </c:dLbls>
        <c:smooth val="0"/>
        <c:axId val="1032487696"/>
        <c:axId val="1032489136"/>
      </c:lineChart>
      <c:catAx>
        <c:axId val="10324876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ja-JP" altLang="en-US" sz="1800" b="1" dirty="0">
                    <a:solidFill>
                      <a:schemeClr val="tx1"/>
                    </a:solidFill>
                  </a:rPr>
                  <a:t>時間</a:t>
                </a:r>
              </a:p>
            </c:rich>
          </c:tx>
          <c:layout>
            <c:manualLayout>
              <c:xMode val="edge"/>
              <c:yMode val="edge"/>
              <c:x val="0.50530424321959755"/>
              <c:y val="0.8580600461893764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out"/>
        <c:minorTickMark val="none"/>
        <c:tickLblPos val="nextTo"/>
        <c:spPr>
          <a:noFill/>
          <a:ln w="9525" cap="flat" cmpd="sng" algn="ctr">
            <a:solidFill>
              <a:schemeClr val="tx2"/>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ja-JP"/>
          </a:p>
        </c:txPr>
        <c:crossAx val="1032489136"/>
        <c:crosses val="autoZero"/>
        <c:auto val="1"/>
        <c:lblAlgn val="ctr"/>
        <c:lblOffset val="100"/>
        <c:noMultiLvlLbl val="0"/>
      </c:catAx>
      <c:valAx>
        <c:axId val="1032489136"/>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ja-JP" altLang="en-US" sz="1800" b="1" dirty="0">
                    <a:solidFill>
                      <a:schemeClr val="tx1"/>
                    </a:solidFill>
                  </a:rPr>
                  <a:t>温度</a:t>
                </a:r>
                <a:r>
                  <a:rPr lang="en-US" altLang="ja-JP" sz="1800" b="1" dirty="0">
                    <a:solidFill>
                      <a:schemeClr val="tx1"/>
                    </a:solidFill>
                  </a:rPr>
                  <a:t>(K)</a:t>
                </a:r>
                <a:endParaRPr lang="ja-JP" altLang="en-US" sz="1800" b="1" dirty="0">
                  <a:solidFill>
                    <a:schemeClr val="tx1"/>
                  </a:solidFill>
                </a:endParaRPr>
              </a:p>
            </c:rich>
          </c:tx>
          <c:layout>
            <c:manualLayout>
              <c:xMode val="edge"/>
              <c:yMode val="edge"/>
              <c:x val="1.3888888888888888E-2"/>
              <c:y val="0.31336764197777817"/>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out"/>
        <c:minorTickMark val="none"/>
        <c:tickLblPos val="nextTo"/>
        <c:spPr>
          <a:noFill/>
          <a:ln>
            <a:solidFill>
              <a:schemeClr val="tx2"/>
            </a:solidFill>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ja-JP"/>
          </a:p>
        </c:txPr>
        <c:crossAx val="1032487696"/>
        <c:crosses val="autoZero"/>
        <c:crossBetween val="midCat"/>
        <c:majorUnit val="1000"/>
      </c:valAx>
      <c:spPr>
        <a:noFill/>
        <a:ln>
          <a:solidFill>
            <a:schemeClr val="tx2"/>
          </a:solid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ja-JP" altLang="en-US" sz="1800" b="1" dirty="0">
                <a:solidFill>
                  <a:schemeClr val="tx1"/>
                </a:solidFill>
              </a:rPr>
              <a:t>部分二体分布関数</a:t>
            </a:r>
          </a:p>
        </c:rich>
      </c:tx>
      <c:layout>
        <c:manualLayout>
          <c:xMode val="edge"/>
          <c:yMode val="edge"/>
          <c:x val="0.40729942611788988"/>
          <c:y val="3.5173459160151958E-3"/>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manualLayout>
          <c:layoutTarget val="inner"/>
          <c:xMode val="edge"/>
          <c:yMode val="edge"/>
          <c:x val="7.7595348771460584E-2"/>
          <c:y val="9.5821919268879494E-2"/>
          <c:w val="0.89799493517099283"/>
          <c:h val="0.72458045956478523"/>
        </c:manualLayout>
      </c:layout>
      <c:scatterChart>
        <c:scatterStyle val="smoothMarker"/>
        <c:varyColors val="0"/>
        <c:ser>
          <c:idx val="0"/>
          <c:order val="0"/>
          <c:tx>
            <c:v>Cu-Cu</c:v>
          </c:tx>
          <c:spPr>
            <a:ln w="19050" cap="rnd">
              <a:solidFill>
                <a:schemeClr val="accent1"/>
              </a:solidFill>
              <a:round/>
            </a:ln>
            <a:effectLst/>
          </c:spPr>
          <c:marker>
            <c:symbol val="none"/>
          </c:marker>
          <c:xVal>
            <c:numRef>
              <c:f>Sheet1!$A$3:$A$82</c:f>
              <c:numCache>
                <c:formatCode>General</c:formatCode>
                <c:ptCount val="8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numCache>
            </c:numRef>
          </c:xVal>
          <c:yVal>
            <c:numRef>
              <c:f>Sheet1!$B$3:$B$82</c:f>
              <c:numCache>
                <c:formatCode>General</c:formatCode>
                <c:ptCount val="8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4.7206642000000004E-3</c:v>
                </c:pt>
                <c:pt idx="21">
                  <c:v>5.21330183E-2</c:v>
                </c:pt>
                <c:pt idx="22">
                  <c:v>0.40733155059999998</c:v>
                </c:pt>
                <c:pt idx="23">
                  <c:v>1.5530127231999999</c:v>
                </c:pt>
                <c:pt idx="24">
                  <c:v>3.2118293340999999</c:v>
                </c:pt>
                <c:pt idx="25">
                  <c:v>4.1823833844999996</c:v>
                </c:pt>
                <c:pt idx="26">
                  <c:v>3.7048724019999999</c:v>
                </c:pt>
                <c:pt idx="27">
                  <c:v>2.2822273445999999</c:v>
                </c:pt>
                <c:pt idx="28">
                  <c:v>1.1132773099</c:v>
                </c:pt>
                <c:pt idx="29">
                  <c:v>0.59310316910000005</c:v>
                </c:pt>
                <c:pt idx="30">
                  <c:v>0.36132825699999999</c:v>
                </c:pt>
                <c:pt idx="31">
                  <c:v>0.26006336800000002</c:v>
                </c:pt>
                <c:pt idx="32">
                  <c:v>0.22762201100000001</c:v>
                </c:pt>
                <c:pt idx="33">
                  <c:v>0.21621242500000001</c:v>
                </c:pt>
                <c:pt idx="34">
                  <c:v>0.22357038339999999</c:v>
                </c:pt>
                <c:pt idx="35">
                  <c:v>0.24995710269999999</c:v>
                </c:pt>
                <c:pt idx="36">
                  <c:v>0.2816979201</c:v>
                </c:pt>
                <c:pt idx="37">
                  <c:v>0.3432320029</c:v>
                </c:pt>
                <c:pt idx="38">
                  <c:v>0.4501241903</c:v>
                </c:pt>
                <c:pt idx="39">
                  <c:v>0.63169083179999996</c:v>
                </c:pt>
                <c:pt idx="40">
                  <c:v>0.90995211210000004</c:v>
                </c:pt>
                <c:pt idx="41">
                  <c:v>1.235428119</c:v>
                </c:pt>
                <c:pt idx="42">
                  <c:v>1.5123078735</c:v>
                </c:pt>
                <c:pt idx="43">
                  <c:v>1.5968247979000001</c:v>
                </c:pt>
                <c:pt idx="44">
                  <c:v>1.5090099285</c:v>
                </c:pt>
                <c:pt idx="45">
                  <c:v>1.3660610904999999</c:v>
                </c:pt>
                <c:pt idx="46">
                  <c:v>1.2323151189999999</c:v>
                </c:pt>
                <c:pt idx="47">
                  <c:v>1.1655088898999999</c:v>
                </c:pt>
                <c:pt idx="48">
                  <c:v>1.1425797383</c:v>
                </c:pt>
                <c:pt idx="49">
                  <c:v>1.1184374389</c:v>
                </c:pt>
                <c:pt idx="50">
                  <c:v>1.0911275979999999</c:v>
                </c:pt>
                <c:pt idx="51">
                  <c:v>1.0650528855000001</c:v>
                </c:pt>
                <c:pt idx="52">
                  <c:v>1.0680603779</c:v>
                </c:pt>
                <c:pt idx="53">
                  <c:v>1.0783381257</c:v>
                </c:pt>
                <c:pt idx="54">
                  <c:v>1.0722366903</c:v>
                </c:pt>
                <c:pt idx="55">
                  <c:v>1.0143563775</c:v>
                </c:pt>
                <c:pt idx="56">
                  <c:v>0.91785496950000001</c:v>
                </c:pt>
                <c:pt idx="57">
                  <c:v>0.81463284219999998</c:v>
                </c:pt>
                <c:pt idx="58">
                  <c:v>0.7347369722</c:v>
                </c:pt>
                <c:pt idx="59">
                  <c:v>0.67563074779999999</c:v>
                </c:pt>
                <c:pt idx="60">
                  <c:v>0.68516167269999995</c:v>
                </c:pt>
                <c:pt idx="61">
                  <c:v>0.73880615790000004</c:v>
                </c:pt>
                <c:pt idx="62">
                  <c:v>0.81637783990000001</c:v>
                </c:pt>
                <c:pt idx="63">
                  <c:v>0.91993925769999996</c:v>
                </c:pt>
                <c:pt idx="64">
                  <c:v>1.0143790457999999</c:v>
                </c:pt>
                <c:pt idx="65">
                  <c:v>1.0869556261</c:v>
                </c:pt>
                <c:pt idx="66">
                  <c:v>1.1277007366</c:v>
                </c:pt>
                <c:pt idx="67">
                  <c:v>1.1459365094</c:v>
                </c:pt>
                <c:pt idx="68">
                  <c:v>1.1285934245</c:v>
                </c:pt>
                <c:pt idx="69">
                  <c:v>1.1128058864999999</c:v>
                </c:pt>
                <c:pt idx="70">
                  <c:v>1.0938253977000001</c:v>
                </c:pt>
                <c:pt idx="71">
                  <c:v>1.0760461658</c:v>
                </c:pt>
                <c:pt idx="72">
                  <c:v>1.0603903876</c:v>
                </c:pt>
                <c:pt idx="73">
                  <c:v>1.0528416425</c:v>
                </c:pt>
                <c:pt idx="74">
                  <c:v>1.0442829279000001</c:v>
                </c:pt>
                <c:pt idx="75">
                  <c:v>1.0346688240999999</c:v>
                </c:pt>
                <c:pt idx="76">
                  <c:v>1.0283584211000001</c:v>
                </c:pt>
                <c:pt idx="77">
                  <c:v>1.0119511033999999</c:v>
                </c:pt>
                <c:pt idx="78">
                  <c:v>0.9960312643</c:v>
                </c:pt>
                <c:pt idx="79">
                  <c:v>0.97037462860000001</c:v>
                </c:pt>
              </c:numCache>
            </c:numRef>
          </c:yVal>
          <c:smooth val="1"/>
          <c:extLst>
            <c:ext xmlns:c16="http://schemas.microsoft.com/office/drawing/2014/chart" uri="{C3380CC4-5D6E-409C-BE32-E72D297353CC}">
              <c16:uniqueId val="{00000000-BF42-4809-B168-63BE4B3A5120}"/>
            </c:ext>
          </c:extLst>
        </c:ser>
        <c:ser>
          <c:idx val="1"/>
          <c:order val="1"/>
          <c:tx>
            <c:v>Cu-Zr</c:v>
          </c:tx>
          <c:spPr>
            <a:ln w="19050" cap="rnd">
              <a:solidFill>
                <a:srgbClr val="FF0000"/>
              </a:solidFill>
              <a:round/>
            </a:ln>
            <a:effectLst/>
          </c:spPr>
          <c:marker>
            <c:symbol val="none"/>
          </c:marker>
          <c:xVal>
            <c:numRef>
              <c:f>Sheet1!$A$3:$A$82</c:f>
              <c:numCache>
                <c:formatCode>General</c:formatCode>
                <c:ptCount val="8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numCache>
            </c:numRef>
          </c:xVal>
          <c:yVal>
            <c:numRef>
              <c:f>Sheet1!$C$3:$C$82</c:f>
              <c:numCache>
                <c:formatCode>General</c:formatCode>
                <c:ptCount val="8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2.1601907E-3</c:v>
                </c:pt>
                <c:pt idx="24">
                  <c:v>0.1188162228</c:v>
                </c:pt>
                <c:pt idx="25">
                  <c:v>1.101199228</c:v>
                </c:pt>
                <c:pt idx="26">
                  <c:v>3.2070227290000002</c:v>
                </c:pt>
                <c:pt idx="27">
                  <c:v>4.3933088579000001</c:v>
                </c:pt>
                <c:pt idx="28">
                  <c:v>4.0458718505000002</c:v>
                </c:pt>
                <c:pt idx="29">
                  <c:v>3.1255467851000001</c:v>
                </c:pt>
                <c:pt idx="30">
                  <c:v>2.2761449768999999</c:v>
                </c:pt>
                <c:pt idx="31">
                  <c:v>1.5971568461000001</c:v>
                </c:pt>
                <c:pt idx="32">
                  <c:v>1.0735312105000001</c:v>
                </c:pt>
                <c:pt idx="33">
                  <c:v>0.7149072903</c:v>
                </c:pt>
                <c:pt idx="34">
                  <c:v>0.47403022620000002</c:v>
                </c:pt>
                <c:pt idx="35">
                  <c:v>0.31652383509999998</c:v>
                </c:pt>
                <c:pt idx="36">
                  <c:v>0.24708858149999999</c:v>
                </c:pt>
                <c:pt idx="37">
                  <c:v>0.21660240689999999</c:v>
                </c:pt>
                <c:pt idx="38">
                  <c:v>0.22785959580000001</c:v>
                </c:pt>
                <c:pt idx="39">
                  <c:v>0.2809675841</c:v>
                </c:pt>
                <c:pt idx="40">
                  <c:v>0.37652972740000001</c:v>
                </c:pt>
                <c:pt idx="41">
                  <c:v>0.48179211779999997</c:v>
                </c:pt>
                <c:pt idx="42">
                  <c:v>0.57208023019999998</c:v>
                </c:pt>
                <c:pt idx="43">
                  <c:v>0.67615923229999997</c:v>
                </c:pt>
                <c:pt idx="44">
                  <c:v>0.81274254109999999</c:v>
                </c:pt>
                <c:pt idx="45">
                  <c:v>0.98407990420000002</c:v>
                </c:pt>
                <c:pt idx="46">
                  <c:v>1.1847085803999999</c:v>
                </c:pt>
                <c:pt idx="47">
                  <c:v>1.3868541015</c:v>
                </c:pt>
                <c:pt idx="48">
                  <c:v>1.5072307348</c:v>
                </c:pt>
                <c:pt idx="49">
                  <c:v>1.5286060587000001</c:v>
                </c:pt>
                <c:pt idx="50">
                  <c:v>1.437018235</c:v>
                </c:pt>
                <c:pt idx="51">
                  <c:v>1.3186592586000001</c:v>
                </c:pt>
                <c:pt idx="52">
                  <c:v>1.1963134451999999</c:v>
                </c:pt>
                <c:pt idx="53">
                  <c:v>1.1111962748999999</c:v>
                </c:pt>
                <c:pt idx="54">
                  <c:v>1.0681739721000001</c:v>
                </c:pt>
                <c:pt idx="55">
                  <c:v>1.0657824655999999</c:v>
                </c:pt>
                <c:pt idx="56">
                  <c:v>1.0601270296</c:v>
                </c:pt>
                <c:pt idx="57">
                  <c:v>0.97300621539999999</c:v>
                </c:pt>
                <c:pt idx="58">
                  <c:v>0.85177602779999995</c:v>
                </c:pt>
                <c:pt idx="59">
                  <c:v>0.77353725790000005</c:v>
                </c:pt>
                <c:pt idx="60">
                  <c:v>0.78131287309999997</c:v>
                </c:pt>
                <c:pt idx="61">
                  <c:v>0.82382395009999998</c:v>
                </c:pt>
                <c:pt idx="62">
                  <c:v>0.88644945779999995</c:v>
                </c:pt>
                <c:pt idx="63">
                  <c:v>0.92603404150000002</c:v>
                </c:pt>
                <c:pt idx="64">
                  <c:v>0.96470189220000002</c:v>
                </c:pt>
                <c:pt idx="65">
                  <c:v>0.98213125739999996</c:v>
                </c:pt>
                <c:pt idx="66">
                  <c:v>0.98998985709999998</c:v>
                </c:pt>
                <c:pt idx="67">
                  <c:v>0.97896611079999996</c:v>
                </c:pt>
                <c:pt idx="68">
                  <c:v>0.99176281399999999</c:v>
                </c:pt>
                <c:pt idx="69">
                  <c:v>1.0051735424999999</c:v>
                </c:pt>
                <c:pt idx="70">
                  <c:v>1.0386900942999999</c:v>
                </c:pt>
                <c:pt idx="71">
                  <c:v>1.0724375668999999</c:v>
                </c:pt>
                <c:pt idx="72">
                  <c:v>1.1004174556999999</c:v>
                </c:pt>
                <c:pt idx="73">
                  <c:v>1.1205728465</c:v>
                </c:pt>
                <c:pt idx="74">
                  <c:v>1.0973380206000001</c:v>
                </c:pt>
                <c:pt idx="75">
                  <c:v>1.0628200830000001</c:v>
                </c:pt>
                <c:pt idx="76">
                  <c:v>1.0331683233</c:v>
                </c:pt>
                <c:pt idx="77">
                  <c:v>1.0150906034</c:v>
                </c:pt>
                <c:pt idx="78">
                  <c:v>1.0058427006999999</c:v>
                </c:pt>
                <c:pt idx="79">
                  <c:v>0.98705077829999999</c:v>
                </c:pt>
              </c:numCache>
            </c:numRef>
          </c:yVal>
          <c:smooth val="1"/>
          <c:extLst>
            <c:ext xmlns:c16="http://schemas.microsoft.com/office/drawing/2014/chart" uri="{C3380CC4-5D6E-409C-BE32-E72D297353CC}">
              <c16:uniqueId val="{00000001-BF42-4809-B168-63BE4B3A5120}"/>
            </c:ext>
          </c:extLst>
        </c:ser>
        <c:ser>
          <c:idx val="2"/>
          <c:order val="2"/>
          <c:tx>
            <c:v>Zr-Zr</c:v>
          </c:tx>
          <c:spPr>
            <a:ln w="19050" cap="rnd">
              <a:solidFill>
                <a:schemeClr val="tx1"/>
              </a:solidFill>
              <a:round/>
            </a:ln>
            <a:effectLst/>
          </c:spPr>
          <c:marker>
            <c:symbol val="none"/>
          </c:marker>
          <c:xVal>
            <c:numRef>
              <c:f>Sheet1!$A$3:$A$82</c:f>
              <c:numCache>
                <c:formatCode>General</c:formatCode>
                <c:ptCount val="80"/>
                <c:pt idx="0">
                  <c:v>0.05</c:v>
                </c:pt>
                <c:pt idx="1">
                  <c:v>0.15</c:v>
                </c:pt>
                <c:pt idx="2">
                  <c:v>0.25</c:v>
                </c:pt>
                <c:pt idx="3">
                  <c:v>0.35</c:v>
                </c:pt>
                <c:pt idx="4">
                  <c:v>0.45</c:v>
                </c:pt>
                <c:pt idx="5">
                  <c:v>0.55000000000000004</c:v>
                </c:pt>
                <c:pt idx="6">
                  <c:v>0.65</c:v>
                </c:pt>
                <c:pt idx="7">
                  <c:v>0.75</c:v>
                </c:pt>
                <c:pt idx="8">
                  <c:v>0.85</c:v>
                </c:pt>
                <c:pt idx="9">
                  <c:v>0.95</c:v>
                </c:pt>
                <c:pt idx="10">
                  <c:v>1.05</c:v>
                </c:pt>
                <c:pt idx="11">
                  <c:v>1.1499999999999999</c:v>
                </c:pt>
                <c:pt idx="12">
                  <c:v>1.25</c:v>
                </c:pt>
                <c:pt idx="13">
                  <c:v>1.35</c:v>
                </c:pt>
                <c:pt idx="14">
                  <c:v>1.45</c:v>
                </c:pt>
                <c:pt idx="15">
                  <c:v>1.55</c:v>
                </c:pt>
                <c:pt idx="16">
                  <c:v>1.65</c:v>
                </c:pt>
                <c:pt idx="17">
                  <c:v>1.75</c:v>
                </c:pt>
                <c:pt idx="18">
                  <c:v>1.85</c:v>
                </c:pt>
                <c:pt idx="19">
                  <c:v>1.95</c:v>
                </c:pt>
                <c:pt idx="20">
                  <c:v>2.0499999999999998</c:v>
                </c:pt>
                <c:pt idx="21">
                  <c:v>2.15</c:v>
                </c:pt>
                <c:pt idx="22">
                  <c:v>2.25</c:v>
                </c:pt>
                <c:pt idx="23">
                  <c:v>2.35</c:v>
                </c:pt>
                <c:pt idx="24">
                  <c:v>2.4500000000000002</c:v>
                </c:pt>
                <c:pt idx="25">
                  <c:v>2.5499999999999998</c:v>
                </c:pt>
                <c:pt idx="26">
                  <c:v>2.65</c:v>
                </c:pt>
                <c:pt idx="27">
                  <c:v>2.75</c:v>
                </c:pt>
                <c:pt idx="28">
                  <c:v>2.85</c:v>
                </c:pt>
                <c:pt idx="29">
                  <c:v>2.95</c:v>
                </c:pt>
                <c:pt idx="30">
                  <c:v>3.05</c:v>
                </c:pt>
                <c:pt idx="31">
                  <c:v>3.15</c:v>
                </c:pt>
                <c:pt idx="32">
                  <c:v>3.25</c:v>
                </c:pt>
                <c:pt idx="33">
                  <c:v>3.35</c:v>
                </c:pt>
                <c:pt idx="34">
                  <c:v>3.45</c:v>
                </c:pt>
                <c:pt idx="35">
                  <c:v>3.55</c:v>
                </c:pt>
                <c:pt idx="36">
                  <c:v>3.65</c:v>
                </c:pt>
                <c:pt idx="37">
                  <c:v>3.75</c:v>
                </c:pt>
                <c:pt idx="38">
                  <c:v>3.85</c:v>
                </c:pt>
                <c:pt idx="39">
                  <c:v>3.95</c:v>
                </c:pt>
                <c:pt idx="40">
                  <c:v>4.05</c:v>
                </c:pt>
                <c:pt idx="41">
                  <c:v>4.1500000000000004</c:v>
                </c:pt>
                <c:pt idx="42">
                  <c:v>4.25</c:v>
                </c:pt>
                <c:pt idx="43">
                  <c:v>4.3499999999999996</c:v>
                </c:pt>
                <c:pt idx="44">
                  <c:v>4.45</c:v>
                </c:pt>
                <c:pt idx="45">
                  <c:v>4.55</c:v>
                </c:pt>
                <c:pt idx="46">
                  <c:v>4.6500000000000004</c:v>
                </c:pt>
                <c:pt idx="47">
                  <c:v>4.75</c:v>
                </c:pt>
                <c:pt idx="48">
                  <c:v>4.8499999999999996</c:v>
                </c:pt>
                <c:pt idx="49">
                  <c:v>4.95</c:v>
                </c:pt>
                <c:pt idx="50">
                  <c:v>5.05</c:v>
                </c:pt>
                <c:pt idx="51">
                  <c:v>5.15</c:v>
                </c:pt>
                <c:pt idx="52">
                  <c:v>5.25</c:v>
                </c:pt>
                <c:pt idx="53">
                  <c:v>5.35</c:v>
                </c:pt>
                <c:pt idx="54">
                  <c:v>5.45</c:v>
                </c:pt>
                <c:pt idx="55">
                  <c:v>5.55</c:v>
                </c:pt>
                <c:pt idx="56">
                  <c:v>5.65</c:v>
                </c:pt>
                <c:pt idx="57">
                  <c:v>5.75</c:v>
                </c:pt>
                <c:pt idx="58">
                  <c:v>5.85</c:v>
                </c:pt>
                <c:pt idx="59">
                  <c:v>5.95</c:v>
                </c:pt>
                <c:pt idx="60">
                  <c:v>6.05</c:v>
                </c:pt>
                <c:pt idx="61">
                  <c:v>6.15</c:v>
                </c:pt>
                <c:pt idx="62">
                  <c:v>6.25</c:v>
                </c:pt>
                <c:pt idx="63">
                  <c:v>6.35</c:v>
                </c:pt>
                <c:pt idx="64">
                  <c:v>6.45</c:v>
                </c:pt>
                <c:pt idx="65">
                  <c:v>6.55</c:v>
                </c:pt>
                <c:pt idx="66">
                  <c:v>6.65</c:v>
                </c:pt>
                <c:pt idx="67">
                  <c:v>6.75</c:v>
                </c:pt>
                <c:pt idx="68">
                  <c:v>6.85</c:v>
                </c:pt>
                <c:pt idx="69">
                  <c:v>6.95</c:v>
                </c:pt>
                <c:pt idx="70">
                  <c:v>7.05</c:v>
                </c:pt>
                <c:pt idx="71">
                  <c:v>7.15</c:v>
                </c:pt>
                <c:pt idx="72">
                  <c:v>7.25</c:v>
                </c:pt>
                <c:pt idx="73">
                  <c:v>7.35</c:v>
                </c:pt>
                <c:pt idx="74">
                  <c:v>7.45</c:v>
                </c:pt>
                <c:pt idx="75">
                  <c:v>7.55</c:v>
                </c:pt>
                <c:pt idx="76">
                  <c:v>7.65</c:v>
                </c:pt>
                <c:pt idx="77">
                  <c:v>7.75</c:v>
                </c:pt>
                <c:pt idx="78">
                  <c:v>7.85</c:v>
                </c:pt>
                <c:pt idx="79">
                  <c:v>7.95</c:v>
                </c:pt>
              </c:numCache>
            </c:numRef>
          </c:xVal>
          <c:yVal>
            <c:numRef>
              <c:f>Sheet1!$D$3:$D$82</c:f>
              <c:numCache>
                <c:formatCode>General</c:formatCode>
                <c:ptCount val="8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4.7271806000000003E-3</c:v>
                </c:pt>
                <c:pt idx="27">
                  <c:v>3.8531579900000001E-2</c:v>
                </c:pt>
                <c:pt idx="28">
                  <c:v>0.2781472593</c:v>
                </c:pt>
                <c:pt idx="29">
                  <c:v>1.0511604937000001</c:v>
                </c:pt>
                <c:pt idx="30">
                  <c:v>2.2048458414000001</c:v>
                </c:pt>
                <c:pt idx="31">
                  <c:v>2.8250777578999999</c:v>
                </c:pt>
                <c:pt idx="32">
                  <c:v>3.0405040511000001</c:v>
                </c:pt>
                <c:pt idx="33">
                  <c:v>2.8771522295</c:v>
                </c:pt>
                <c:pt idx="34">
                  <c:v>2.2246826905999999</c:v>
                </c:pt>
                <c:pt idx="35">
                  <c:v>1.3888449392</c:v>
                </c:pt>
                <c:pt idx="36">
                  <c:v>0.83132930319999998</c:v>
                </c:pt>
                <c:pt idx="37">
                  <c:v>0.55190004739999998</c:v>
                </c:pt>
                <c:pt idx="38">
                  <c:v>0.4585266563</c:v>
                </c:pt>
                <c:pt idx="39">
                  <c:v>0.41976503139999999</c:v>
                </c:pt>
                <c:pt idx="40">
                  <c:v>0.41492273000000002</c:v>
                </c:pt>
                <c:pt idx="41">
                  <c:v>0.45824533290000002</c:v>
                </c:pt>
                <c:pt idx="42">
                  <c:v>0.4999383859</c:v>
                </c:pt>
                <c:pt idx="43">
                  <c:v>0.55061356439999998</c:v>
                </c:pt>
                <c:pt idx="44">
                  <c:v>0.64461962390000005</c:v>
                </c:pt>
                <c:pt idx="45">
                  <c:v>0.74159154179999998</c:v>
                </c:pt>
                <c:pt idx="46">
                  <c:v>0.89155826149999995</c:v>
                </c:pt>
                <c:pt idx="47">
                  <c:v>1.0020498525999999</c:v>
                </c:pt>
                <c:pt idx="48">
                  <c:v>1.1028433902000001</c:v>
                </c:pt>
                <c:pt idx="49">
                  <c:v>1.1568935863000001</c:v>
                </c:pt>
                <c:pt idx="50">
                  <c:v>1.2558153891999999</c:v>
                </c:pt>
                <c:pt idx="51">
                  <c:v>1.2869374092999999</c:v>
                </c:pt>
                <c:pt idx="52">
                  <c:v>1.3200861610000001</c:v>
                </c:pt>
                <c:pt idx="53">
                  <c:v>1.3275844152</c:v>
                </c:pt>
                <c:pt idx="54">
                  <c:v>1.2998059120000001</c:v>
                </c:pt>
                <c:pt idx="55">
                  <c:v>1.2274017667999999</c:v>
                </c:pt>
                <c:pt idx="56">
                  <c:v>1.1371346662999999</c:v>
                </c:pt>
                <c:pt idx="57">
                  <c:v>1.0463248970000001</c:v>
                </c:pt>
                <c:pt idx="58">
                  <c:v>0.97205511560000002</c:v>
                </c:pt>
                <c:pt idx="59">
                  <c:v>0.9381454602</c:v>
                </c:pt>
                <c:pt idx="60">
                  <c:v>0.94689587919999996</c:v>
                </c:pt>
                <c:pt idx="61">
                  <c:v>0.9420042247</c:v>
                </c:pt>
                <c:pt idx="62">
                  <c:v>0.89699225670000005</c:v>
                </c:pt>
                <c:pt idx="63">
                  <c:v>0.86105017449999999</c:v>
                </c:pt>
                <c:pt idx="64">
                  <c:v>0.80006596429999999</c:v>
                </c:pt>
                <c:pt idx="65">
                  <c:v>0.75011454700000002</c:v>
                </c:pt>
                <c:pt idx="66">
                  <c:v>0.72213585629999999</c:v>
                </c:pt>
                <c:pt idx="67">
                  <c:v>0.74550882419999998</c:v>
                </c:pt>
                <c:pt idx="68">
                  <c:v>0.76694398180000001</c:v>
                </c:pt>
                <c:pt idx="69">
                  <c:v>0.84313076809999998</c:v>
                </c:pt>
                <c:pt idx="70">
                  <c:v>0.94388524529999995</c:v>
                </c:pt>
                <c:pt idx="71">
                  <c:v>1.0462893527999999</c:v>
                </c:pt>
                <c:pt idx="72">
                  <c:v>1.1385477154999999</c:v>
                </c:pt>
                <c:pt idx="73">
                  <c:v>1.1920410216999999</c:v>
                </c:pt>
                <c:pt idx="74">
                  <c:v>1.2306401289</c:v>
                </c:pt>
                <c:pt idx="75">
                  <c:v>1.2219423239</c:v>
                </c:pt>
                <c:pt idx="76">
                  <c:v>1.1887240742</c:v>
                </c:pt>
                <c:pt idx="77">
                  <c:v>1.1535164985999999</c:v>
                </c:pt>
                <c:pt idx="78">
                  <c:v>1.1092596085999999</c:v>
                </c:pt>
                <c:pt idx="79">
                  <c:v>1.0775022986</c:v>
                </c:pt>
              </c:numCache>
            </c:numRef>
          </c:yVal>
          <c:smooth val="1"/>
          <c:extLst>
            <c:ext xmlns:c16="http://schemas.microsoft.com/office/drawing/2014/chart" uri="{C3380CC4-5D6E-409C-BE32-E72D297353CC}">
              <c16:uniqueId val="{00000002-BF42-4809-B168-63BE4B3A5120}"/>
            </c:ext>
          </c:extLst>
        </c:ser>
        <c:dLbls>
          <c:showLegendKey val="0"/>
          <c:showVal val="0"/>
          <c:showCatName val="0"/>
          <c:showSerName val="0"/>
          <c:showPercent val="0"/>
          <c:showBubbleSize val="0"/>
        </c:dLbls>
        <c:axId val="792203215"/>
        <c:axId val="792204175"/>
      </c:scatterChart>
      <c:valAx>
        <c:axId val="792203215"/>
        <c:scaling>
          <c:orientation val="minMax"/>
          <c:max val="8"/>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ja-JP" altLang="en-US" sz="1800" b="1" dirty="0">
                    <a:solidFill>
                      <a:sysClr val="windowText" lastClr="000000"/>
                    </a:solidFill>
                  </a:rPr>
                  <a:t>原子間距離 </a:t>
                </a:r>
                <a:r>
                  <a:rPr lang="en-US" altLang="ja-JP" sz="1800" b="1" dirty="0">
                    <a:solidFill>
                      <a:sysClr val="windowText" lastClr="000000"/>
                    </a:solidFill>
                  </a:rPr>
                  <a:t>r</a:t>
                </a:r>
                <a:r>
                  <a:rPr lang="ja-JP" altLang="en-US" sz="1800" b="1" baseline="0" dirty="0">
                    <a:solidFill>
                      <a:sysClr val="windowText" lastClr="000000"/>
                    </a:solidFill>
                  </a:rPr>
                  <a:t>  </a:t>
                </a:r>
                <a:r>
                  <a:rPr lang="en-US" altLang="ja-JP" sz="1800" b="1" dirty="0">
                    <a:solidFill>
                      <a:sysClr val="windowText" lastClr="000000"/>
                    </a:solidFill>
                  </a:rPr>
                  <a:t>[Å]</a:t>
                </a:r>
                <a:endParaRPr lang="ja-JP" altLang="en-US" sz="1800" b="1" dirty="0">
                  <a:solidFill>
                    <a:sysClr val="windowText" lastClr="000000"/>
                  </a:solidFill>
                </a:endParaRP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out"/>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ja-JP"/>
          </a:p>
        </c:txPr>
        <c:crossAx val="792204175"/>
        <c:crosses val="autoZero"/>
        <c:crossBetween val="midCat"/>
        <c:majorUnit val="1"/>
        <c:minorUnit val="1"/>
      </c:valAx>
      <c:valAx>
        <c:axId val="792204175"/>
        <c:scaling>
          <c:orientation val="minMax"/>
          <c:min val="0"/>
        </c:scaling>
        <c:delete val="0"/>
        <c:axPos val="l"/>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ltLang="ja-JP" sz="1800" b="1">
                    <a:solidFill>
                      <a:sysClr val="windowText" lastClr="000000"/>
                    </a:solidFill>
                  </a:rPr>
                  <a:t>g(r)</a:t>
                </a:r>
                <a:endParaRPr lang="ja-JP" altLang="en-US" sz="1800" b="1">
                  <a:solidFill>
                    <a:sysClr val="windowText" lastClr="000000"/>
                  </a:solidFill>
                </a:endParaRP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out"/>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ja-JP"/>
          </a:p>
        </c:txPr>
        <c:crossAx val="792203215"/>
        <c:crosses val="autoZero"/>
        <c:crossBetween val="midCat"/>
        <c:majorUnit val="1"/>
        <c:minorUnit val="1"/>
      </c:valAx>
      <c:spPr>
        <a:noFill/>
        <a:ln>
          <a:solidFill>
            <a:sysClr val="windowText" lastClr="000000"/>
          </a:solidFill>
        </a:ln>
        <a:effectLst>
          <a:glow rad="127000">
            <a:schemeClr val="tx1"/>
          </a:glow>
        </a:effectLst>
      </c:spPr>
    </c:plotArea>
    <c:legend>
      <c:legendPos val="tr"/>
      <c:legendEntry>
        <c:idx val="0"/>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ja-JP"/>
          </a:p>
        </c:txPr>
      </c:legendEntry>
      <c:legendEntry>
        <c:idx val="1"/>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ja-JP"/>
          </a:p>
        </c:txPr>
      </c:legendEntry>
      <c:legendEntry>
        <c:idx val="2"/>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ja-JP"/>
          </a:p>
        </c:txPr>
      </c:legendEntry>
      <c:layout>
        <c:manualLayout>
          <c:xMode val="edge"/>
          <c:yMode val="edge"/>
          <c:x val="0.79844449208890889"/>
          <c:y val="9.7355765768337418E-2"/>
          <c:w val="0.14969654283875863"/>
          <c:h val="0.29124457040942819"/>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D15FFA-EB1C-48D5-9412-45AE01634F0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C30BE905-7CA7-48AB-8744-226A3CCDE4FA}">
      <dgm:prSet/>
      <dgm:spPr/>
      <dgm:t>
        <a:bodyPr/>
        <a:lstStyle/>
        <a:p>
          <a:r>
            <a:rPr kumimoji="1" lang="ja-JP" b="0" dirty="0"/>
            <a:t>代表的な金属ガラスである</a:t>
          </a:r>
          <a:r>
            <a:rPr kumimoji="1" lang="en-US" b="0" dirty="0"/>
            <a:t>Cu</a:t>
          </a:r>
          <a:r>
            <a:rPr kumimoji="1" lang="en-US" b="0" baseline="-25000" dirty="0"/>
            <a:t>64</a:t>
          </a:r>
          <a:r>
            <a:rPr kumimoji="1" lang="en-US" b="0" dirty="0"/>
            <a:t>Zr</a:t>
          </a:r>
          <a:r>
            <a:rPr kumimoji="1" lang="en-US" b="0" baseline="-25000" dirty="0"/>
            <a:t>36</a:t>
          </a:r>
          <a:r>
            <a:rPr kumimoji="1" lang="ja-JP" b="0" dirty="0"/>
            <a:t>の</a:t>
          </a:r>
          <a:br>
            <a:rPr kumimoji="1" lang="en-US" altLang="ja-JP" b="0" dirty="0"/>
          </a:br>
          <a:r>
            <a:rPr kumimoji="1" lang="ja-JP" b="0" dirty="0"/>
            <a:t>構造モデルを作成</a:t>
          </a:r>
          <a:endParaRPr lang="en-US" b="0" dirty="0"/>
        </a:p>
      </dgm:t>
    </dgm:pt>
    <dgm:pt modelId="{AF9A6027-4AB6-49A7-BE16-9E542E0B04F7}" type="parTrans" cxnId="{D9E3D01A-A379-4653-B4EC-DB9DB73F326C}">
      <dgm:prSet/>
      <dgm:spPr/>
      <dgm:t>
        <a:bodyPr/>
        <a:lstStyle/>
        <a:p>
          <a:endParaRPr lang="en-US"/>
        </a:p>
      </dgm:t>
    </dgm:pt>
    <dgm:pt modelId="{FDDF2219-2D10-41F6-8E7A-F90C1A85BBFB}" type="sibTrans" cxnId="{D9E3D01A-A379-4653-B4EC-DB9DB73F326C}">
      <dgm:prSet/>
      <dgm:spPr/>
      <dgm:t>
        <a:bodyPr/>
        <a:lstStyle/>
        <a:p>
          <a:endParaRPr lang="en-US"/>
        </a:p>
      </dgm:t>
    </dgm:pt>
    <dgm:pt modelId="{778B83B5-7654-403A-BDA0-18D3B8A29E9E}">
      <dgm:prSet/>
      <dgm:spPr/>
      <dgm:t>
        <a:bodyPr/>
        <a:lstStyle/>
        <a:p>
          <a:r>
            <a:rPr kumimoji="1" lang="ja-JP" b="0" dirty="0"/>
            <a:t>モデルについて解析</a:t>
          </a:r>
          <a:endParaRPr lang="en-US" b="0" dirty="0"/>
        </a:p>
      </dgm:t>
    </dgm:pt>
    <dgm:pt modelId="{636C9373-1CFC-4C56-9EF6-7CFDDB21D2F2}" type="parTrans" cxnId="{E28908FE-2E36-459D-996B-73CD539DAAD1}">
      <dgm:prSet/>
      <dgm:spPr/>
      <dgm:t>
        <a:bodyPr/>
        <a:lstStyle/>
        <a:p>
          <a:endParaRPr lang="en-US"/>
        </a:p>
      </dgm:t>
    </dgm:pt>
    <dgm:pt modelId="{CF8A707A-6019-430B-B3A5-3259D307A82B}" type="sibTrans" cxnId="{E28908FE-2E36-459D-996B-73CD539DAAD1}">
      <dgm:prSet/>
      <dgm:spPr/>
      <dgm:t>
        <a:bodyPr/>
        <a:lstStyle/>
        <a:p>
          <a:endParaRPr lang="en-US"/>
        </a:p>
      </dgm:t>
    </dgm:pt>
    <dgm:pt modelId="{65209B72-22BE-489F-AF19-9619B04B2202}">
      <dgm:prSet/>
      <dgm:spPr/>
      <dgm:t>
        <a:bodyPr/>
        <a:lstStyle/>
        <a:p>
          <a:r>
            <a:rPr kumimoji="1" lang="ja-JP" b="0" dirty="0"/>
            <a:t>モデルをスライスし局所電子回折計算を実施</a:t>
          </a:r>
          <a:endParaRPr lang="en-US" b="0" dirty="0"/>
        </a:p>
      </dgm:t>
    </dgm:pt>
    <dgm:pt modelId="{1DD3CFE6-C168-4D1B-9844-374F2030EDD2}" type="parTrans" cxnId="{923E9109-A796-4077-AA0A-0CA6C3DCE9E2}">
      <dgm:prSet/>
      <dgm:spPr/>
      <dgm:t>
        <a:bodyPr/>
        <a:lstStyle/>
        <a:p>
          <a:endParaRPr lang="en-US"/>
        </a:p>
      </dgm:t>
    </dgm:pt>
    <dgm:pt modelId="{2651AD36-1231-4E45-9FFA-0A7073FD816D}" type="sibTrans" cxnId="{923E9109-A796-4077-AA0A-0CA6C3DCE9E2}">
      <dgm:prSet/>
      <dgm:spPr/>
      <dgm:t>
        <a:bodyPr/>
        <a:lstStyle/>
        <a:p>
          <a:endParaRPr lang="en-US"/>
        </a:p>
      </dgm:t>
    </dgm:pt>
    <dgm:pt modelId="{FB0C2A1C-38FC-4282-9387-D5783E24AE88}">
      <dgm:prSet/>
      <dgm:spPr/>
      <dgm:t>
        <a:bodyPr/>
        <a:lstStyle/>
        <a:p>
          <a:r>
            <a:rPr kumimoji="1" lang="ja-JP" b="0" dirty="0"/>
            <a:t>特徴的な図形と構造を比較検討</a:t>
          </a:r>
          <a:endParaRPr lang="en-US" b="0" dirty="0"/>
        </a:p>
      </dgm:t>
    </dgm:pt>
    <dgm:pt modelId="{D059A687-D2C8-492B-ABAF-767F2774AA25}" type="parTrans" cxnId="{87600563-05A5-4B71-8B13-9B382B2E420E}">
      <dgm:prSet/>
      <dgm:spPr/>
      <dgm:t>
        <a:bodyPr/>
        <a:lstStyle/>
        <a:p>
          <a:endParaRPr lang="en-US"/>
        </a:p>
      </dgm:t>
    </dgm:pt>
    <dgm:pt modelId="{7C58E0F3-6FBA-45A4-B1F6-78E404CEC46C}" type="sibTrans" cxnId="{87600563-05A5-4B71-8B13-9B382B2E420E}">
      <dgm:prSet/>
      <dgm:spPr/>
      <dgm:t>
        <a:bodyPr/>
        <a:lstStyle/>
        <a:p>
          <a:endParaRPr lang="en-US"/>
        </a:p>
      </dgm:t>
    </dgm:pt>
    <dgm:pt modelId="{1B483423-C01C-4E1C-A16E-25142C397FEF}" type="pres">
      <dgm:prSet presAssocID="{A9D15FFA-EB1C-48D5-9412-45AE01634F03}" presName="hierChild1" presStyleCnt="0">
        <dgm:presLayoutVars>
          <dgm:chPref val="1"/>
          <dgm:dir/>
          <dgm:animOne val="branch"/>
          <dgm:animLvl val="lvl"/>
          <dgm:resizeHandles/>
        </dgm:presLayoutVars>
      </dgm:prSet>
      <dgm:spPr/>
    </dgm:pt>
    <dgm:pt modelId="{995B2B00-02A2-417A-B523-D0BC57935402}" type="pres">
      <dgm:prSet presAssocID="{C30BE905-7CA7-48AB-8744-226A3CCDE4FA}" presName="hierRoot1" presStyleCnt="0"/>
      <dgm:spPr/>
    </dgm:pt>
    <dgm:pt modelId="{80DC9CF5-8021-441E-84E6-E2E15C6C80E5}" type="pres">
      <dgm:prSet presAssocID="{C30BE905-7CA7-48AB-8744-226A3CCDE4FA}" presName="composite" presStyleCnt="0"/>
      <dgm:spPr/>
    </dgm:pt>
    <dgm:pt modelId="{0CC9A470-6EBC-4711-BD50-87E6E9FCC8BE}" type="pres">
      <dgm:prSet presAssocID="{C30BE905-7CA7-48AB-8744-226A3CCDE4FA}" presName="background" presStyleLbl="node0" presStyleIdx="0" presStyleCnt="4"/>
      <dgm:spPr/>
    </dgm:pt>
    <dgm:pt modelId="{E9789E97-6E17-4022-9EE7-2F7AE0CF5FC6}" type="pres">
      <dgm:prSet presAssocID="{C30BE905-7CA7-48AB-8744-226A3CCDE4FA}" presName="text" presStyleLbl="fgAcc0" presStyleIdx="0" presStyleCnt="4">
        <dgm:presLayoutVars>
          <dgm:chPref val="3"/>
        </dgm:presLayoutVars>
      </dgm:prSet>
      <dgm:spPr/>
    </dgm:pt>
    <dgm:pt modelId="{1D0C09F5-5F7E-49BB-B0B6-1303FE8DE535}" type="pres">
      <dgm:prSet presAssocID="{C30BE905-7CA7-48AB-8744-226A3CCDE4FA}" presName="hierChild2" presStyleCnt="0"/>
      <dgm:spPr/>
    </dgm:pt>
    <dgm:pt modelId="{1B59884A-DEFD-415A-B4C5-E1FE83EF576C}" type="pres">
      <dgm:prSet presAssocID="{778B83B5-7654-403A-BDA0-18D3B8A29E9E}" presName="hierRoot1" presStyleCnt="0"/>
      <dgm:spPr/>
    </dgm:pt>
    <dgm:pt modelId="{9D2C14A3-DAD8-45B4-B46A-52A04212DF21}" type="pres">
      <dgm:prSet presAssocID="{778B83B5-7654-403A-BDA0-18D3B8A29E9E}" presName="composite" presStyleCnt="0"/>
      <dgm:spPr/>
    </dgm:pt>
    <dgm:pt modelId="{689D5D4A-D87B-4E75-96E4-D1D2FE04F47E}" type="pres">
      <dgm:prSet presAssocID="{778B83B5-7654-403A-BDA0-18D3B8A29E9E}" presName="background" presStyleLbl="node0" presStyleIdx="1" presStyleCnt="4"/>
      <dgm:spPr/>
    </dgm:pt>
    <dgm:pt modelId="{F776E4C7-7B71-4A41-AC17-026FBC6F1338}" type="pres">
      <dgm:prSet presAssocID="{778B83B5-7654-403A-BDA0-18D3B8A29E9E}" presName="text" presStyleLbl="fgAcc0" presStyleIdx="1" presStyleCnt="4">
        <dgm:presLayoutVars>
          <dgm:chPref val="3"/>
        </dgm:presLayoutVars>
      </dgm:prSet>
      <dgm:spPr/>
    </dgm:pt>
    <dgm:pt modelId="{676CB350-1B3F-44B2-BF58-58ADCFF37130}" type="pres">
      <dgm:prSet presAssocID="{778B83B5-7654-403A-BDA0-18D3B8A29E9E}" presName="hierChild2" presStyleCnt="0"/>
      <dgm:spPr/>
    </dgm:pt>
    <dgm:pt modelId="{B66618A5-54F0-4174-8CFD-660CF7A71439}" type="pres">
      <dgm:prSet presAssocID="{65209B72-22BE-489F-AF19-9619B04B2202}" presName="hierRoot1" presStyleCnt="0"/>
      <dgm:spPr/>
    </dgm:pt>
    <dgm:pt modelId="{27BB3130-C17C-40D7-9A1D-BD1EB8D8CC57}" type="pres">
      <dgm:prSet presAssocID="{65209B72-22BE-489F-AF19-9619B04B2202}" presName="composite" presStyleCnt="0"/>
      <dgm:spPr/>
    </dgm:pt>
    <dgm:pt modelId="{84B85C76-DACD-4971-BB1B-132D7BE323DF}" type="pres">
      <dgm:prSet presAssocID="{65209B72-22BE-489F-AF19-9619B04B2202}" presName="background" presStyleLbl="node0" presStyleIdx="2" presStyleCnt="4"/>
      <dgm:spPr/>
    </dgm:pt>
    <dgm:pt modelId="{78DADB2F-E641-4924-8795-88A08A1638DE}" type="pres">
      <dgm:prSet presAssocID="{65209B72-22BE-489F-AF19-9619B04B2202}" presName="text" presStyleLbl="fgAcc0" presStyleIdx="2" presStyleCnt="4">
        <dgm:presLayoutVars>
          <dgm:chPref val="3"/>
        </dgm:presLayoutVars>
      </dgm:prSet>
      <dgm:spPr/>
    </dgm:pt>
    <dgm:pt modelId="{8D00AD91-DB6F-4CA3-9FE7-FE92FF6F2E9C}" type="pres">
      <dgm:prSet presAssocID="{65209B72-22BE-489F-AF19-9619B04B2202}" presName="hierChild2" presStyleCnt="0"/>
      <dgm:spPr/>
    </dgm:pt>
    <dgm:pt modelId="{2B841BD8-0902-48F0-88CE-33C0969F5895}" type="pres">
      <dgm:prSet presAssocID="{FB0C2A1C-38FC-4282-9387-D5783E24AE88}" presName="hierRoot1" presStyleCnt="0"/>
      <dgm:spPr/>
    </dgm:pt>
    <dgm:pt modelId="{053AE1FD-0A8D-4FC8-ABDD-ED50EBB1C114}" type="pres">
      <dgm:prSet presAssocID="{FB0C2A1C-38FC-4282-9387-D5783E24AE88}" presName="composite" presStyleCnt="0"/>
      <dgm:spPr/>
    </dgm:pt>
    <dgm:pt modelId="{47857471-2C80-4EF0-BCD2-1B9B92F74982}" type="pres">
      <dgm:prSet presAssocID="{FB0C2A1C-38FC-4282-9387-D5783E24AE88}" presName="background" presStyleLbl="node0" presStyleIdx="3" presStyleCnt="4"/>
      <dgm:spPr/>
    </dgm:pt>
    <dgm:pt modelId="{43BDB69C-62B4-45F0-8AB6-F1D8C565A923}" type="pres">
      <dgm:prSet presAssocID="{FB0C2A1C-38FC-4282-9387-D5783E24AE88}" presName="text" presStyleLbl="fgAcc0" presStyleIdx="3" presStyleCnt="4">
        <dgm:presLayoutVars>
          <dgm:chPref val="3"/>
        </dgm:presLayoutVars>
      </dgm:prSet>
      <dgm:spPr/>
    </dgm:pt>
    <dgm:pt modelId="{8C571B5E-3136-4139-B470-63B5FA1A51EA}" type="pres">
      <dgm:prSet presAssocID="{FB0C2A1C-38FC-4282-9387-D5783E24AE88}" presName="hierChild2" presStyleCnt="0"/>
      <dgm:spPr/>
    </dgm:pt>
  </dgm:ptLst>
  <dgm:cxnLst>
    <dgm:cxn modelId="{923E9109-A796-4077-AA0A-0CA6C3DCE9E2}" srcId="{A9D15FFA-EB1C-48D5-9412-45AE01634F03}" destId="{65209B72-22BE-489F-AF19-9619B04B2202}" srcOrd="2" destOrd="0" parTransId="{1DD3CFE6-C168-4D1B-9844-374F2030EDD2}" sibTransId="{2651AD36-1231-4E45-9FFA-0A7073FD816D}"/>
    <dgm:cxn modelId="{D9E3D01A-A379-4653-B4EC-DB9DB73F326C}" srcId="{A9D15FFA-EB1C-48D5-9412-45AE01634F03}" destId="{C30BE905-7CA7-48AB-8744-226A3CCDE4FA}" srcOrd="0" destOrd="0" parTransId="{AF9A6027-4AB6-49A7-BE16-9E542E0B04F7}" sibTransId="{FDDF2219-2D10-41F6-8E7A-F90C1A85BBFB}"/>
    <dgm:cxn modelId="{87600563-05A5-4B71-8B13-9B382B2E420E}" srcId="{A9D15FFA-EB1C-48D5-9412-45AE01634F03}" destId="{FB0C2A1C-38FC-4282-9387-D5783E24AE88}" srcOrd="3" destOrd="0" parTransId="{D059A687-D2C8-492B-ABAF-767F2774AA25}" sibTransId="{7C58E0F3-6FBA-45A4-B1F6-78E404CEC46C}"/>
    <dgm:cxn modelId="{F7F10381-DB48-47C6-8040-3277B3942A4A}" type="presOf" srcId="{A9D15FFA-EB1C-48D5-9412-45AE01634F03}" destId="{1B483423-C01C-4E1C-A16E-25142C397FEF}" srcOrd="0" destOrd="0" presId="urn:microsoft.com/office/officeart/2005/8/layout/hierarchy1"/>
    <dgm:cxn modelId="{360C079C-0528-4C28-B883-F5395BA1DED2}" type="presOf" srcId="{778B83B5-7654-403A-BDA0-18D3B8A29E9E}" destId="{F776E4C7-7B71-4A41-AC17-026FBC6F1338}" srcOrd="0" destOrd="0" presId="urn:microsoft.com/office/officeart/2005/8/layout/hierarchy1"/>
    <dgm:cxn modelId="{F05706A8-0D92-45C3-A4D4-B46CF2A899BF}" type="presOf" srcId="{65209B72-22BE-489F-AF19-9619B04B2202}" destId="{78DADB2F-E641-4924-8795-88A08A1638DE}" srcOrd="0" destOrd="0" presId="urn:microsoft.com/office/officeart/2005/8/layout/hierarchy1"/>
    <dgm:cxn modelId="{EC3D71B4-DEE6-457E-9CC3-DD42C029767A}" type="presOf" srcId="{C30BE905-7CA7-48AB-8744-226A3CCDE4FA}" destId="{E9789E97-6E17-4022-9EE7-2F7AE0CF5FC6}" srcOrd="0" destOrd="0" presId="urn:microsoft.com/office/officeart/2005/8/layout/hierarchy1"/>
    <dgm:cxn modelId="{FEC57EF3-9F50-40E3-89E7-68A0C3F5AE21}" type="presOf" srcId="{FB0C2A1C-38FC-4282-9387-D5783E24AE88}" destId="{43BDB69C-62B4-45F0-8AB6-F1D8C565A923}" srcOrd="0" destOrd="0" presId="urn:microsoft.com/office/officeart/2005/8/layout/hierarchy1"/>
    <dgm:cxn modelId="{E28908FE-2E36-459D-996B-73CD539DAAD1}" srcId="{A9D15FFA-EB1C-48D5-9412-45AE01634F03}" destId="{778B83B5-7654-403A-BDA0-18D3B8A29E9E}" srcOrd="1" destOrd="0" parTransId="{636C9373-1CFC-4C56-9EF6-7CFDDB21D2F2}" sibTransId="{CF8A707A-6019-430B-B3A5-3259D307A82B}"/>
    <dgm:cxn modelId="{A4563665-0EEF-47FA-822B-4DF543E7C3BF}" type="presParOf" srcId="{1B483423-C01C-4E1C-A16E-25142C397FEF}" destId="{995B2B00-02A2-417A-B523-D0BC57935402}" srcOrd="0" destOrd="0" presId="urn:microsoft.com/office/officeart/2005/8/layout/hierarchy1"/>
    <dgm:cxn modelId="{D38F6FAC-3D97-47CF-9FFE-2B712957A51A}" type="presParOf" srcId="{995B2B00-02A2-417A-B523-D0BC57935402}" destId="{80DC9CF5-8021-441E-84E6-E2E15C6C80E5}" srcOrd="0" destOrd="0" presId="urn:microsoft.com/office/officeart/2005/8/layout/hierarchy1"/>
    <dgm:cxn modelId="{376725DF-D460-42EF-9618-946DBCCE81F4}" type="presParOf" srcId="{80DC9CF5-8021-441E-84E6-E2E15C6C80E5}" destId="{0CC9A470-6EBC-4711-BD50-87E6E9FCC8BE}" srcOrd="0" destOrd="0" presId="urn:microsoft.com/office/officeart/2005/8/layout/hierarchy1"/>
    <dgm:cxn modelId="{6E3628A3-52AF-417B-B192-7C94F2C32688}" type="presParOf" srcId="{80DC9CF5-8021-441E-84E6-E2E15C6C80E5}" destId="{E9789E97-6E17-4022-9EE7-2F7AE0CF5FC6}" srcOrd="1" destOrd="0" presId="urn:microsoft.com/office/officeart/2005/8/layout/hierarchy1"/>
    <dgm:cxn modelId="{644C761C-69A7-4B1C-B221-B31ECE1C99CB}" type="presParOf" srcId="{995B2B00-02A2-417A-B523-D0BC57935402}" destId="{1D0C09F5-5F7E-49BB-B0B6-1303FE8DE535}" srcOrd="1" destOrd="0" presId="urn:microsoft.com/office/officeart/2005/8/layout/hierarchy1"/>
    <dgm:cxn modelId="{0AC42ADE-701E-49C0-BA2B-6B0A6C447166}" type="presParOf" srcId="{1B483423-C01C-4E1C-A16E-25142C397FEF}" destId="{1B59884A-DEFD-415A-B4C5-E1FE83EF576C}" srcOrd="1" destOrd="0" presId="urn:microsoft.com/office/officeart/2005/8/layout/hierarchy1"/>
    <dgm:cxn modelId="{22DED5F5-44B5-445E-B5C3-6EED0BD39142}" type="presParOf" srcId="{1B59884A-DEFD-415A-B4C5-E1FE83EF576C}" destId="{9D2C14A3-DAD8-45B4-B46A-52A04212DF21}" srcOrd="0" destOrd="0" presId="urn:microsoft.com/office/officeart/2005/8/layout/hierarchy1"/>
    <dgm:cxn modelId="{3E21E429-0EF3-467B-8F87-8A2AF99945B7}" type="presParOf" srcId="{9D2C14A3-DAD8-45B4-B46A-52A04212DF21}" destId="{689D5D4A-D87B-4E75-96E4-D1D2FE04F47E}" srcOrd="0" destOrd="0" presId="urn:microsoft.com/office/officeart/2005/8/layout/hierarchy1"/>
    <dgm:cxn modelId="{DA49CDF8-F958-4B4C-8E8E-095FA68B8633}" type="presParOf" srcId="{9D2C14A3-DAD8-45B4-B46A-52A04212DF21}" destId="{F776E4C7-7B71-4A41-AC17-026FBC6F1338}" srcOrd="1" destOrd="0" presId="urn:microsoft.com/office/officeart/2005/8/layout/hierarchy1"/>
    <dgm:cxn modelId="{76DEC4EE-AAB4-42CB-A198-92E81503BA07}" type="presParOf" srcId="{1B59884A-DEFD-415A-B4C5-E1FE83EF576C}" destId="{676CB350-1B3F-44B2-BF58-58ADCFF37130}" srcOrd="1" destOrd="0" presId="urn:microsoft.com/office/officeart/2005/8/layout/hierarchy1"/>
    <dgm:cxn modelId="{2021404C-1B5E-48AA-BAA5-6631AAFF36FB}" type="presParOf" srcId="{1B483423-C01C-4E1C-A16E-25142C397FEF}" destId="{B66618A5-54F0-4174-8CFD-660CF7A71439}" srcOrd="2" destOrd="0" presId="urn:microsoft.com/office/officeart/2005/8/layout/hierarchy1"/>
    <dgm:cxn modelId="{3D9F368B-2753-46EE-9651-FAC2D98E7F17}" type="presParOf" srcId="{B66618A5-54F0-4174-8CFD-660CF7A71439}" destId="{27BB3130-C17C-40D7-9A1D-BD1EB8D8CC57}" srcOrd="0" destOrd="0" presId="urn:microsoft.com/office/officeart/2005/8/layout/hierarchy1"/>
    <dgm:cxn modelId="{BA4F3690-0BC0-4C86-A633-A0EC2B2199CB}" type="presParOf" srcId="{27BB3130-C17C-40D7-9A1D-BD1EB8D8CC57}" destId="{84B85C76-DACD-4971-BB1B-132D7BE323DF}" srcOrd="0" destOrd="0" presId="urn:microsoft.com/office/officeart/2005/8/layout/hierarchy1"/>
    <dgm:cxn modelId="{191021F5-1C78-47E2-982C-5A59D2705A47}" type="presParOf" srcId="{27BB3130-C17C-40D7-9A1D-BD1EB8D8CC57}" destId="{78DADB2F-E641-4924-8795-88A08A1638DE}" srcOrd="1" destOrd="0" presId="urn:microsoft.com/office/officeart/2005/8/layout/hierarchy1"/>
    <dgm:cxn modelId="{58817FBA-3C51-4B26-ABC1-7DBADF672342}" type="presParOf" srcId="{B66618A5-54F0-4174-8CFD-660CF7A71439}" destId="{8D00AD91-DB6F-4CA3-9FE7-FE92FF6F2E9C}" srcOrd="1" destOrd="0" presId="urn:microsoft.com/office/officeart/2005/8/layout/hierarchy1"/>
    <dgm:cxn modelId="{A14A6194-D80B-4190-8ED7-5CBEC1AE7380}" type="presParOf" srcId="{1B483423-C01C-4E1C-A16E-25142C397FEF}" destId="{2B841BD8-0902-48F0-88CE-33C0969F5895}" srcOrd="3" destOrd="0" presId="urn:microsoft.com/office/officeart/2005/8/layout/hierarchy1"/>
    <dgm:cxn modelId="{5042CBFB-298B-4F48-B822-B6DAD1401F1E}" type="presParOf" srcId="{2B841BD8-0902-48F0-88CE-33C0969F5895}" destId="{053AE1FD-0A8D-4FC8-ABDD-ED50EBB1C114}" srcOrd="0" destOrd="0" presId="urn:microsoft.com/office/officeart/2005/8/layout/hierarchy1"/>
    <dgm:cxn modelId="{2709383D-2C22-48FE-8D8D-E97E14A076FC}" type="presParOf" srcId="{053AE1FD-0A8D-4FC8-ABDD-ED50EBB1C114}" destId="{47857471-2C80-4EF0-BCD2-1B9B92F74982}" srcOrd="0" destOrd="0" presId="urn:microsoft.com/office/officeart/2005/8/layout/hierarchy1"/>
    <dgm:cxn modelId="{2020346C-94B9-4123-8166-83EB4DA18269}" type="presParOf" srcId="{053AE1FD-0A8D-4FC8-ABDD-ED50EBB1C114}" destId="{43BDB69C-62B4-45F0-8AB6-F1D8C565A923}" srcOrd="1" destOrd="0" presId="urn:microsoft.com/office/officeart/2005/8/layout/hierarchy1"/>
    <dgm:cxn modelId="{D40146D0-B7DF-478F-B45A-16FD79AB6E79}" type="presParOf" srcId="{2B841BD8-0902-48F0-88CE-33C0969F5895}" destId="{8C571B5E-3136-4139-B470-63B5FA1A51E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D15FFA-EB1C-48D5-9412-45AE01634F0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C30BE905-7CA7-48AB-8744-226A3CCDE4FA}">
      <dgm:prSet/>
      <dgm:spPr/>
      <dgm:t>
        <a:bodyPr/>
        <a:lstStyle/>
        <a:p>
          <a:r>
            <a:rPr kumimoji="1" lang="ja-JP" b="0" dirty="0"/>
            <a:t>代表的な金属ガラスである</a:t>
          </a:r>
          <a:r>
            <a:rPr kumimoji="1" lang="en-US" b="0" dirty="0"/>
            <a:t>Cu</a:t>
          </a:r>
          <a:r>
            <a:rPr kumimoji="1" lang="en-US" b="0" baseline="-25000" dirty="0"/>
            <a:t>64</a:t>
          </a:r>
          <a:r>
            <a:rPr kumimoji="1" lang="en-US" b="0" dirty="0"/>
            <a:t>Zr</a:t>
          </a:r>
          <a:r>
            <a:rPr kumimoji="1" lang="en-US" b="0" baseline="-25000" dirty="0"/>
            <a:t>36</a:t>
          </a:r>
          <a:r>
            <a:rPr kumimoji="1" lang="ja-JP" b="0" dirty="0"/>
            <a:t>の</a:t>
          </a:r>
          <a:br>
            <a:rPr kumimoji="1" lang="en-US" altLang="ja-JP" b="0" dirty="0"/>
          </a:br>
          <a:r>
            <a:rPr kumimoji="1" lang="ja-JP" b="0" dirty="0"/>
            <a:t>構造モデルを作成</a:t>
          </a:r>
          <a:endParaRPr lang="en-US" b="0" dirty="0"/>
        </a:p>
      </dgm:t>
    </dgm:pt>
    <dgm:pt modelId="{AF9A6027-4AB6-49A7-BE16-9E542E0B04F7}" type="parTrans" cxnId="{D9E3D01A-A379-4653-B4EC-DB9DB73F326C}">
      <dgm:prSet/>
      <dgm:spPr/>
      <dgm:t>
        <a:bodyPr/>
        <a:lstStyle/>
        <a:p>
          <a:endParaRPr lang="en-US"/>
        </a:p>
      </dgm:t>
    </dgm:pt>
    <dgm:pt modelId="{FDDF2219-2D10-41F6-8E7A-F90C1A85BBFB}" type="sibTrans" cxnId="{D9E3D01A-A379-4653-B4EC-DB9DB73F326C}">
      <dgm:prSet/>
      <dgm:spPr/>
      <dgm:t>
        <a:bodyPr/>
        <a:lstStyle/>
        <a:p>
          <a:endParaRPr lang="en-US"/>
        </a:p>
      </dgm:t>
    </dgm:pt>
    <dgm:pt modelId="{778B83B5-7654-403A-BDA0-18D3B8A29E9E}">
      <dgm:prSet/>
      <dgm:spPr/>
      <dgm:t>
        <a:bodyPr/>
        <a:lstStyle/>
        <a:p>
          <a:r>
            <a:rPr kumimoji="1" lang="ja-JP" b="0" dirty="0"/>
            <a:t>モデルについて解析</a:t>
          </a:r>
          <a:endParaRPr lang="en-US" b="0" dirty="0"/>
        </a:p>
      </dgm:t>
    </dgm:pt>
    <dgm:pt modelId="{636C9373-1CFC-4C56-9EF6-7CFDDB21D2F2}" type="parTrans" cxnId="{E28908FE-2E36-459D-996B-73CD539DAAD1}">
      <dgm:prSet/>
      <dgm:spPr/>
      <dgm:t>
        <a:bodyPr/>
        <a:lstStyle/>
        <a:p>
          <a:endParaRPr lang="en-US"/>
        </a:p>
      </dgm:t>
    </dgm:pt>
    <dgm:pt modelId="{CF8A707A-6019-430B-B3A5-3259D307A82B}" type="sibTrans" cxnId="{E28908FE-2E36-459D-996B-73CD539DAAD1}">
      <dgm:prSet/>
      <dgm:spPr/>
      <dgm:t>
        <a:bodyPr/>
        <a:lstStyle/>
        <a:p>
          <a:endParaRPr lang="en-US"/>
        </a:p>
      </dgm:t>
    </dgm:pt>
    <dgm:pt modelId="{65209B72-22BE-489F-AF19-9619B04B2202}">
      <dgm:prSet/>
      <dgm:spPr/>
      <dgm:t>
        <a:bodyPr/>
        <a:lstStyle/>
        <a:p>
          <a:r>
            <a:rPr kumimoji="1" lang="ja-JP" b="0" dirty="0"/>
            <a:t>モデルをスライスし局所電子回折計算を実施</a:t>
          </a:r>
          <a:endParaRPr lang="en-US" b="0" dirty="0"/>
        </a:p>
      </dgm:t>
    </dgm:pt>
    <dgm:pt modelId="{1DD3CFE6-C168-4D1B-9844-374F2030EDD2}" type="parTrans" cxnId="{923E9109-A796-4077-AA0A-0CA6C3DCE9E2}">
      <dgm:prSet/>
      <dgm:spPr/>
      <dgm:t>
        <a:bodyPr/>
        <a:lstStyle/>
        <a:p>
          <a:endParaRPr lang="en-US"/>
        </a:p>
      </dgm:t>
    </dgm:pt>
    <dgm:pt modelId="{2651AD36-1231-4E45-9FFA-0A7073FD816D}" type="sibTrans" cxnId="{923E9109-A796-4077-AA0A-0CA6C3DCE9E2}">
      <dgm:prSet/>
      <dgm:spPr/>
      <dgm:t>
        <a:bodyPr/>
        <a:lstStyle/>
        <a:p>
          <a:endParaRPr lang="en-US"/>
        </a:p>
      </dgm:t>
    </dgm:pt>
    <dgm:pt modelId="{FB0C2A1C-38FC-4282-9387-D5783E24AE88}">
      <dgm:prSet/>
      <dgm:spPr/>
      <dgm:t>
        <a:bodyPr/>
        <a:lstStyle/>
        <a:p>
          <a:r>
            <a:rPr kumimoji="1" lang="ja-JP" b="0" dirty="0"/>
            <a:t>特徴的な図形と構造を比較検討</a:t>
          </a:r>
          <a:endParaRPr lang="en-US" b="0" dirty="0"/>
        </a:p>
      </dgm:t>
    </dgm:pt>
    <dgm:pt modelId="{D059A687-D2C8-492B-ABAF-767F2774AA25}" type="parTrans" cxnId="{87600563-05A5-4B71-8B13-9B382B2E420E}">
      <dgm:prSet/>
      <dgm:spPr/>
      <dgm:t>
        <a:bodyPr/>
        <a:lstStyle/>
        <a:p>
          <a:endParaRPr lang="en-US"/>
        </a:p>
      </dgm:t>
    </dgm:pt>
    <dgm:pt modelId="{7C58E0F3-6FBA-45A4-B1F6-78E404CEC46C}" type="sibTrans" cxnId="{87600563-05A5-4B71-8B13-9B382B2E420E}">
      <dgm:prSet/>
      <dgm:spPr/>
      <dgm:t>
        <a:bodyPr/>
        <a:lstStyle/>
        <a:p>
          <a:endParaRPr lang="en-US"/>
        </a:p>
      </dgm:t>
    </dgm:pt>
    <dgm:pt modelId="{1B483423-C01C-4E1C-A16E-25142C397FEF}" type="pres">
      <dgm:prSet presAssocID="{A9D15FFA-EB1C-48D5-9412-45AE01634F03}" presName="hierChild1" presStyleCnt="0">
        <dgm:presLayoutVars>
          <dgm:chPref val="1"/>
          <dgm:dir/>
          <dgm:animOne val="branch"/>
          <dgm:animLvl val="lvl"/>
          <dgm:resizeHandles/>
        </dgm:presLayoutVars>
      </dgm:prSet>
      <dgm:spPr/>
    </dgm:pt>
    <dgm:pt modelId="{995B2B00-02A2-417A-B523-D0BC57935402}" type="pres">
      <dgm:prSet presAssocID="{C30BE905-7CA7-48AB-8744-226A3CCDE4FA}" presName="hierRoot1" presStyleCnt="0"/>
      <dgm:spPr/>
    </dgm:pt>
    <dgm:pt modelId="{80DC9CF5-8021-441E-84E6-E2E15C6C80E5}" type="pres">
      <dgm:prSet presAssocID="{C30BE905-7CA7-48AB-8744-226A3CCDE4FA}" presName="composite" presStyleCnt="0"/>
      <dgm:spPr/>
    </dgm:pt>
    <dgm:pt modelId="{0CC9A470-6EBC-4711-BD50-87E6E9FCC8BE}" type="pres">
      <dgm:prSet presAssocID="{C30BE905-7CA7-48AB-8744-226A3CCDE4FA}" presName="background" presStyleLbl="node0" presStyleIdx="0" presStyleCnt="4"/>
      <dgm:spPr/>
    </dgm:pt>
    <dgm:pt modelId="{E9789E97-6E17-4022-9EE7-2F7AE0CF5FC6}" type="pres">
      <dgm:prSet presAssocID="{C30BE905-7CA7-48AB-8744-226A3CCDE4FA}" presName="text" presStyleLbl="fgAcc0" presStyleIdx="0" presStyleCnt="4">
        <dgm:presLayoutVars>
          <dgm:chPref val="3"/>
        </dgm:presLayoutVars>
      </dgm:prSet>
      <dgm:spPr/>
    </dgm:pt>
    <dgm:pt modelId="{1D0C09F5-5F7E-49BB-B0B6-1303FE8DE535}" type="pres">
      <dgm:prSet presAssocID="{C30BE905-7CA7-48AB-8744-226A3CCDE4FA}" presName="hierChild2" presStyleCnt="0"/>
      <dgm:spPr/>
    </dgm:pt>
    <dgm:pt modelId="{1B59884A-DEFD-415A-B4C5-E1FE83EF576C}" type="pres">
      <dgm:prSet presAssocID="{778B83B5-7654-403A-BDA0-18D3B8A29E9E}" presName="hierRoot1" presStyleCnt="0"/>
      <dgm:spPr/>
    </dgm:pt>
    <dgm:pt modelId="{9D2C14A3-DAD8-45B4-B46A-52A04212DF21}" type="pres">
      <dgm:prSet presAssocID="{778B83B5-7654-403A-BDA0-18D3B8A29E9E}" presName="composite" presStyleCnt="0"/>
      <dgm:spPr/>
    </dgm:pt>
    <dgm:pt modelId="{689D5D4A-D87B-4E75-96E4-D1D2FE04F47E}" type="pres">
      <dgm:prSet presAssocID="{778B83B5-7654-403A-BDA0-18D3B8A29E9E}" presName="background" presStyleLbl="node0" presStyleIdx="1" presStyleCnt="4"/>
      <dgm:spPr/>
    </dgm:pt>
    <dgm:pt modelId="{F776E4C7-7B71-4A41-AC17-026FBC6F1338}" type="pres">
      <dgm:prSet presAssocID="{778B83B5-7654-403A-BDA0-18D3B8A29E9E}" presName="text" presStyleLbl="fgAcc0" presStyleIdx="1" presStyleCnt="4">
        <dgm:presLayoutVars>
          <dgm:chPref val="3"/>
        </dgm:presLayoutVars>
      </dgm:prSet>
      <dgm:spPr/>
    </dgm:pt>
    <dgm:pt modelId="{676CB350-1B3F-44B2-BF58-58ADCFF37130}" type="pres">
      <dgm:prSet presAssocID="{778B83B5-7654-403A-BDA0-18D3B8A29E9E}" presName="hierChild2" presStyleCnt="0"/>
      <dgm:spPr/>
    </dgm:pt>
    <dgm:pt modelId="{B66618A5-54F0-4174-8CFD-660CF7A71439}" type="pres">
      <dgm:prSet presAssocID="{65209B72-22BE-489F-AF19-9619B04B2202}" presName="hierRoot1" presStyleCnt="0"/>
      <dgm:spPr/>
    </dgm:pt>
    <dgm:pt modelId="{27BB3130-C17C-40D7-9A1D-BD1EB8D8CC57}" type="pres">
      <dgm:prSet presAssocID="{65209B72-22BE-489F-AF19-9619B04B2202}" presName="composite" presStyleCnt="0"/>
      <dgm:spPr/>
    </dgm:pt>
    <dgm:pt modelId="{84B85C76-DACD-4971-BB1B-132D7BE323DF}" type="pres">
      <dgm:prSet presAssocID="{65209B72-22BE-489F-AF19-9619B04B2202}" presName="background" presStyleLbl="node0" presStyleIdx="2" presStyleCnt="4"/>
      <dgm:spPr/>
    </dgm:pt>
    <dgm:pt modelId="{78DADB2F-E641-4924-8795-88A08A1638DE}" type="pres">
      <dgm:prSet presAssocID="{65209B72-22BE-489F-AF19-9619B04B2202}" presName="text" presStyleLbl="fgAcc0" presStyleIdx="2" presStyleCnt="4">
        <dgm:presLayoutVars>
          <dgm:chPref val="3"/>
        </dgm:presLayoutVars>
      </dgm:prSet>
      <dgm:spPr/>
    </dgm:pt>
    <dgm:pt modelId="{8D00AD91-DB6F-4CA3-9FE7-FE92FF6F2E9C}" type="pres">
      <dgm:prSet presAssocID="{65209B72-22BE-489F-AF19-9619B04B2202}" presName="hierChild2" presStyleCnt="0"/>
      <dgm:spPr/>
    </dgm:pt>
    <dgm:pt modelId="{2B841BD8-0902-48F0-88CE-33C0969F5895}" type="pres">
      <dgm:prSet presAssocID="{FB0C2A1C-38FC-4282-9387-D5783E24AE88}" presName="hierRoot1" presStyleCnt="0"/>
      <dgm:spPr/>
    </dgm:pt>
    <dgm:pt modelId="{053AE1FD-0A8D-4FC8-ABDD-ED50EBB1C114}" type="pres">
      <dgm:prSet presAssocID="{FB0C2A1C-38FC-4282-9387-D5783E24AE88}" presName="composite" presStyleCnt="0"/>
      <dgm:spPr/>
    </dgm:pt>
    <dgm:pt modelId="{47857471-2C80-4EF0-BCD2-1B9B92F74982}" type="pres">
      <dgm:prSet presAssocID="{FB0C2A1C-38FC-4282-9387-D5783E24AE88}" presName="background" presStyleLbl="node0" presStyleIdx="3" presStyleCnt="4"/>
      <dgm:spPr/>
    </dgm:pt>
    <dgm:pt modelId="{43BDB69C-62B4-45F0-8AB6-F1D8C565A923}" type="pres">
      <dgm:prSet presAssocID="{FB0C2A1C-38FC-4282-9387-D5783E24AE88}" presName="text" presStyleLbl="fgAcc0" presStyleIdx="3" presStyleCnt="4">
        <dgm:presLayoutVars>
          <dgm:chPref val="3"/>
        </dgm:presLayoutVars>
      </dgm:prSet>
      <dgm:spPr/>
    </dgm:pt>
    <dgm:pt modelId="{8C571B5E-3136-4139-B470-63B5FA1A51EA}" type="pres">
      <dgm:prSet presAssocID="{FB0C2A1C-38FC-4282-9387-D5783E24AE88}" presName="hierChild2" presStyleCnt="0"/>
      <dgm:spPr/>
    </dgm:pt>
  </dgm:ptLst>
  <dgm:cxnLst>
    <dgm:cxn modelId="{923E9109-A796-4077-AA0A-0CA6C3DCE9E2}" srcId="{A9D15FFA-EB1C-48D5-9412-45AE01634F03}" destId="{65209B72-22BE-489F-AF19-9619B04B2202}" srcOrd="2" destOrd="0" parTransId="{1DD3CFE6-C168-4D1B-9844-374F2030EDD2}" sibTransId="{2651AD36-1231-4E45-9FFA-0A7073FD816D}"/>
    <dgm:cxn modelId="{D9E3D01A-A379-4653-B4EC-DB9DB73F326C}" srcId="{A9D15FFA-EB1C-48D5-9412-45AE01634F03}" destId="{C30BE905-7CA7-48AB-8744-226A3CCDE4FA}" srcOrd="0" destOrd="0" parTransId="{AF9A6027-4AB6-49A7-BE16-9E542E0B04F7}" sibTransId="{FDDF2219-2D10-41F6-8E7A-F90C1A85BBFB}"/>
    <dgm:cxn modelId="{87600563-05A5-4B71-8B13-9B382B2E420E}" srcId="{A9D15FFA-EB1C-48D5-9412-45AE01634F03}" destId="{FB0C2A1C-38FC-4282-9387-D5783E24AE88}" srcOrd="3" destOrd="0" parTransId="{D059A687-D2C8-492B-ABAF-767F2774AA25}" sibTransId="{7C58E0F3-6FBA-45A4-B1F6-78E404CEC46C}"/>
    <dgm:cxn modelId="{F7F10381-DB48-47C6-8040-3277B3942A4A}" type="presOf" srcId="{A9D15FFA-EB1C-48D5-9412-45AE01634F03}" destId="{1B483423-C01C-4E1C-A16E-25142C397FEF}" srcOrd="0" destOrd="0" presId="urn:microsoft.com/office/officeart/2005/8/layout/hierarchy1"/>
    <dgm:cxn modelId="{360C079C-0528-4C28-B883-F5395BA1DED2}" type="presOf" srcId="{778B83B5-7654-403A-BDA0-18D3B8A29E9E}" destId="{F776E4C7-7B71-4A41-AC17-026FBC6F1338}" srcOrd="0" destOrd="0" presId="urn:microsoft.com/office/officeart/2005/8/layout/hierarchy1"/>
    <dgm:cxn modelId="{F05706A8-0D92-45C3-A4D4-B46CF2A899BF}" type="presOf" srcId="{65209B72-22BE-489F-AF19-9619B04B2202}" destId="{78DADB2F-E641-4924-8795-88A08A1638DE}" srcOrd="0" destOrd="0" presId="urn:microsoft.com/office/officeart/2005/8/layout/hierarchy1"/>
    <dgm:cxn modelId="{EC3D71B4-DEE6-457E-9CC3-DD42C029767A}" type="presOf" srcId="{C30BE905-7CA7-48AB-8744-226A3CCDE4FA}" destId="{E9789E97-6E17-4022-9EE7-2F7AE0CF5FC6}" srcOrd="0" destOrd="0" presId="urn:microsoft.com/office/officeart/2005/8/layout/hierarchy1"/>
    <dgm:cxn modelId="{FEC57EF3-9F50-40E3-89E7-68A0C3F5AE21}" type="presOf" srcId="{FB0C2A1C-38FC-4282-9387-D5783E24AE88}" destId="{43BDB69C-62B4-45F0-8AB6-F1D8C565A923}" srcOrd="0" destOrd="0" presId="urn:microsoft.com/office/officeart/2005/8/layout/hierarchy1"/>
    <dgm:cxn modelId="{E28908FE-2E36-459D-996B-73CD539DAAD1}" srcId="{A9D15FFA-EB1C-48D5-9412-45AE01634F03}" destId="{778B83B5-7654-403A-BDA0-18D3B8A29E9E}" srcOrd="1" destOrd="0" parTransId="{636C9373-1CFC-4C56-9EF6-7CFDDB21D2F2}" sibTransId="{CF8A707A-6019-430B-B3A5-3259D307A82B}"/>
    <dgm:cxn modelId="{A4563665-0EEF-47FA-822B-4DF543E7C3BF}" type="presParOf" srcId="{1B483423-C01C-4E1C-A16E-25142C397FEF}" destId="{995B2B00-02A2-417A-B523-D0BC57935402}" srcOrd="0" destOrd="0" presId="urn:microsoft.com/office/officeart/2005/8/layout/hierarchy1"/>
    <dgm:cxn modelId="{D38F6FAC-3D97-47CF-9FFE-2B712957A51A}" type="presParOf" srcId="{995B2B00-02A2-417A-B523-D0BC57935402}" destId="{80DC9CF5-8021-441E-84E6-E2E15C6C80E5}" srcOrd="0" destOrd="0" presId="urn:microsoft.com/office/officeart/2005/8/layout/hierarchy1"/>
    <dgm:cxn modelId="{376725DF-D460-42EF-9618-946DBCCE81F4}" type="presParOf" srcId="{80DC9CF5-8021-441E-84E6-E2E15C6C80E5}" destId="{0CC9A470-6EBC-4711-BD50-87E6E9FCC8BE}" srcOrd="0" destOrd="0" presId="urn:microsoft.com/office/officeart/2005/8/layout/hierarchy1"/>
    <dgm:cxn modelId="{6E3628A3-52AF-417B-B192-7C94F2C32688}" type="presParOf" srcId="{80DC9CF5-8021-441E-84E6-E2E15C6C80E5}" destId="{E9789E97-6E17-4022-9EE7-2F7AE0CF5FC6}" srcOrd="1" destOrd="0" presId="urn:microsoft.com/office/officeart/2005/8/layout/hierarchy1"/>
    <dgm:cxn modelId="{644C761C-69A7-4B1C-B221-B31ECE1C99CB}" type="presParOf" srcId="{995B2B00-02A2-417A-B523-D0BC57935402}" destId="{1D0C09F5-5F7E-49BB-B0B6-1303FE8DE535}" srcOrd="1" destOrd="0" presId="urn:microsoft.com/office/officeart/2005/8/layout/hierarchy1"/>
    <dgm:cxn modelId="{0AC42ADE-701E-49C0-BA2B-6B0A6C447166}" type="presParOf" srcId="{1B483423-C01C-4E1C-A16E-25142C397FEF}" destId="{1B59884A-DEFD-415A-B4C5-E1FE83EF576C}" srcOrd="1" destOrd="0" presId="urn:microsoft.com/office/officeart/2005/8/layout/hierarchy1"/>
    <dgm:cxn modelId="{22DED5F5-44B5-445E-B5C3-6EED0BD39142}" type="presParOf" srcId="{1B59884A-DEFD-415A-B4C5-E1FE83EF576C}" destId="{9D2C14A3-DAD8-45B4-B46A-52A04212DF21}" srcOrd="0" destOrd="0" presId="urn:microsoft.com/office/officeart/2005/8/layout/hierarchy1"/>
    <dgm:cxn modelId="{3E21E429-0EF3-467B-8F87-8A2AF99945B7}" type="presParOf" srcId="{9D2C14A3-DAD8-45B4-B46A-52A04212DF21}" destId="{689D5D4A-D87B-4E75-96E4-D1D2FE04F47E}" srcOrd="0" destOrd="0" presId="urn:microsoft.com/office/officeart/2005/8/layout/hierarchy1"/>
    <dgm:cxn modelId="{DA49CDF8-F958-4B4C-8E8E-095FA68B8633}" type="presParOf" srcId="{9D2C14A3-DAD8-45B4-B46A-52A04212DF21}" destId="{F776E4C7-7B71-4A41-AC17-026FBC6F1338}" srcOrd="1" destOrd="0" presId="urn:microsoft.com/office/officeart/2005/8/layout/hierarchy1"/>
    <dgm:cxn modelId="{76DEC4EE-AAB4-42CB-A198-92E81503BA07}" type="presParOf" srcId="{1B59884A-DEFD-415A-B4C5-E1FE83EF576C}" destId="{676CB350-1B3F-44B2-BF58-58ADCFF37130}" srcOrd="1" destOrd="0" presId="urn:microsoft.com/office/officeart/2005/8/layout/hierarchy1"/>
    <dgm:cxn modelId="{2021404C-1B5E-48AA-BAA5-6631AAFF36FB}" type="presParOf" srcId="{1B483423-C01C-4E1C-A16E-25142C397FEF}" destId="{B66618A5-54F0-4174-8CFD-660CF7A71439}" srcOrd="2" destOrd="0" presId="urn:microsoft.com/office/officeart/2005/8/layout/hierarchy1"/>
    <dgm:cxn modelId="{3D9F368B-2753-46EE-9651-FAC2D98E7F17}" type="presParOf" srcId="{B66618A5-54F0-4174-8CFD-660CF7A71439}" destId="{27BB3130-C17C-40D7-9A1D-BD1EB8D8CC57}" srcOrd="0" destOrd="0" presId="urn:microsoft.com/office/officeart/2005/8/layout/hierarchy1"/>
    <dgm:cxn modelId="{BA4F3690-0BC0-4C86-A633-A0EC2B2199CB}" type="presParOf" srcId="{27BB3130-C17C-40D7-9A1D-BD1EB8D8CC57}" destId="{84B85C76-DACD-4971-BB1B-132D7BE323DF}" srcOrd="0" destOrd="0" presId="urn:microsoft.com/office/officeart/2005/8/layout/hierarchy1"/>
    <dgm:cxn modelId="{191021F5-1C78-47E2-982C-5A59D2705A47}" type="presParOf" srcId="{27BB3130-C17C-40D7-9A1D-BD1EB8D8CC57}" destId="{78DADB2F-E641-4924-8795-88A08A1638DE}" srcOrd="1" destOrd="0" presId="urn:microsoft.com/office/officeart/2005/8/layout/hierarchy1"/>
    <dgm:cxn modelId="{58817FBA-3C51-4B26-ABC1-7DBADF672342}" type="presParOf" srcId="{B66618A5-54F0-4174-8CFD-660CF7A71439}" destId="{8D00AD91-DB6F-4CA3-9FE7-FE92FF6F2E9C}" srcOrd="1" destOrd="0" presId="urn:microsoft.com/office/officeart/2005/8/layout/hierarchy1"/>
    <dgm:cxn modelId="{A14A6194-D80B-4190-8ED7-5CBEC1AE7380}" type="presParOf" srcId="{1B483423-C01C-4E1C-A16E-25142C397FEF}" destId="{2B841BD8-0902-48F0-88CE-33C0969F5895}" srcOrd="3" destOrd="0" presId="urn:microsoft.com/office/officeart/2005/8/layout/hierarchy1"/>
    <dgm:cxn modelId="{5042CBFB-298B-4F48-B822-B6DAD1401F1E}" type="presParOf" srcId="{2B841BD8-0902-48F0-88CE-33C0969F5895}" destId="{053AE1FD-0A8D-4FC8-ABDD-ED50EBB1C114}" srcOrd="0" destOrd="0" presId="urn:microsoft.com/office/officeart/2005/8/layout/hierarchy1"/>
    <dgm:cxn modelId="{2709383D-2C22-48FE-8D8D-E97E14A076FC}" type="presParOf" srcId="{053AE1FD-0A8D-4FC8-ABDD-ED50EBB1C114}" destId="{47857471-2C80-4EF0-BCD2-1B9B92F74982}" srcOrd="0" destOrd="0" presId="urn:microsoft.com/office/officeart/2005/8/layout/hierarchy1"/>
    <dgm:cxn modelId="{2020346C-94B9-4123-8166-83EB4DA18269}" type="presParOf" srcId="{053AE1FD-0A8D-4FC8-ABDD-ED50EBB1C114}" destId="{43BDB69C-62B4-45F0-8AB6-F1D8C565A923}" srcOrd="1" destOrd="0" presId="urn:microsoft.com/office/officeart/2005/8/layout/hierarchy1"/>
    <dgm:cxn modelId="{D40146D0-B7DF-478F-B45A-16FD79AB6E79}" type="presParOf" srcId="{2B841BD8-0902-48F0-88CE-33C0969F5895}" destId="{8C571B5E-3136-4139-B470-63B5FA1A51EA}"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C9A470-6EBC-4711-BD50-87E6E9FCC8BE}">
      <dsp:nvSpPr>
        <dsp:cNvPr id="0" name=""/>
        <dsp:cNvSpPr/>
      </dsp:nvSpPr>
      <dsp:spPr>
        <a:xfrm>
          <a:off x="3201"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789E97-6E17-4022-9EE7-2F7AE0CF5FC6}">
      <dsp:nvSpPr>
        <dsp:cNvPr id="0" name=""/>
        <dsp:cNvSpPr/>
      </dsp:nvSpPr>
      <dsp:spPr>
        <a:xfrm>
          <a:off x="257188"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sz="1800" b="0" kern="1200" dirty="0"/>
            <a:t>代表的な金属ガラスである</a:t>
          </a:r>
          <a:r>
            <a:rPr kumimoji="1" lang="en-US" sz="1800" b="0" kern="1200" dirty="0"/>
            <a:t>Cu</a:t>
          </a:r>
          <a:r>
            <a:rPr kumimoji="1" lang="en-US" sz="1800" b="0" kern="1200" baseline="-25000" dirty="0"/>
            <a:t>64</a:t>
          </a:r>
          <a:r>
            <a:rPr kumimoji="1" lang="en-US" sz="1800" b="0" kern="1200" dirty="0"/>
            <a:t>Zr</a:t>
          </a:r>
          <a:r>
            <a:rPr kumimoji="1" lang="en-US" sz="1800" b="0" kern="1200" baseline="-25000" dirty="0"/>
            <a:t>36</a:t>
          </a:r>
          <a:r>
            <a:rPr kumimoji="1" lang="ja-JP" sz="1800" b="0" kern="1200" dirty="0"/>
            <a:t>の</a:t>
          </a:r>
          <a:br>
            <a:rPr kumimoji="1" lang="en-US" altLang="ja-JP" sz="1800" b="0" kern="1200" dirty="0"/>
          </a:br>
          <a:r>
            <a:rPr kumimoji="1" lang="ja-JP" sz="1800" b="0" kern="1200" dirty="0"/>
            <a:t>構造モデルを作成</a:t>
          </a:r>
          <a:endParaRPr lang="en-US" sz="1800" b="0" kern="1200" dirty="0"/>
        </a:p>
      </dsp:txBody>
      <dsp:txXfrm>
        <a:off x="299702" y="1282093"/>
        <a:ext cx="2200851" cy="1366505"/>
      </dsp:txXfrm>
    </dsp:sp>
    <dsp:sp modelId="{689D5D4A-D87B-4E75-96E4-D1D2FE04F47E}">
      <dsp:nvSpPr>
        <dsp:cNvPr id="0" name=""/>
        <dsp:cNvSpPr/>
      </dsp:nvSpPr>
      <dsp:spPr>
        <a:xfrm>
          <a:off x="2797054"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76E4C7-7B71-4A41-AC17-026FBC6F1338}">
      <dsp:nvSpPr>
        <dsp:cNvPr id="0" name=""/>
        <dsp:cNvSpPr/>
      </dsp:nvSpPr>
      <dsp:spPr>
        <a:xfrm>
          <a:off x="3051041"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sz="1800" b="0" kern="1200" dirty="0"/>
            <a:t>モデルについて解析</a:t>
          </a:r>
          <a:endParaRPr lang="en-US" sz="1800" b="0" kern="1200" dirty="0"/>
        </a:p>
      </dsp:txBody>
      <dsp:txXfrm>
        <a:off x="3093555" y="1282093"/>
        <a:ext cx="2200851" cy="1366505"/>
      </dsp:txXfrm>
    </dsp:sp>
    <dsp:sp modelId="{84B85C76-DACD-4971-BB1B-132D7BE323DF}">
      <dsp:nvSpPr>
        <dsp:cNvPr id="0" name=""/>
        <dsp:cNvSpPr/>
      </dsp:nvSpPr>
      <dsp:spPr>
        <a:xfrm>
          <a:off x="5590907"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DADB2F-E641-4924-8795-88A08A1638DE}">
      <dsp:nvSpPr>
        <dsp:cNvPr id="0" name=""/>
        <dsp:cNvSpPr/>
      </dsp:nvSpPr>
      <dsp:spPr>
        <a:xfrm>
          <a:off x="5844894"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sz="1800" b="0" kern="1200" dirty="0"/>
            <a:t>モデルをスライスし局所電子回折計算を実施</a:t>
          </a:r>
          <a:endParaRPr lang="en-US" sz="1800" b="0" kern="1200" dirty="0"/>
        </a:p>
      </dsp:txBody>
      <dsp:txXfrm>
        <a:off x="5887408" y="1282093"/>
        <a:ext cx="2200851" cy="1366505"/>
      </dsp:txXfrm>
    </dsp:sp>
    <dsp:sp modelId="{47857471-2C80-4EF0-BCD2-1B9B92F74982}">
      <dsp:nvSpPr>
        <dsp:cNvPr id="0" name=""/>
        <dsp:cNvSpPr/>
      </dsp:nvSpPr>
      <dsp:spPr>
        <a:xfrm>
          <a:off x="8384760"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DB69C-62B4-45F0-8AB6-F1D8C565A923}">
      <dsp:nvSpPr>
        <dsp:cNvPr id="0" name=""/>
        <dsp:cNvSpPr/>
      </dsp:nvSpPr>
      <dsp:spPr>
        <a:xfrm>
          <a:off x="8638747"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sz="1800" b="0" kern="1200" dirty="0"/>
            <a:t>特徴的な図形と構造を比較検討</a:t>
          </a:r>
          <a:endParaRPr lang="en-US" sz="1800" b="0" kern="1200" dirty="0"/>
        </a:p>
      </dsp:txBody>
      <dsp:txXfrm>
        <a:off x="8681261" y="1282093"/>
        <a:ext cx="2200851" cy="13665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C9A470-6EBC-4711-BD50-87E6E9FCC8BE}">
      <dsp:nvSpPr>
        <dsp:cNvPr id="0" name=""/>
        <dsp:cNvSpPr/>
      </dsp:nvSpPr>
      <dsp:spPr>
        <a:xfrm>
          <a:off x="1246" y="388757"/>
          <a:ext cx="890174" cy="5652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789E97-6E17-4022-9EE7-2F7AE0CF5FC6}">
      <dsp:nvSpPr>
        <dsp:cNvPr id="0" name=""/>
        <dsp:cNvSpPr/>
      </dsp:nvSpPr>
      <dsp:spPr>
        <a:xfrm>
          <a:off x="100155" y="482720"/>
          <a:ext cx="890174" cy="5652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kumimoji="1" lang="ja-JP" sz="700" b="0" kern="1200" dirty="0"/>
            <a:t>代表的な金属ガラスである</a:t>
          </a:r>
          <a:r>
            <a:rPr kumimoji="1" lang="en-US" sz="700" b="0" kern="1200" dirty="0"/>
            <a:t>Cu</a:t>
          </a:r>
          <a:r>
            <a:rPr kumimoji="1" lang="en-US" sz="700" b="0" kern="1200" baseline="-25000" dirty="0"/>
            <a:t>64</a:t>
          </a:r>
          <a:r>
            <a:rPr kumimoji="1" lang="en-US" sz="700" b="0" kern="1200" dirty="0"/>
            <a:t>Zr</a:t>
          </a:r>
          <a:r>
            <a:rPr kumimoji="1" lang="en-US" sz="700" b="0" kern="1200" baseline="-25000" dirty="0"/>
            <a:t>36</a:t>
          </a:r>
          <a:r>
            <a:rPr kumimoji="1" lang="ja-JP" sz="700" b="0" kern="1200" dirty="0"/>
            <a:t>の</a:t>
          </a:r>
          <a:br>
            <a:rPr kumimoji="1" lang="en-US" altLang="ja-JP" sz="700" b="0" kern="1200" dirty="0"/>
          </a:br>
          <a:r>
            <a:rPr kumimoji="1" lang="ja-JP" sz="700" b="0" kern="1200" dirty="0"/>
            <a:t>構造モデルを作成</a:t>
          </a:r>
          <a:endParaRPr lang="en-US" sz="700" b="0" kern="1200" dirty="0"/>
        </a:p>
      </dsp:txBody>
      <dsp:txXfrm>
        <a:off x="116711" y="499276"/>
        <a:ext cx="857062" cy="532148"/>
      </dsp:txXfrm>
    </dsp:sp>
    <dsp:sp modelId="{689D5D4A-D87B-4E75-96E4-D1D2FE04F47E}">
      <dsp:nvSpPr>
        <dsp:cNvPr id="0" name=""/>
        <dsp:cNvSpPr/>
      </dsp:nvSpPr>
      <dsp:spPr>
        <a:xfrm>
          <a:off x="1089237" y="388757"/>
          <a:ext cx="890174" cy="5652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76E4C7-7B71-4A41-AC17-026FBC6F1338}">
      <dsp:nvSpPr>
        <dsp:cNvPr id="0" name=""/>
        <dsp:cNvSpPr/>
      </dsp:nvSpPr>
      <dsp:spPr>
        <a:xfrm>
          <a:off x="1188145" y="482720"/>
          <a:ext cx="890174" cy="5652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kumimoji="1" lang="ja-JP" sz="700" b="0" kern="1200" dirty="0"/>
            <a:t>モデルについて解析</a:t>
          </a:r>
          <a:endParaRPr lang="en-US" sz="700" b="0" kern="1200" dirty="0"/>
        </a:p>
      </dsp:txBody>
      <dsp:txXfrm>
        <a:off x="1204701" y="499276"/>
        <a:ext cx="857062" cy="532148"/>
      </dsp:txXfrm>
    </dsp:sp>
    <dsp:sp modelId="{84B85C76-DACD-4971-BB1B-132D7BE323DF}">
      <dsp:nvSpPr>
        <dsp:cNvPr id="0" name=""/>
        <dsp:cNvSpPr/>
      </dsp:nvSpPr>
      <dsp:spPr>
        <a:xfrm>
          <a:off x="2177228" y="388757"/>
          <a:ext cx="890174" cy="5652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DADB2F-E641-4924-8795-88A08A1638DE}">
      <dsp:nvSpPr>
        <dsp:cNvPr id="0" name=""/>
        <dsp:cNvSpPr/>
      </dsp:nvSpPr>
      <dsp:spPr>
        <a:xfrm>
          <a:off x="2276136" y="482720"/>
          <a:ext cx="890174" cy="5652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kumimoji="1" lang="ja-JP" sz="700" b="0" kern="1200" dirty="0"/>
            <a:t>モデルをスライスし局所電子回折計算を実施</a:t>
          </a:r>
          <a:endParaRPr lang="en-US" sz="700" b="0" kern="1200" dirty="0"/>
        </a:p>
      </dsp:txBody>
      <dsp:txXfrm>
        <a:off x="2292692" y="499276"/>
        <a:ext cx="857062" cy="532148"/>
      </dsp:txXfrm>
    </dsp:sp>
    <dsp:sp modelId="{47857471-2C80-4EF0-BCD2-1B9B92F74982}">
      <dsp:nvSpPr>
        <dsp:cNvPr id="0" name=""/>
        <dsp:cNvSpPr/>
      </dsp:nvSpPr>
      <dsp:spPr>
        <a:xfrm>
          <a:off x="3265219" y="388757"/>
          <a:ext cx="890174" cy="5652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DB69C-62B4-45F0-8AB6-F1D8C565A923}">
      <dsp:nvSpPr>
        <dsp:cNvPr id="0" name=""/>
        <dsp:cNvSpPr/>
      </dsp:nvSpPr>
      <dsp:spPr>
        <a:xfrm>
          <a:off x="3364127" y="482720"/>
          <a:ext cx="890174" cy="5652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kumimoji="1" lang="ja-JP" sz="700" b="0" kern="1200" dirty="0"/>
            <a:t>特徴的な図形と構造を比較検討</a:t>
          </a:r>
          <a:endParaRPr lang="en-US" sz="700" b="0" kern="1200" dirty="0"/>
        </a:p>
      </dsp:txBody>
      <dsp:txXfrm>
        <a:off x="3380683" y="499276"/>
        <a:ext cx="857062" cy="53214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88AA5FF-0EE8-491A-9BF5-CCD9B0178D50}" type="datetimeFigureOut">
              <a:rPr kumimoji="1" lang="ja-JP" altLang="en-US" smtClean="0"/>
              <a:t>2025/6/24</a:t>
            </a:fld>
            <a:endParaRPr kumimoji="1" lang="ja-JP" altLang="en-US"/>
          </a:p>
        </p:txBody>
      </p:sp>
      <p:sp>
        <p:nvSpPr>
          <p:cNvPr id="4" name="スライド イメージ プレースホルダー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E8B1D1B2-477E-4304-BB02-D341E6CE33ED}" type="slidenum">
              <a:rPr kumimoji="1" lang="ja-JP" altLang="en-US" smtClean="0"/>
              <a:t>‹#›</a:t>
            </a:fld>
            <a:endParaRPr kumimoji="1" lang="ja-JP" altLang="en-US"/>
          </a:p>
        </p:txBody>
      </p:sp>
    </p:spTree>
    <p:extLst>
      <p:ext uri="{BB962C8B-B14F-4D97-AF65-F5344CB8AC3E}">
        <p14:creationId xmlns:p14="http://schemas.microsoft.com/office/powerpoint/2010/main" val="34702907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8E1C0-4658-7635-169D-DE9328492B0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71D413-DC87-EB63-4AAE-13842EAB47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558058-8F49-F16B-61AB-79F99A028E8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C5F15F4-2031-D9AC-88D6-F0C020BFF659}"/>
              </a:ext>
            </a:extLst>
          </p:cNvPr>
          <p:cNvSpPr>
            <a:spLocks noGrp="1"/>
          </p:cNvSpPr>
          <p:nvPr>
            <p:ph type="sldNum" sz="quarter" idx="5"/>
          </p:nvPr>
        </p:nvSpPr>
        <p:spPr/>
        <p:txBody>
          <a:bodyPr/>
          <a:lstStyle/>
          <a:p>
            <a:fld id="{E8B1D1B2-477E-4304-BB02-D341E6CE33ED}" type="slidenum">
              <a:rPr kumimoji="1" lang="ja-JP" altLang="en-US" smtClean="0"/>
              <a:t>2</a:t>
            </a:fld>
            <a:endParaRPr kumimoji="1" lang="ja-JP" altLang="en-US"/>
          </a:p>
        </p:txBody>
      </p:sp>
    </p:spTree>
    <p:extLst>
      <p:ext uri="{BB962C8B-B14F-4D97-AF65-F5344CB8AC3E}">
        <p14:creationId xmlns:p14="http://schemas.microsoft.com/office/powerpoint/2010/main" val="2105260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751B6-928C-3AD4-7865-E3DFA0B6008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44CB73-02C4-247A-FC73-0551D6E2B6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03508D9-3C4D-8E2D-A28A-7BB6B6FB1E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8A6CE0E-448E-3CBF-513E-44B7057B90CA}"/>
              </a:ext>
            </a:extLst>
          </p:cNvPr>
          <p:cNvSpPr>
            <a:spLocks noGrp="1"/>
          </p:cNvSpPr>
          <p:nvPr>
            <p:ph type="sldNum" sz="quarter" idx="5"/>
          </p:nvPr>
        </p:nvSpPr>
        <p:spPr/>
        <p:txBody>
          <a:bodyPr/>
          <a:lstStyle/>
          <a:p>
            <a:fld id="{E8B1D1B2-477E-4304-BB02-D341E6CE33ED}" type="slidenum">
              <a:rPr kumimoji="1" lang="ja-JP" altLang="en-US" smtClean="0"/>
              <a:t>4</a:t>
            </a:fld>
            <a:endParaRPr kumimoji="1" lang="ja-JP" altLang="en-US"/>
          </a:p>
        </p:txBody>
      </p:sp>
    </p:spTree>
    <p:extLst>
      <p:ext uri="{BB962C8B-B14F-4D97-AF65-F5344CB8AC3E}">
        <p14:creationId xmlns:p14="http://schemas.microsoft.com/office/powerpoint/2010/main" val="757445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397C5-36E0-CF86-0635-F39A9C1129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500793-A87A-D1F1-472E-1B488FA10B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5284EAE-6DA8-DFD2-D7EB-3B5C55C8FCD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0133BFD-0E46-1093-C1C5-8FD25D06B954}"/>
              </a:ext>
            </a:extLst>
          </p:cNvPr>
          <p:cNvSpPr>
            <a:spLocks noGrp="1"/>
          </p:cNvSpPr>
          <p:nvPr>
            <p:ph type="sldNum" sz="quarter" idx="5"/>
          </p:nvPr>
        </p:nvSpPr>
        <p:spPr/>
        <p:txBody>
          <a:bodyPr/>
          <a:lstStyle/>
          <a:p>
            <a:fld id="{E8B1D1B2-477E-4304-BB02-D341E6CE33ED}" type="slidenum">
              <a:rPr kumimoji="1" lang="ja-JP" altLang="en-US" smtClean="0"/>
              <a:t>6</a:t>
            </a:fld>
            <a:endParaRPr kumimoji="1" lang="ja-JP" altLang="en-US"/>
          </a:p>
        </p:txBody>
      </p:sp>
    </p:spTree>
    <p:extLst>
      <p:ext uri="{BB962C8B-B14F-4D97-AF65-F5344CB8AC3E}">
        <p14:creationId xmlns:p14="http://schemas.microsoft.com/office/powerpoint/2010/main" val="1130869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96909-9C9F-0BF7-8548-94A1F9208C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ACEE3A-DFB5-568A-447D-FA28A4AE9B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B9D1B9A-7346-7143-2C47-1139C25C669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783D3BB-5D25-32F1-EE95-3588673070E1}"/>
              </a:ext>
            </a:extLst>
          </p:cNvPr>
          <p:cNvSpPr>
            <a:spLocks noGrp="1"/>
          </p:cNvSpPr>
          <p:nvPr>
            <p:ph type="sldNum" sz="quarter" idx="5"/>
          </p:nvPr>
        </p:nvSpPr>
        <p:spPr/>
        <p:txBody>
          <a:bodyPr/>
          <a:lstStyle/>
          <a:p>
            <a:fld id="{E8B1D1B2-477E-4304-BB02-D341E6CE33ED}" type="slidenum">
              <a:rPr kumimoji="1" lang="ja-JP" altLang="en-US" smtClean="0"/>
              <a:t>7</a:t>
            </a:fld>
            <a:endParaRPr kumimoji="1" lang="ja-JP" altLang="en-US"/>
          </a:p>
        </p:txBody>
      </p:sp>
    </p:spTree>
    <p:extLst>
      <p:ext uri="{BB962C8B-B14F-4D97-AF65-F5344CB8AC3E}">
        <p14:creationId xmlns:p14="http://schemas.microsoft.com/office/powerpoint/2010/main" val="1044066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46F9-192A-F85A-10A5-CFC89C4BB30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0581496-C148-31BA-438E-3F25F6A570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7AF33C5-ABF6-6E1F-A082-52EB2951888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611601C-33DA-D945-17B2-39B22230C65E}"/>
              </a:ext>
            </a:extLst>
          </p:cNvPr>
          <p:cNvSpPr>
            <a:spLocks noGrp="1"/>
          </p:cNvSpPr>
          <p:nvPr>
            <p:ph type="sldNum" sz="quarter" idx="5"/>
          </p:nvPr>
        </p:nvSpPr>
        <p:spPr/>
        <p:txBody>
          <a:bodyPr/>
          <a:lstStyle/>
          <a:p>
            <a:fld id="{E8B1D1B2-477E-4304-BB02-D341E6CE33ED}" type="slidenum">
              <a:rPr kumimoji="1" lang="ja-JP" altLang="en-US" smtClean="0"/>
              <a:t>8</a:t>
            </a:fld>
            <a:endParaRPr kumimoji="1" lang="ja-JP" altLang="en-US"/>
          </a:p>
        </p:txBody>
      </p:sp>
    </p:spTree>
    <p:extLst>
      <p:ext uri="{BB962C8B-B14F-4D97-AF65-F5344CB8AC3E}">
        <p14:creationId xmlns:p14="http://schemas.microsoft.com/office/powerpoint/2010/main" val="2827113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F5F81-C3A5-B01D-E5CD-D79B9D12AA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33F50F-E0DC-1B6F-E0D2-5FB6799618B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14FBB9-74F7-8610-242B-64CFECBE703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A006B90-F6E2-D8BE-8C89-A9A6D2581C2E}"/>
              </a:ext>
            </a:extLst>
          </p:cNvPr>
          <p:cNvSpPr>
            <a:spLocks noGrp="1"/>
          </p:cNvSpPr>
          <p:nvPr>
            <p:ph type="sldNum" sz="quarter" idx="5"/>
          </p:nvPr>
        </p:nvSpPr>
        <p:spPr/>
        <p:txBody>
          <a:bodyPr/>
          <a:lstStyle/>
          <a:p>
            <a:fld id="{E8B1D1B2-477E-4304-BB02-D341E6CE33ED}" type="slidenum">
              <a:rPr kumimoji="1" lang="ja-JP" altLang="en-US" smtClean="0"/>
              <a:t>9</a:t>
            </a:fld>
            <a:endParaRPr kumimoji="1" lang="ja-JP" altLang="en-US"/>
          </a:p>
        </p:txBody>
      </p:sp>
    </p:spTree>
    <p:extLst>
      <p:ext uri="{BB962C8B-B14F-4D97-AF65-F5344CB8AC3E}">
        <p14:creationId xmlns:p14="http://schemas.microsoft.com/office/powerpoint/2010/main" val="3302785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8B1D1B2-477E-4304-BB02-D341E6CE33ED}" type="slidenum">
              <a:rPr kumimoji="1" lang="ja-JP" altLang="en-US" smtClean="0"/>
              <a:t>10</a:t>
            </a:fld>
            <a:endParaRPr kumimoji="1" lang="ja-JP" altLang="en-US"/>
          </a:p>
        </p:txBody>
      </p:sp>
    </p:spTree>
    <p:extLst>
      <p:ext uri="{BB962C8B-B14F-4D97-AF65-F5344CB8AC3E}">
        <p14:creationId xmlns:p14="http://schemas.microsoft.com/office/powerpoint/2010/main" val="283839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8E1C0-4658-7635-169D-DE9328492B0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71D413-DC87-EB63-4AAE-13842EAB47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558058-8F49-F16B-61AB-79F99A028E8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C5F15F4-2031-D9AC-88D6-F0C020BFF659}"/>
              </a:ext>
            </a:extLst>
          </p:cNvPr>
          <p:cNvSpPr>
            <a:spLocks noGrp="1"/>
          </p:cNvSpPr>
          <p:nvPr>
            <p:ph type="sldNum" sz="quarter" idx="5"/>
          </p:nvPr>
        </p:nvSpPr>
        <p:spPr/>
        <p:txBody>
          <a:bodyPr/>
          <a:lstStyle/>
          <a:p>
            <a:fld id="{E8B1D1B2-477E-4304-BB02-D341E6CE33ED}" type="slidenum">
              <a:rPr kumimoji="1" lang="ja-JP" altLang="en-US" smtClean="0"/>
              <a:t>13</a:t>
            </a:fld>
            <a:endParaRPr kumimoji="1" lang="ja-JP" altLang="en-US"/>
          </a:p>
        </p:txBody>
      </p:sp>
    </p:spTree>
    <p:extLst>
      <p:ext uri="{BB962C8B-B14F-4D97-AF65-F5344CB8AC3E}">
        <p14:creationId xmlns:p14="http://schemas.microsoft.com/office/powerpoint/2010/main" val="2105260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BF5802-290A-F9E9-AFC0-8F479A53724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C2DAF63-D83E-7394-8226-C4D6A95408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C207DEC-2DA4-2995-B6FC-CC48FF10CC70}"/>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5" name="フッター プレースホルダー 4">
            <a:extLst>
              <a:ext uri="{FF2B5EF4-FFF2-40B4-BE49-F238E27FC236}">
                <a16:creationId xmlns:a16="http://schemas.microsoft.com/office/drawing/2014/main" id="{E718399B-EAF1-601D-5F5C-18FC62B838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CDC726-AD22-F34E-967A-220A6602905D}"/>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678618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9407D9-1078-FE42-10B6-1B45AE62B9A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DDA1478-9660-5F24-5847-D8B2DF7F0AA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846519D-7CDA-6312-96F0-99096152F808}"/>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5" name="フッター プレースホルダー 4">
            <a:extLst>
              <a:ext uri="{FF2B5EF4-FFF2-40B4-BE49-F238E27FC236}">
                <a16:creationId xmlns:a16="http://schemas.microsoft.com/office/drawing/2014/main" id="{26215FDC-5934-4B55-E527-993F33844C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0BB9683-DDFA-950E-4600-E0E5AFB97273}"/>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1437802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AF4D9-A91A-9614-4D46-0B6668F6CCE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A91B99E-0F3B-72D9-6C89-1C7D835412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F1F7636-77DC-F4FE-9C2F-34B1EE33DFE9}"/>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5" name="フッター プレースホルダー 4">
            <a:extLst>
              <a:ext uri="{FF2B5EF4-FFF2-40B4-BE49-F238E27FC236}">
                <a16:creationId xmlns:a16="http://schemas.microsoft.com/office/drawing/2014/main" id="{4F7E33A2-C0A2-3A25-A0C2-98684B05A31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7CC5FA4-7271-975B-6ED3-3C566F6AD405}"/>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3784614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D8E89E-6066-3130-5BB1-5CDE6F551CE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B19EDBA-9621-7AAD-51AC-32302C5C21F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D06B690-F382-E0B2-D4C4-321DB73FBE6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E25A00A-2EE6-4BCF-EA4E-9AA5C49F0534}"/>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6" name="フッター プレースホルダー 5">
            <a:extLst>
              <a:ext uri="{FF2B5EF4-FFF2-40B4-BE49-F238E27FC236}">
                <a16:creationId xmlns:a16="http://schemas.microsoft.com/office/drawing/2014/main" id="{8263938E-A420-908E-F1A4-4DA64FCF1F5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2984607-A542-FE94-DF92-02620B7A35AA}"/>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2236546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D9E5A2-718F-3EB8-0D54-AF204043B71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8E06A5-B97D-D3FC-AF7A-F99133DB62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172D287-F0BD-8D3E-6B39-F081F45C53B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67A34CA-C1C1-FE13-131B-EFC65EBA79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7AABFE0-3A74-41FF-2A7A-5B3F6387E84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FDD3518-6789-8D52-6933-878A3B24E22D}"/>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8" name="フッター プレースホルダー 7">
            <a:extLst>
              <a:ext uri="{FF2B5EF4-FFF2-40B4-BE49-F238E27FC236}">
                <a16:creationId xmlns:a16="http://schemas.microsoft.com/office/drawing/2014/main" id="{6BE5B35D-9470-2004-CEE6-D6517FB8BB5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A56254A-4D70-7BE3-7800-EF54BD092B2D}"/>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2240077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862EE3-CF10-88C6-23D1-A88C55302AD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3C856BA-3D7D-BC58-BC49-B91C1DE23531}"/>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4" name="フッター プレースホルダー 3">
            <a:extLst>
              <a:ext uri="{FF2B5EF4-FFF2-40B4-BE49-F238E27FC236}">
                <a16:creationId xmlns:a16="http://schemas.microsoft.com/office/drawing/2014/main" id="{EBA1F356-3978-49AC-9933-5CFE5D8A495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A1CC5B6-D460-785F-BF9F-E44418D91844}"/>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4255511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CF2E4C3-A7CE-DFEA-EC3F-985E908633E2}"/>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3" name="フッター プレースホルダー 2">
            <a:extLst>
              <a:ext uri="{FF2B5EF4-FFF2-40B4-BE49-F238E27FC236}">
                <a16:creationId xmlns:a16="http://schemas.microsoft.com/office/drawing/2014/main" id="{1AFCE9D6-B092-2528-740E-A00E38A9C37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5ED78FA-2081-DB36-C1F8-F6314D70222B}"/>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2963142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4B462-F7EC-DC6E-F175-6EFABD6B49B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5A3300E-7A32-8ACC-FAFA-56D493554C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EDC3BA3-E932-2408-4EB7-1F14FE04A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0AD5A76-7B72-7868-300B-5B45B8538652}"/>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6" name="フッター プレースホルダー 5">
            <a:extLst>
              <a:ext uri="{FF2B5EF4-FFF2-40B4-BE49-F238E27FC236}">
                <a16:creationId xmlns:a16="http://schemas.microsoft.com/office/drawing/2014/main" id="{0151DD56-EE77-9F4D-BB31-4F991E26AA8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D268360-C1A4-CB61-7EDD-2BEC79AF756A}"/>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2406545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BBAEAF-AFB1-49BB-3406-EA6B77A3D3E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C2A5877-2BF4-7134-97BE-73240DDDED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85C8F4BB-8EE1-EB9B-3DDD-DDF222DC59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C2E63A3-9EBB-431B-69E9-115034DA2752}"/>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6" name="フッター プレースホルダー 5">
            <a:extLst>
              <a:ext uri="{FF2B5EF4-FFF2-40B4-BE49-F238E27FC236}">
                <a16:creationId xmlns:a16="http://schemas.microsoft.com/office/drawing/2014/main" id="{37D9F726-FAC7-A812-CBC6-236A8A22F31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33D73D2-0B50-1571-7F32-93C9B63B41C6}"/>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1986467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A2724C-ABD5-6892-69CD-ED7917ADA26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9781B1-1981-EEE0-F96A-D4BA64802B7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A54F78-3BE5-3CB4-9A4D-25D7542D9137}"/>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5" name="フッター プレースホルダー 4">
            <a:extLst>
              <a:ext uri="{FF2B5EF4-FFF2-40B4-BE49-F238E27FC236}">
                <a16:creationId xmlns:a16="http://schemas.microsoft.com/office/drawing/2014/main" id="{4F9F3145-FCCC-F6A3-643E-1A5D08598D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7605565-79B5-6D2B-9309-C4F8A92242E9}"/>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2282311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EA9FED4-3984-F315-11F4-6130240143A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93C4F91-D500-E897-2DC7-D214AF16CB9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0CD7C6-60BC-E69A-48A1-4C80AE9240BA}"/>
              </a:ext>
            </a:extLst>
          </p:cNvPr>
          <p:cNvSpPr>
            <a:spLocks noGrp="1"/>
          </p:cNvSpPr>
          <p:nvPr>
            <p:ph type="dt" sz="half" idx="10"/>
          </p:nvPr>
        </p:nvSpPr>
        <p:spPr/>
        <p:txBody>
          <a:bodyPr/>
          <a:lstStyle/>
          <a:p>
            <a:fld id="{90AECD77-5834-4D1B-911C-D612253587A7}" type="datetimeFigureOut">
              <a:rPr kumimoji="1" lang="ja-JP" altLang="en-US" smtClean="0"/>
              <a:t>2025/6/24</a:t>
            </a:fld>
            <a:endParaRPr kumimoji="1" lang="ja-JP" altLang="en-US"/>
          </a:p>
        </p:txBody>
      </p:sp>
      <p:sp>
        <p:nvSpPr>
          <p:cNvPr id="5" name="フッター プレースホルダー 4">
            <a:extLst>
              <a:ext uri="{FF2B5EF4-FFF2-40B4-BE49-F238E27FC236}">
                <a16:creationId xmlns:a16="http://schemas.microsoft.com/office/drawing/2014/main" id="{AB8E513C-E14D-3572-8A5D-420ED8D094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165FCE6-0D4C-C17E-85FC-842A47E9A4EE}"/>
              </a:ext>
            </a:extLst>
          </p:cNvPr>
          <p:cNvSpPr>
            <a:spLocks noGrp="1"/>
          </p:cNvSpPr>
          <p:nvPr>
            <p:ph type="sldNum" sz="quarter" idx="12"/>
          </p:nvPr>
        </p:nvSpPr>
        <p:spPr/>
        <p:txBody>
          <a:body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3786062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A208C9C-A5C2-7A23-5B4D-EA1BC85B3A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495F3A8-87EA-34A5-8FF4-C03FC76C13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8BB7B6A-F5BF-07B5-ABAF-352A6EC60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AECD77-5834-4D1B-911C-D612253587A7}" type="datetimeFigureOut">
              <a:rPr kumimoji="1" lang="ja-JP" altLang="en-US" smtClean="0"/>
              <a:t>2025/6/24</a:t>
            </a:fld>
            <a:endParaRPr kumimoji="1" lang="ja-JP" altLang="en-US"/>
          </a:p>
        </p:txBody>
      </p:sp>
      <p:sp>
        <p:nvSpPr>
          <p:cNvPr id="5" name="フッター プレースホルダー 4">
            <a:extLst>
              <a:ext uri="{FF2B5EF4-FFF2-40B4-BE49-F238E27FC236}">
                <a16:creationId xmlns:a16="http://schemas.microsoft.com/office/drawing/2014/main" id="{4E4443ED-5C9C-FBDB-6652-67201226EA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A9270AB-8A28-9F5E-284F-E3B6174F61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0AB43D-59DB-414B-8F89-CAD42A8ADFF8}" type="slidenum">
              <a:rPr kumimoji="1" lang="ja-JP" altLang="en-US" smtClean="0"/>
              <a:t>‹#›</a:t>
            </a:fld>
            <a:endParaRPr kumimoji="1" lang="ja-JP" altLang="en-US"/>
          </a:p>
        </p:txBody>
      </p:sp>
    </p:spTree>
    <p:extLst>
      <p:ext uri="{BB962C8B-B14F-4D97-AF65-F5344CB8AC3E}">
        <p14:creationId xmlns:p14="http://schemas.microsoft.com/office/powerpoint/2010/main" val="656168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2.xml"/><Relationship Id="rId13" Type="http://schemas.openxmlformats.org/officeDocument/2006/relationships/image" Target="../media/image20.png"/><Relationship Id="rId1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diagramQuickStyle" Target="../diagrams/quickStyle2.xml"/><Relationship Id="rId12" Type="http://schemas.openxmlformats.org/officeDocument/2006/relationships/image" Target="../media/image18.png"/><Relationship Id="rId17" Type="http://schemas.openxmlformats.org/officeDocument/2006/relationships/image" Target="../media/image15.png"/><Relationship Id="rId2" Type="http://schemas.openxmlformats.org/officeDocument/2006/relationships/notesSlide" Target="../notesSlides/notesSlide8.xml"/><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Layout" Target="../diagrams/layout2.xml"/><Relationship Id="rId11" Type="http://schemas.openxmlformats.org/officeDocument/2006/relationships/image" Target="../media/image8.png"/><Relationship Id="rId5" Type="http://schemas.openxmlformats.org/officeDocument/2006/relationships/diagramData" Target="../diagrams/data2.xml"/><Relationship Id="rId15" Type="http://schemas.openxmlformats.org/officeDocument/2006/relationships/image" Target="../media/image17.png"/><Relationship Id="rId10" Type="http://schemas.openxmlformats.org/officeDocument/2006/relationships/image" Target="../media/image23.png"/><Relationship Id="rId4" Type="http://schemas.openxmlformats.org/officeDocument/2006/relationships/image" Target="../media/image2.png"/><Relationship Id="rId9" Type="http://schemas.microsoft.com/office/2007/relationships/diagramDrawing" Target="../diagrams/drawing2.xml"/><Relationship Id="rId1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AE854EE-5A54-5544-6760-CA9B5ABF9053}"/>
              </a:ext>
            </a:extLst>
          </p:cNvPr>
          <p:cNvSpPr>
            <a:spLocks noGrp="1"/>
          </p:cNvSpPr>
          <p:nvPr>
            <p:ph type="ctrTitle"/>
          </p:nvPr>
        </p:nvSpPr>
        <p:spPr>
          <a:xfrm>
            <a:off x="1524000" y="1131988"/>
            <a:ext cx="9144000" cy="2387600"/>
          </a:xfrm>
        </p:spPr>
        <p:txBody>
          <a:bodyPr>
            <a:normAutofit/>
          </a:bodyPr>
          <a:lstStyle/>
          <a:p>
            <a:r>
              <a:rPr kumimoji="1" lang="ja-JP" altLang="en-US" sz="4400" b="1" dirty="0"/>
              <a:t>局所電子回折計算による</a:t>
            </a:r>
            <a:br>
              <a:rPr kumimoji="1" lang="en-US" altLang="ja-JP" sz="4400" b="1" dirty="0"/>
            </a:br>
            <a:r>
              <a:rPr kumimoji="1" lang="en-US" altLang="ja-JP" sz="4400" b="1" dirty="0"/>
              <a:t>Cu</a:t>
            </a:r>
            <a:r>
              <a:rPr kumimoji="1" lang="en-US" altLang="ja-JP" sz="4400" b="1" baseline="-25000" dirty="0"/>
              <a:t>64</a:t>
            </a:r>
            <a:r>
              <a:rPr kumimoji="1" lang="en-US" altLang="ja-JP" sz="4400" b="1" dirty="0"/>
              <a:t>Zr</a:t>
            </a:r>
            <a:r>
              <a:rPr kumimoji="1" lang="en-US" altLang="ja-JP" sz="4400" b="1" baseline="-25000" dirty="0"/>
              <a:t>36</a:t>
            </a:r>
            <a:r>
              <a:rPr kumimoji="1" lang="ja-JP" altLang="en-US" sz="4400" b="1" dirty="0"/>
              <a:t>金属ガラスにおける</a:t>
            </a:r>
            <a:br>
              <a:rPr kumimoji="1" lang="en-US" altLang="ja-JP" sz="4400" b="1" dirty="0"/>
            </a:br>
            <a:r>
              <a:rPr kumimoji="1" lang="ja-JP" altLang="en-US" sz="4400" b="1" dirty="0"/>
              <a:t>中距離秩序構造の抽出</a:t>
            </a:r>
            <a:endParaRPr lang="ja-JP" altLang="en-US" sz="4400" dirty="0"/>
          </a:p>
        </p:txBody>
      </p:sp>
      <p:sp>
        <p:nvSpPr>
          <p:cNvPr id="5" name="字幕 4">
            <a:extLst>
              <a:ext uri="{FF2B5EF4-FFF2-40B4-BE49-F238E27FC236}">
                <a16:creationId xmlns:a16="http://schemas.microsoft.com/office/drawing/2014/main" id="{2E887153-F804-4C8A-FB34-1906A0589775}"/>
              </a:ext>
            </a:extLst>
          </p:cNvPr>
          <p:cNvSpPr>
            <a:spLocks noGrp="1"/>
          </p:cNvSpPr>
          <p:nvPr>
            <p:ph type="subTitle" idx="1"/>
          </p:nvPr>
        </p:nvSpPr>
        <p:spPr>
          <a:xfrm>
            <a:off x="1524000" y="3602037"/>
            <a:ext cx="9144000" cy="2253817"/>
          </a:xfrm>
        </p:spPr>
        <p:txBody>
          <a:bodyPr>
            <a:normAutofit fontScale="92500" lnSpcReduction="20000"/>
          </a:bodyPr>
          <a:lstStyle/>
          <a:p>
            <a:endParaRPr lang="en-US" altLang="ja-JP" sz="3200" dirty="0"/>
          </a:p>
          <a:p>
            <a:r>
              <a:rPr lang="ja-JP" altLang="en-US" sz="3200" dirty="0"/>
              <a:t>氏名：岩尾　幸長</a:t>
            </a:r>
            <a:endParaRPr lang="en-US" altLang="ja-JP" sz="3200" dirty="0"/>
          </a:p>
          <a:p>
            <a:r>
              <a:rPr lang="ja-JP" altLang="en-US" sz="3200" dirty="0"/>
              <a:t>学籍番号：</a:t>
            </a:r>
            <a:r>
              <a:rPr lang="en-US" altLang="ja-JP" sz="3200" dirty="0"/>
              <a:t>1W212049-2</a:t>
            </a:r>
          </a:p>
          <a:p>
            <a:endParaRPr lang="en-US" altLang="ja-JP" sz="3200" dirty="0"/>
          </a:p>
          <a:p>
            <a:r>
              <a:rPr kumimoji="1" lang="ja-JP" altLang="en-US" sz="3200" dirty="0"/>
              <a:t>ご指導教員：平田　秋彦　教授</a:t>
            </a:r>
          </a:p>
          <a:p>
            <a:endParaRPr lang="ja-JP" altLang="en-US" dirty="0"/>
          </a:p>
        </p:txBody>
      </p:sp>
    </p:spTree>
    <p:extLst>
      <p:ext uri="{BB962C8B-B14F-4D97-AF65-F5344CB8AC3E}">
        <p14:creationId xmlns:p14="http://schemas.microsoft.com/office/powerpoint/2010/main" val="2548825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4B8A2E-C10E-A8B1-9966-6388D7FE86CB}"/>
            </a:ext>
          </a:extLst>
        </p:cNvPr>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8F2543E9-17D0-8BB4-D1D5-12C4E98F0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C841D51F-4390-ABC0-150D-AC74507D3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575A8BC9-F416-CA40-BDD5-0B45E4772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4C49F84-3C96-DE15-6C72-189E77AEF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806BE2B-3DEE-BDE5-7AC5-51D45DCA4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1A26350-9B0B-C299-C069-15F4556828FF}"/>
              </a:ext>
            </a:extLst>
          </p:cNvPr>
          <p:cNvSpPr>
            <a:spLocks noGrp="1"/>
          </p:cNvSpPr>
          <p:nvPr>
            <p:ph type="title"/>
          </p:nvPr>
        </p:nvSpPr>
        <p:spPr>
          <a:xfrm>
            <a:off x="1371599" y="294538"/>
            <a:ext cx="9895951" cy="1033669"/>
          </a:xfrm>
        </p:spPr>
        <p:txBody>
          <a:bodyPr>
            <a:normAutofit/>
          </a:bodyPr>
          <a:lstStyle/>
          <a:p>
            <a:r>
              <a:rPr kumimoji="1" lang="ja-JP" altLang="en-US" sz="4000" b="1" dirty="0">
                <a:solidFill>
                  <a:srgbClr val="FFFFFF"/>
                </a:solidFill>
              </a:rPr>
              <a:t>背景・目的</a:t>
            </a:r>
          </a:p>
        </p:txBody>
      </p:sp>
      <p:sp>
        <p:nvSpPr>
          <p:cNvPr id="3" name="コンテンツ プレースホルダー 2">
            <a:extLst>
              <a:ext uri="{FF2B5EF4-FFF2-40B4-BE49-F238E27FC236}">
                <a16:creationId xmlns:a16="http://schemas.microsoft.com/office/drawing/2014/main" id="{A3ECF446-199D-E68F-3BEC-79CC01A17606}"/>
              </a:ext>
            </a:extLst>
          </p:cNvPr>
          <p:cNvSpPr>
            <a:spLocks noGrp="1"/>
          </p:cNvSpPr>
          <p:nvPr>
            <p:ph idx="1"/>
          </p:nvPr>
        </p:nvSpPr>
        <p:spPr>
          <a:xfrm>
            <a:off x="228025" y="2436155"/>
            <a:ext cx="6066375" cy="3583122"/>
          </a:xfrm>
        </p:spPr>
        <p:txBody>
          <a:bodyPr anchor="ctr">
            <a:noAutofit/>
          </a:bodyPr>
          <a:lstStyle/>
          <a:p>
            <a:pPr marL="0" indent="0">
              <a:lnSpc>
                <a:spcPct val="110000"/>
              </a:lnSpc>
              <a:buNone/>
            </a:pPr>
            <a:r>
              <a:rPr lang="ja-JP" altLang="en-US" sz="2000" b="1" dirty="0">
                <a:highlight>
                  <a:srgbClr val="FFFF00"/>
                </a:highlight>
              </a:rPr>
              <a:t>金属ガラスについて</a:t>
            </a:r>
            <a:endParaRPr kumimoji="1" lang="en-US" altLang="ja-JP" sz="2000" b="1" dirty="0">
              <a:highlight>
                <a:srgbClr val="FFFF00"/>
              </a:highlight>
            </a:endParaRPr>
          </a:p>
          <a:p>
            <a:pPr marL="0" indent="0">
              <a:lnSpc>
                <a:spcPct val="110000"/>
              </a:lnSpc>
              <a:buNone/>
            </a:pPr>
            <a:r>
              <a:rPr kumimoji="1" lang="ja-JP" altLang="en-US" sz="2000" dirty="0"/>
              <a:t>・代表的な金属ガラスとして</a:t>
            </a:r>
            <a:r>
              <a:rPr kumimoji="1" lang="en-US" altLang="ja-JP" sz="2000" dirty="0"/>
              <a:t>Cu-Zr</a:t>
            </a:r>
            <a:r>
              <a:rPr kumimoji="1" lang="ja-JP" altLang="en-US" sz="2000" dirty="0"/>
              <a:t>系が挙げられる</a:t>
            </a:r>
            <a:endParaRPr kumimoji="1" lang="en-US" altLang="ja-JP" sz="2000" dirty="0"/>
          </a:p>
          <a:p>
            <a:pPr marL="0" indent="0">
              <a:lnSpc>
                <a:spcPct val="110000"/>
              </a:lnSpc>
              <a:buNone/>
            </a:pPr>
            <a:r>
              <a:rPr kumimoji="1" lang="ja-JP" altLang="en-US" sz="2000" dirty="0"/>
              <a:t>・</a:t>
            </a:r>
            <a:r>
              <a:rPr kumimoji="1" lang="en-US" altLang="ja-JP" sz="2000" dirty="0"/>
              <a:t>Cu-Zr</a:t>
            </a:r>
            <a:r>
              <a:rPr kumimoji="1" lang="ja-JP" altLang="en-US" sz="2000" dirty="0"/>
              <a:t>合金において</a:t>
            </a:r>
            <a:r>
              <a:rPr lang="en-US" altLang="ja-JP" sz="2000" dirty="0"/>
              <a:t>C</a:t>
            </a:r>
            <a:r>
              <a:rPr kumimoji="1" lang="en-US" altLang="ja-JP" sz="2000" dirty="0"/>
              <a:t>u</a:t>
            </a:r>
            <a:r>
              <a:rPr kumimoji="1" lang="en-US" altLang="ja-JP" sz="2000" baseline="-25000" dirty="0"/>
              <a:t>64</a:t>
            </a:r>
            <a:r>
              <a:rPr kumimoji="1" lang="en-US" altLang="ja-JP" sz="2000" dirty="0"/>
              <a:t>Zr</a:t>
            </a:r>
            <a:r>
              <a:rPr kumimoji="1" lang="en-US" altLang="ja-JP" sz="2000" baseline="-25000" dirty="0"/>
              <a:t>36</a:t>
            </a:r>
            <a:r>
              <a:rPr lang="ja-JP" altLang="en-US" sz="2000" dirty="0"/>
              <a:t>が</a:t>
            </a:r>
            <a:r>
              <a:rPr kumimoji="1" lang="ja-JP" altLang="en-US" sz="2000" dirty="0"/>
              <a:t>最良の</a:t>
            </a:r>
            <a:r>
              <a:rPr lang="ja-JP" altLang="en-US" sz="2000" dirty="0"/>
              <a:t>ガラス形成性能</a:t>
            </a:r>
            <a:r>
              <a:rPr lang="en-US" altLang="ja-JP" sz="2000" dirty="0"/>
              <a:t>(</a:t>
            </a:r>
            <a:r>
              <a:rPr kumimoji="1" lang="en-US" altLang="ja-JP" sz="2000" dirty="0"/>
              <a:t>GFA)</a:t>
            </a:r>
            <a:r>
              <a:rPr kumimoji="1" lang="ja-JP" altLang="en-US" sz="2000" dirty="0"/>
              <a:t>を示す</a:t>
            </a:r>
            <a:endParaRPr kumimoji="1" lang="en-US" altLang="ja-JP" sz="2000" dirty="0"/>
          </a:p>
          <a:p>
            <a:pPr marL="0" indent="0">
              <a:lnSpc>
                <a:spcPct val="110000"/>
              </a:lnSpc>
              <a:buNone/>
            </a:pPr>
            <a:r>
              <a:rPr kumimoji="1" lang="ja-JP" altLang="en-US" sz="2000" b="1" dirty="0">
                <a:highlight>
                  <a:srgbClr val="FFFF00"/>
                </a:highlight>
              </a:rPr>
              <a:t>中距離秩序構造について</a:t>
            </a:r>
            <a:endParaRPr kumimoji="1" lang="en-US" altLang="ja-JP" sz="2000" b="1" dirty="0">
              <a:highlight>
                <a:srgbClr val="FFFF00"/>
              </a:highlight>
            </a:endParaRPr>
          </a:p>
          <a:p>
            <a:pPr marL="0" indent="0">
              <a:lnSpc>
                <a:spcPct val="110000"/>
              </a:lnSpc>
              <a:buNone/>
            </a:pPr>
            <a:r>
              <a:rPr lang="ja-JP" altLang="en-US" sz="2000" dirty="0"/>
              <a:t>・金属ガラスの局所構造である中距離秩序構造は、平均構造情報を基にしたモデルから、ボロノイ多面体解析で抽出されてきた</a:t>
            </a:r>
            <a:endParaRPr lang="en-US" altLang="ja-JP" sz="2000" dirty="0"/>
          </a:p>
          <a:p>
            <a:pPr marL="0" indent="0">
              <a:lnSpc>
                <a:spcPct val="110000"/>
              </a:lnSpc>
              <a:buNone/>
            </a:pPr>
            <a:r>
              <a:rPr lang="ja-JP" altLang="en-US" sz="2000" dirty="0"/>
              <a:t>・短・中距離秩序構造の直接観察が局所電子回折実験により試みられてきている</a:t>
            </a:r>
            <a:endParaRPr lang="en-US" altLang="ja-JP" sz="2000" dirty="0"/>
          </a:p>
          <a:p>
            <a:pPr marL="0" indent="0">
              <a:lnSpc>
                <a:spcPct val="110000"/>
              </a:lnSpc>
              <a:buNone/>
            </a:pPr>
            <a:r>
              <a:rPr lang="ja-JP" altLang="en-US" sz="2000" b="1" dirty="0">
                <a:highlight>
                  <a:srgbClr val="FFFF00"/>
                </a:highlight>
              </a:rPr>
              <a:t>目的</a:t>
            </a:r>
            <a:endParaRPr lang="en-US" altLang="ja-JP" sz="2000" b="1" dirty="0">
              <a:highlight>
                <a:srgbClr val="FFFF00"/>
              </a:highlight>
            </a:endParaRPr>
          </a:p>
          <a:p>
            <a:pPr marL="0" indent="0">
              <a:lnSpc>
                <a:spcPct val="110000"/>
              </a:lnSpc>
              <a:buNone/>
            </a:pPr>
            <a:r>
              <a:rPr lang="ja-JP" altLang="en-US" sz="2000" dirty="0"/>
              <a:t>中距離秩序構造と局所電子回折の直接的な関係を調べることにより、その抽出法を検討する</a:t>
            </a:r>
            <a:endParaRPr lang="en-US" altLang="ja-JP" sz="2000" dirty="0"/>
          </a:p>
        </p:txBody>
      </p:sp>
      <p:sp>
        <p:nvSpPr>
          <p:cNvPr id="5" name="テキスト ボックス 4">
            <a:extLst>
              <a:ext uri="{FF2B5EF4-FFF2-40B4-BE49-F238E27FC236}">
                <a16:creationId xmlns:a16="http://schemas.microsoft.com/office/drawing/2014/main" id="{E607BB39-DDDD-2C92-80E4-CDD2DA8E730A}"/>
              </a:ext>
            </a:extLst>
          </p:cNvPr>
          <p:cNvSpPr txBox="1"/>
          <p:nvPr/>
        </p:nvSpPr>
        <p:spPr>
          <a:xfrm>
            <a:off x="8340435" y="3895328"/>
            <a:ext cx="3573101" cy="261610"/>
          </a:xfrm>
          <a:prstGeom prst="rect">
            <a:avLst/>
          </a:prstGeom>
          <a:noFill/>
        </p:spPr>
        <p:txBody>
          <a:bodyPr wrap="square" rtlCol="0">
            <a:spAutoFit/>
          </a:bodyPr>
          <a:lstStyle/>
          <a:p>
            <a:r>
              <a:rPr kumimoji="1" lang="en-US" altLang="ja-JP" sz="1100" dirty="0"/>
              <a:t>Ref) H.W. Sheng </a:t>
            </a:r>
            <a:r>
              <a:rPr kumimoji="1" lang="en-US" altLang="ja-JP" sz="1100" i="1" dirty="0"/>
              <a:t>et al</a:t>
            </a:r>
            <a:r>
              <a:rPr kumimoji="1" lang="en-US" altLang="ja-JP" sz="1100" dirty="0"/>
              <a:t>., Nature 436, 419-425 (2006)</a:t>
            </a:r>
            <a:endParaRPr kumimoji="1" lang="ja-JP" altLang="en-US" sz="1100" dirty="0"/>
          </a:p>
        </p:txBody>
      </p:sp>
      <p:pic>
        <p:nvPicPr>
          <p:cNvPr id="6" name="図 5" descr="グラフ, バブル チャート&#10;&#10;自動的に生成された説明">
            <a:extLst>
              <a:ext uri="{FF2B5EF4-FFF2-40B4-BE49-F238E27FC236}">
                <a16:creationId xmlns:a16="http://schemas.microsoft.com/office/drawing/2014/main" id="{AA1B9750-BCAC-DF51-C471-10FDAB4A4B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830" y="1659689"/>
            <a:ext cx="4774107" cy="2251936"/>
          </a:xfrm>
          <a:prstGeom prst="rect">
            <a:avLst/>
          </a:prstGeom>
        </p:spPr>
      </p:pic>
      <p:pic>
        <p:nvPicPr>
          <p:cNvPr id="7" name="図 6">
            <a:extLst>
              <a:ext uri="{FF2B5EF4-FFF2-40B4-BE49-F238E27FC236}">
                <a16:creationId xmlns:a16="http://schemas.microsoft.com/office/drawing/2014/main" id="{D16749D9-EB67-C159-46CB-97255AB26B92}"/>
              </a:ext>
            </a:extLst>
          </p:cNvPr>
          <p:cNvPicPr>
            <a:picLocks noChangeAspect="1"/>
          </p:cNvPicPr>
          <p:nvPr/>
        </p:nvPicPr>
        <p:blipFill>
          <a:blip r:embed="rId4"/>
          <a:stretch>
            <a:fillRect/>
          </a:stretch>
        </p:blipFill>
        <p:spPr>
          <a:xfrm>
            <a:off x="7130473" y="4237957"/>
            <a:ext cx="3970022" cy="2511270"/>
          </a:xfrm>
          <a:prstGeom prst="rect">
            <a:avLst/>
          </a:prstGeom>
        </p:spPr>
      </p:pic>
      <p:sp>
        <p:nvSpPr>
          <p:cNvPr id="8" name="テキスト ボックス 7">
            <a:extLst>
              <a:ext uri="{FF2B5EF4-FFF2-40B4-BE49-F238E27FC236}">
                <a16:creationId xmlns:a16="http://schemas.microsoft.com/office/drawing/2014/main" id="{E87710C3-D66D-30D2-3B51-10DC82793B77}"/>
              </a:ext>
            </a:extLst>
          </p:cNvPr>
          <p:cNvSpPr txBox="1"/>
          <p:nvPr/>
        </p:nvSpPr>
        <p:spPr>
          <a:xfrm>
            <a:off x="9028879" y="6605626"/>
            <a:ext cx="3161747" cy="261610"/>
          </a:xfrm>
          <a:prstGeom prst="rect">
            <a:avLst/>
          </a:prstGeom>
          <a:noFill/>
        </p:spPr>
        <p:txBody>
          <a:bodyPr wrap="square" rtlCol="0">
            <a:spAutoFit/>
          </a:bodyPr>
          <a:lstStyle/>
          <a:p>
            <a:r>
              <a:rPr kumimoji="1" lang="en-US" altLang="ja-JP" sz="1100" dirty="0"/>
              <a:t>Ref) A. Hirata, Microscopy 70, 171-177 (2021)</a:t>
            </a:r>
            <a:endParaRPr kumimoji="1" lang="ja-JP" altLang="en-US" sz="1100" dirty="0"/>
          </a:p>
        </p:txBody>
      </p:sp>
    </p:spTree>
    <p:extLst>
      <p:ext uri="{BB962C8B-B14F-4D97-AF65-F5344CB8AC3E}">
        <p14:creationId xmlns:p14="http://schemas.microsoft.com/office/powerpoint/2010/main" val="1778384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2E5F0FC-F5F1-0C52-D238-1B72515E8FCA}"/>
              </a:ext>
            </a:extLst>
          </p:cNvPr>
          <p:cNvSpPr>
            <a:spLocks noGrp="1"/>
          </p:cNvSpPr>
          <p:nvPr>
            <p:ph type="title"/>
          </p:nvPr>
        </p:nvSpPr>
        <p:spPr>
          <a:xfrm>
            <a:off x="1371599" y="294538"/>
            <a:ext cx="9895951" cy="1033669"/>
          </a:xfrm>
        </p:spPr>
        <p:txBody>
          <a:bodyPr>
            <a:normAutofit/>
          </a:bodyPr>
          <a:lstStyle/>
          <a:p>
            <a:r>
              <a:rPr kumimoji="1" lang="ja-JP" altLang="en-US" sz="4000" b="1" dirty="0">
                <a:solidFill>
                  <a:srgbClr val="FFFFFF"/>
                </a:solidFill>
              </a:rPr>
              <a:t>方法１</a:t>
            </a:r>
          </a:p>
        </p:txBody>
      </p:sp>
      <p:sp>
        <p:nvSpPr>
          <p:cNvPr id="3" name="コンテンツ プレースホルダー 2">
            <a:extLst>
              <a:ext uri="{FF2B5EF4-FFF2-40B4-BE49-F238E27FC236}">
                <a16:creationId xmlns:a16="http://schemas.microsoft.com/office/drawing/2014/main" id="{0818A51D-B4B9-E3E6-5649-A41CEC535DEE}"/>
              </a:ext>
            </a:extLst>
          </p:cNvPr>
          <p:cNvSpPr>
            <a:spLocks noGrp="1"/>
          </p:cNvSpPr>
          <p:nvPr>
            <p:ph idx="1"/>
          </p:nvPr>
        </p:nvSpPr>
        <p:spPr>
          <a:xfrm>
            <a:off x="219456" y="1530251"/>
            <a:ext cx="5876543" cy="1918625"/>
          </a:xfrm>
        </p:spPr>
        <p:txBody>
          <a:bodyPr anchor="ctr">
            <a:noAutofit/>
          </a:bodyPr>
          <a:lstStyle/>
          <a:p>
            <a:pPr marL="0" indent="0">
              <a:lnSpc>
                <a:spcPct val="160000"/>
              </a:lnSpc>
              <a:buNone/>
            </a:pPr>
            <a:r>
              <a:rPr kumimoji="1" lang="ja-JP" altLang="en-US" sz="2000" b="1" dirty="0">
                <a:highlight>
                  <a:srgbClr val="FFFF00"/>
                </a:highlight>
              </a:rPr>
              <a:t>分子動力学計算による</a:t>
            </a:r>
            <a:r>
              <a:rPr kumimoji="1" lang="en-US" altLang="ja-JP" sz="2000" b="1" dirty="0">
                <a:highlight>
                  <a:srgbClr val="FFFF00"/>
                </a:highlight>
              </a:rPr>
              <a:t>Cu</a:t>
            </a:r>
            <a:r>
              <a:rPr kumimoji="1" lang="en-US" altLang="ja-JP" sz="2000" b="1" baseline="-25000" dirty="0">
                <a:highlight>
                  <a:srgbClr val="FFFF00"/>
                </a:highlight>
              </a:rPr>
              <a:t>64</a:t>
            </a:r>
            <a:r>
              <a:rPr kumimoji="1" lang="en-US" altLang="ja-JP" sz="2000" b="1" dirty="0">
                <a:highlight>
                  <a:srgbClr val="FFFF00"/>
                </a:highlight>
              </a:rPr>
              <a:t>Zr</a:t>
            </a:r>
            <a:r>
              <a:rPr kumimoji="1" lang="en-US" altLang="ja-JP" sz="2000" b="1" baseline="-25000" dirty="0">
                <a:highlight>
                  <a:srgbClr val="FFFF00"/>
                </a:highlight>
              </a:rPr>
              <a:t>36 </a:t>
            </a:r>
            <a:r>
              <a:rPr kumimoji="1" lang="ja-JP" altLang="en-US" sz="2000" b="1" dirty="0">
                <a:highlight>
                  <a:srgbClr val="FFFF00"/>
                </a:highlight>
              </a:rPr>
              <a:t>構造モデル</a:t>
            </a:r>
            <a:r>
              <a:rPr lang="ja-JP" altLang="en-US" sz="2000" b="1" dirty="0">
                <a:highlight>
                  <a:srgbClr val="FFFF00"/>
                </a:highlight>
              </a:rPr>
              <a:t>の</a:t>
            </a:r>
            <a:r>
              <a:rPr kumimoji="1" lang="ja-JP" altLang="en-US" sz="2000" b="1" dirty="0">
                <a:highlight>
                  <a:srgbClr val="FFFF00"/>
                </a:highlight>
              </a:rPr>
              <a:t>作成</a:t>
            </a:r>
            <a:endParaRPr kumimoji="1" lang="en-US" altLang="ja-JP" sz="2000" b="1" dirty="0">
              <a:highlight>
                <a:srgbClr val="FFFF00"/>
              </a:highlight>
            </a:endParaRPr>
          </a:p>
          <a:p>
            <a:pPr marL="0" indent="0">
              <a:lnSpc>
                <a:spcPct val="100000"/>
              </a:lnSpc>
              <a:buNone/>
            </a:pPr>
            <a:r>
              <a:rPr lang="ja-JP" altLang="en-US" sz="2000" dirty="0"/>
              <a:t>・原子数：</a:t>
            </a:r>
            <a:r>
              <a:rPr lang="en-US" altLang="ja-JP" sz="2000" dirty="0"/>
              <a:t>108000 (Cu</a:t>
            </a:r>
            <a:r>
              <a:rPr lang="ja-JP" altLang="en-US" sz="2000" dirty="0"/>
              <a:t>：</a:t>
            </a:r>
            <a:r>
              <a:rPr lang="en-US" altLang="ja-JP" sz="2000" dirty="0"/>
              <a:t>69120</a:t>
            </a:r>
            <a:r>
              <a:rPr lang="ja-JP" altLang="en-US" sz="2000" dirty="0"/>
              <a:t> </a:t>
            </a:r>
            <a:r>
              <a:rPr lang="en-US" altLang="ja-JP" sz="2000" dirty="0"/>
              <a:t>Zr</a:t>
            </a:r>
            <a:r>
              <a:rPr lang="ja-JP" altLang="en-US" sz="2000" dirty="0"/>
              <a:t>：</a:t>
            </a:r>
            <a:r>
              <a:rPr lang="en-US" altLang="ja-JP" sz="2000" dirty="0"/>
              <a:t>38880)</a:t>
            </a:r>
          </a:p>
          <a:p>
            <a:pPr marL="0" indent="0">
              <a:lnSpc>
                <a:spcPct val="100000"/>
              </a:lnSpc>
              <a:buNone/>
            </a:pPr>
            <a:r>
              <a:rPr lang="ja-JP" altLang="en-US" sz="2000" dirty="0"/>
              <a:t>・冷却速度：</a:t>
            </a:r>
            <a:r>
              <a:rPr lang="en-US" altLang="ja-JP" sz="2000" dirty="0"/>
              <a:t>1.6×10</a:t>
            </a:r>
            <a:r>
              <a:rPr lang="en-US" altLang="ja-JP" sz="2000" baseline="30000" dirty="0"/>
              <a:t>12</a:t>
            </a:r>
            <a:r>
              <a:rPr lang="en-US" altLang="ja-JP" sz="2000" dirty="0"/>
              <a:t>[K/s]</a:t>
            </a:r>
          </a:p>
          <a:p>
            <a:pPr marL="0" indent="0">
              <a:lnSpc>
                <a:spcPct val="100000"/>
              </a:lnSpc>
              <a:buNone/>
            </a:pPr>
            <a:r>
              <a:rPr lang="ja-JP" altLang="en-US" sz="2000" dirty="0"/>
              <a:t>・</a:t>
            </a:r>
            <a:r>
              <a:rPr kumimoji="1" lang="en-US" altLang="ja-JP" sz="2000" dirty="0"/>
              <a:t> </a:t>
            </a:r>
            <a:r>
              <a:rPr lang="en-US" altLang="ja-JP" sz="2000" dirty="0"/>
              <a:t>LAMMPS</a:t>
            </a:r>
            <a:r>
              <a:rPr lang="ja-JP" altLang="en-US" sz="2000" dirty="0"/>
              <a:t>を使用</a:t>
            </a:r>
            <a:endParaRPr lang="en-US" altLang="ja-JP" sz="2000" dirty="0"/>
          </a:p>
        </p:txBody>
      </p:sp>
      <p:sp>
        <p:nvSpPr>
          <p:cNvPr id="19" name="テキスト ボックス 18">
            <a:extLst>
              <a:ext uri="{FF2B5EF4-FFF2-40B4-BE49-F238E27FC236}">
                <a16:creationId xmlns:a16="http://schemas.microsoft.com/office/drawing/2014/main" id="{F15DA553-0D09-069F-4D09-15F042201D40}"/>
              </a:ext>
            </a:extLst>
          </p:cNvPr>
          <p:cNvSpPr txBox="1"/>
          <p:nvPr/>
        </p:nvSpPr>
        <p:spPr>
          <a:xfrm>
            <a:off x="6248562" y="1695510"/>
            <a:ext cx="5571419" cy="5293757"/>
          </a:xfrm>
          <a:prstGeom prst="rect">
            <a:avLst/>
          </a:prstGeom>
          <a:noFill/>
        </p:spPr>
        <p:txBody>
          <a:bodyPr wrap="square" rtlCol="0">
            <a:spAutoFit/>
          </a:bodyPr>
          <a:lstStyle/>
          <a:p>
            <a:pPr marL="0" indent="0">
              <a:spcBef>
                <a:spcPts val="600"/>
              </a:spcBef>
              <a:buNone/>
            </a:pPr>
            <a:r>
              <a:rPr kumimoji="1" lang="en-US" altLang="ja-JP" sz="2000" b="1" dirty="0">
                <a:highlight>
                  <a:srgbClr val="FFFF00"/>
                </a:highlight>
              </a:rPr>
              <a:t>X</a:t>
            </a:r>
            <a:r>
              <a:rPr kumimoji="1" lang="ja-JP" altLang="en-US" sz="2000" b="1" dirty="0">
                <a:highlight>
                  <a:srgbClr val="FFFF00"/>
                </a:highlight>
              </a:rPr>
              <a:t>線構造因子</a:t>
            </a:r>
            <a:r>
              <a:rPr lang="ja-JP" altLang="en-US" sz="2000" b="1" dirty="0">
                <a:highlight>
                  <a:srgbClr val="FFFF00"/>
                </a:highlight>
              </a:rPr>
              <a:t>の計算</a:t>
            </a:r>
            <a:endParaRPr lang="en-US" altLang="ja-JP" sz="2000" b="1" dirty="0">
              <a:highlight>
                <a:srgbClr val="FFFF00"/>
              </a:highlight>
            </a:endParaRPr>
          </a:p>
          <a:p>
            <a:pPr marL="0" indent="0">
              <a:spcBef>
                <a:spcPts val="600"/>
              </a:spcBef>
              <a:buNone/>
            </a:pPr>
            <a:r>
              <a:rPr lang="ja-JP" altLang="en-US" sz="2000" dirty="0"/>
              <a:t>・モデルを</a:t>
            </a:r>
            <a:r>
              <a:rPr lang="en-US" altLang="ja-JP" sz="2000" dirty="0"/>
              <a:t>3×3</a:t>
            </a:r>
            <a:r>
              <a:rPr lang="ja-JP" altLang="en-US" sz="2000" dirty="0"/>
              <a:t>で分割し、その中心</a:t>
            </a:r>
            <a:endParaRPr lang="en-US" altLang="ja-JP" sz="2000" dirty="0"/>
          </a:p>
          <a:p>
            <a:pPr marL="0" indent="0">
              <a:spcBef>
                <a:spcPts val="600"/>
              </a:spcBef>
              <a:buNone/>
            </a:pPr>
            <a:r>
              <a:rPr lang="en-US" altLang="ja-JP" sz="2000" dirty="0"/>
              <a:t>   </a:t>
            </a:r>
            <a:r>
              <a:rPr lang="ja-JP" altLang="en-US" sz="2000" dirty="0"/>
              <a:t>に当たる部分に着目して計算</a:t>
            </a:r>
            <a:endParaRPr lang="en-US" altLang="ja-JP" sz="2000" dirty="0"/>
          </a:p>
          <a:p>
            <a:pPr marL="0" indent="0">
              <a:spcBef>
                <a:spcPts val="600"/>
              </a:spcBef>
              <a:buNone/>
            </a:pPr>
            <a:r>
              <a:rPr lang="ja-JP" altLang="en-US" sz="2000" dirty="0"/>
              <a:t>・原子数：</a:t>
            </a:r>
            <a:r>
              <a:rPr lang="en-US" altLang="ja-JP" sz="2000" dirty="0"/>
              <a:t>4028(Cu</a:t>
            </a:r>
            <a:r>
              <a:rPr lang="ja-JP" altLang="en-US" sz="2000" dirty="0"/>
              <a:t>：</a:t>
            </a:r>
            <a:r>
              <a:rPr lang="en-US" altLang="ja-JP" sz="2000" dirty="0"/>
              <a:t>2610 Zr</a:t>
            </a:r>
            <a:r>
              <a:rPr lang="ja-JP" altLang="en-US" sz="2000" dirty="0"/>
              <a:t>：</a:t>
            </a:r>
            <a:r>
              <a:rPr lang="en-US" altLang="ja-JP" sz="2000" dirty="0"/>
              <a:t>1418)</a:t>
            </a:r>
          </a:p>
          <a:p>
            <a:pPr>
              <a:spcBef>
                <a:spcPts val="600"/>
              </a:spcBef>
            </a:pPr>
            <a:r>
              <a:rPr lang="ja-JP" altLang="en-US" sz="2000" dirty="0"/>
              <a:t>・文献の実験データと比較して妥当性を検証</a:t>
            </a:r>
            <a:endParaRPr kumimoji="1" lang="en-US" altLang="ja-JP" sz="2000" dirty="0"/>
          </a:p>
          <a:p>
            <a:pPr marL="0" indent="0">
              <a:spcBef>
                <a:spcPts val="600"/>
              </a:spcBef>
              <a:buNone/>
            </a:pPr>
            <a:r>
              <a:rPr kumimoji="1" lang="ja-JP" altLang="en-US" sz="2000" dirty="0"/>
              <a:t>・</a:t>
            </a:r>
            <a:r>
              <a:rPr kumimoji="1" lang="en-US" altLang="ja-JP" sz="2000" dirty="0"/>
              <a:t>RMCA</a:t>
            </a:r>
            <a:r>
              <a:rPr kumimoji="1" lang="ja-JP" altLang="en-US" sz="2000" dirty="0"/>
              <a:t>を使用</a:t>
            </a:r>
            <a:endParaRPr kumimoji="1" lang="en-US" altLang="ja-JP" sz="2000" dirty="0"/>
          </a:p>
          <a:p>
            <a:pPr marL="0" indent="0">
              <a:spcBef>
                <a:spcPts val="600"/>
              </a:spcBef>
              <a:buNone/>
            </a:pPr>
            <a:endParaRPr kumimoji="1" lang="en-US" altLang="ja-JP" sz="2000" dirty="0"/>
          </a:p>
          <a:p>
            <a:pPr marL="0" indent="0">
              <a:spcBef>
                <a:spcPts val="600"/>
              </a:spcBef>
              <a:buNone/>
            </a:pPr>
            <a:r>
              <a:rPr lang="ja-JP" altLang="en-US" sz="2000" b="1" dirty="0">
                <a:highlight>
                  <a:srgbClr val="FFFF00"/>
                </a:highlight>
              </a:rPr>
              <a:t>電子回折図形の計算</a:t>
            </a:r>
            <a:endParaRPr lang="en-US" altLang="ja-JP" sz="2000" b="1" dirty="0">
              <a:highlight>
                <a:srgbClr val="FFFF00"/>
              </a:highlight>
            </a:endParaRPr>
          </a:p>
          <a:p>
            <a:pPr marL="0" indent="0">
              <a:spcBef>
                <a:spcPts val="600"/>
              </a:spcBef>
              <a:buNone/>
            </a:pPr>
            <a:r>
              <a:rPr lang="ja-JP" altLang="en-US" sz="2000" dirty="0"/>
              <a:t>・構造モデル全体から電子回折図形を計算</a:t>
            </a:r>
            <a:endParaRPr lang="en-US" altLang="ja-JP" sz="2000" dirty="0"/>
          </a:p>
          <a:p>
            <a:pPr marL="0" indent="0">
              <a:spcBef>
                <a:spcPts val="600"/>
              </a:spcBef>
              <a:buNone/>
            </a:pPr>
            <a:r>
              <a:rPr lang="ja-JP" altLang="en-US" sz="2000" dirty="0"/>
              <a:t>・加速電圧：</a:t>
            </a:r>
            <a:r>
              <a:rPr lang="en-US" altLang="ja-JP" sz="2000" dirty="0"/>
              <a:t>200[kV]</a:t>
            </a:r>
          </a:p>
          <a:p>
            <a:pPr marL="0" indent="0">
              <a:spcBef>
                <a:spcPts val="600"/>
              </a:spcBef>
              <a:buNone/>
            </a:pPr>
            <a:r>
              <a:rPr lang="ja-JP" altLang="en-US" sz="2000" dirty="0"/>
              <a:t>・球面収差係数：</a:t>
            </a:r>
            <a:r>
              <a:rPr lang="en-US" altLang="ja-JP" sz="2000" dirty="0"/>
              <a:t>1.1[mm]</a:t>
            </a:r>
          </a:p>
          <a:p>
            <a:pPr marL="0" indent="0">
              <a:spcBef>
                <a:spcPts val="600"/>
              </a:spcBef>
              <a:buNone/>
            </a:pPr>
            <a:r>
              <a:rPr lang="ja-JP" altLang="en-US" sz="2000" dirty="0"/>
              <a:t>・</a:t>
            </a:r>
            <a:r>
              <a:rPr lang="en-US" altLang="ja-JP" sz="2000" dirty="0"/>
              <a:t>Slice thickness</a:t>
            </a:r>
            <a:r>
              <a:rPr lang="ja-JP" altLang="en-US" sz="2000" dirty="0"/>
              <a:t>：</a:t>
            </a:r>
            <a:r>
              <a:rPr lang="en-US" altLang="ja-JP" sz="2000" dirty="0"/>
              <a:t>2[Å]</a:t>
            </a:r>
          </a:p>
          <a:p>
            <a:pPr marL="0" indent="0">
              <a:spcBef>
                <a:spcPts val="600"/>
              </a:spcBef>
              <a:buNone/>
            </a:pPr>
            <a:r>
              <a:rPr lang="ja-JP" altLang="en-US" sz="2000" dirty="0"/>
              <a:t>・</a:t>
            </a:r>
            <a:r>
              <a:rPr lang="en-US" altLang="ja-JP" sz="2000" dirty="0" err="1"/>
              <a:t>abTEM</a:t>
            </a:r>
            <a:r>
              <a:rPr lang="ja-JP" altLang="en-US" sz="2000" dirty="0"/>
              <a:t>を使用</a:t>
            </a:r>
            <a:endParaRPr lang="en-US" altLang="ja-JP" sz="2000" dirty="0"/>
          </a:p>
          <a:p>
            <a:endParaRPr kumimoji="1" lang="ja-JP" altLang="en-US" dirty="0"/>
          </a:p>
        </p:txBody>
      </p:sp>
      <p:sp>
        <p:nvSpPr>
          <p:cNvPr id="21" name="四角形: 角を丸くする 20">
            <a:extLst>
              <a:ext uri="{FF2B5EF4-FFF2-40B4-BE49-F238E27FC236}">
                <a16:creationId xmlns:a16="http://schemas.microsoft.com/office/drawing/2014/main" id="{74E9AE49-0987-4A48-018F-E20E134E05D6}"/>
              </a:ext>
            </a:extLst>
          </p:cNvPr>
          <p:cNvSpPr/>
          <p:nvPr/>
        </p:nvSpPr>
        <p:spPr>
          <a:xfrm>
            <a:off x="372019" y="5790582"/>
            <a:ext cx="1406033" cy="7652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800" b="1" dirty="0"/>
              <a:t>3000[K]</a:t>
            </a:r>
            <a:r>
              <a:rPr lang="ja-JP" altLang="en-US" sz="1800" b="1" dirty="0"/>
              <a:t>で平衡化</a:t>
            </a:r>
            <a:endParaRPr kumimoji="1" lang="ja-JP" altLang="en-US" b="1" dirty="0"/>
          </a:p>
        </p:txBody>
      </p:sp>
      <p:sp>
        <p:nvSpPr>
          <p:cNvPr id="23" name="四角形: 角を丸くする 22">
            <a:extLst>
              <a:ext uri="{FF2B5EF4-FFF2-40B4-BE49-F238E27FC236}">
                <a16:creationId xmlns:a16="http://schemas.microsoft.com/office/drawing/2014/main" id="{5410B63C-D457-14D4-0C25-BB4762980BAD}"/>
              </a:ext>
            </a:extLst>
          </p:cNvPr>
          <p:cNvSpPr/>
          <p:nvPr/>
        </p:nvSpPr>
        <p:spPr>
          <a:xfrm>
            <a:off x="2284104" y="5829130"/>
            <a:ext cx="1406033" cy="7652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800" b="1" dirty="0"/>
              <a:t>300[K]</a:t>
            </a:r>
            <a:r>
              <a:rPr lang="ja-JP" altLang="en-US" sz="1800" b="1" dirty="0"/>
              <a:t>に冷却</a:t>
            </a:r>
            <a:endParaRPr kumimoji="1" lang="ja-JP" altLang="en-US" b="1" dirty="0"/>
          </a:p>
        </p:txBody>
      </p:sp>
      <p:sp>
        <p:nvSpPr>
          <p:cNvPr id="25" name="四角形: 角を丸くする 24">
            <a:extLst>
              <a:ext uri="{FF2B5EF4-FFF2-40B4-BE49-F238E27FC236}">
                <a16:creationId xmlns:a16="http://schemas.microsoft.com/office/drawing/2014/main" id="{44D15391-CF72-A3E5-4F5B-CD1F197BD84B}"/>
              </a:ext>
            </a:extLst>
          </p:cNvPr>
          <p:cNvSpPr/>
          <p:nvPr/>
        </p:nvSpPr>
        <p:spPr>
          <a:xfrm>
            <a:off x="4196189" y="5790582"/>
            <a:ext cx="1406033" cy="7652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800" b="1" dirty="0"/>
              <a:t>300[K]</a:t>
            </a:r>
            <a:r>
              <a:rPr lang="ja-JP" altLang="en-US" sz="1800" b="1" dirty="0"/>
              <a:t>で平衡化</a:t>
            </a:r>
            <a:endParaRPr kumimoji="1" lang="ja-JP" altLang="en-US" b="1" dirty="0"/>
          </a:p>
        </p:txBody>
      </p:sp>
      <p:sp>
        <p:nvSpPr>
          <p:cNvPr id="27" name="矢印: 右 26">
            <a:extLst>
              <a:ext uri="{FF2B5EF4-FFF2-40B4-BE49-F238E27FC236}">
                <a16:creationId xmlns:a16="http://schemas.microsoft.com/office/drawing/2014/main" id="{05FD4EF0-45C2-12E7-9454-DD1CF7641FDC}"/>
              </a:ext>
            </a:extLst>
          </p:cNvPr>
          <p:cNvSpPr/>
          <p:nvPr/>
        </p:nvSpPr>
        <p:spPr>
          <a:xfrm>
            <a:off x="1827624" y="6015164"/>
            <a:ext cx="420624" cy="393193"/>
          </a:xfrm>
          <a:prstGeom prst="rightArrow">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8" name="矢印: 右 27">
            <a:extLst>
              <a:ext uri="{FF2B5EF4-FFF2-40B4-BE49-F238E27FC236}">
                <a16:creationId xmlns:a16="http://schemas.microsoft.com/office/drawing/2014/main" id="{2F2F908A-BC4C-CC8E-D905-ED328504F2AF}"/>
              </a:ext>
            </a:extLst>
          </p:cNvPr>
          <p:cNvSpPr/>
          <p:nvPr/>
        </p:nvSpPr>
        <p:spPr>
          <a:xfrm>
            <a:off x="3739709" y="5976616"/>
            <a:ext cx="420624" cy="393193"/>
          </a:xfrm>
          <a:prstGeom prst="rightArrow">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6" name="直方体 5">
            <a:extLst>
              <a:ext uri="{FF2B5EF4-FFF2-40B4-BE49-F238E27FC236}">
                <a16:creationId xmlns:a16="http://schemas.microsoft.com/office/drawing/2014/main" id="{E4DC6F21-FA73-5737-42DD-CDEBD05A327D}"/>
              </a:ext>
            </a:extLst>
          </p:cNvPr>
          <p:cNvSpPr/>
          <p:nvPr/>
        </p:nvSpPr>
        <p:spPr>
          <a:xfrm>
            <a:off x="11069550" y="2489563"/>
            <a:ext cx="396000" cy="396000"/>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直方体 3">
            <a:extLst>
              <a:ext uri="{FF2B5EF4-FFF2-40B4-BE49-F238E27FC236}">
                <a16:creationId xmlns:a16="http://schemas.microsoft.com/office/drawing/2014/main" id="{FA97993D-3B8C-D9F8-BCB2-9CF251AEA56E}"/>
              </a:ext>
            </a:extLst>
          </p:cNvPr>
          <p:cNvSpPr/>
          <p:nvPr/>
        </p:nvSpPr>
        <p:spPr>
          <a:xfrm>
            <a:off x="10758010" y="2088774"/>
            <a:ext cx="1080000" cy="1080000"/>
          </a:xfrm>
          <a:prstGeom prst="cube">
            <a:avLst/>
          </a:prstGeom>
          <a:solidFill>
            <a:srgbClr val="4E95D9">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aphicFrame>
        <p:nvGraphicFramePr>
          <p:cNvPr id="11" name="グラフ 10">
            <a:extLst>
              <a:ext uri="{FF2B5EF4-FFF2-40B4-BE49-F238E27FC236}">
                <a16:creationId xmlns:a16="http://schemas.microsoft.com/office/drawing/2014/main" id="{75AE166C-2735-CD51-3E1B-FBD44560B128}"/>
              </a:ext>
            </a:extLst>
          </p:cNvPr>
          <p:cNvGraphicFramePr>
            <a:graphicFrameLocks/>
          </p:cNvGraphicFramePr>
          <p:nvPr>
            <p:extLst>
              <p:ext uri="{D42A27DB-BD31-4B8C-83A1-F6EECF244321}">
                <p14:modId xmlns:p14="http://schemas.microsoft.com/office/powerpoint/2010/main" val="3043235444"/>
              </p:ext>
            </p:extLst>
          </p:nvPr>
        </p:nvGraphicFramePr>
        <p:xfrm>
          <a:off x="306409" y="3448876"/>
          <a:ext cx="5361422" cy="23802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876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AB58D6-2C60-51B4-58AB-C6693FCEF2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53CDCF-3070-86B8-FDA7-FC079645CC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D1C1CE3-17C8-1589-4C38-10861226E3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D53689-15A8-F6D8-C611-B087C102DC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6A20A6E-5751-9AB5-EBAC-41B91517EB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0A5A6D-605A-2E08-6505-1CE91B587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F7F3485-A8CB-C49C-B5AE-CAFC7C68289F}"/>
              </a:ext>
            </a:extLst>
          </p:cNvPr>
          <p:cNvSpPr>
            <a:spLocks noGrp="1"/>
          </p:cNvSpPr>
          <p:nvPr>
            <p:ph type="title"/>
          </p:nvPr>
        </p:nvSpPr>
        <p:spPr>
          <a:xfrm>
            <a:off x="1371599" y="294538"/>
            <a:ext cx="9895951" cy="1033669"/>
          </a:xfrm>
        </p:spPr>
        <p:txBody>
          <a:bodyPr>
            <a:normAutofit/>
          </a:bodyPr>
          <a:lstStyle/>
          <a:p>
            <a:r>
              <a:rPr lang="ja-JP" altLang="en-US" sz="4000" b="1" dirty="0">
                <a:solidFill>
                  <a:srgbClr val="FFFFFF"/>
                </a:solidFill>
              </a:rPr>
              <a:t>方法２</a:t>
            </a:r>
            <a:endParaRPr kumimoji="1" lang="ja-JP" altLang="en-US" sz="4000" b="1" dirty="0">
              <a:solidFill>
                <a:srgbClr val="FFFFFF"/>
              </a:solidFill>
            </a:endParaRPr>
          </a:p>
        </p:txBody>
      </p:sp>
      <p:sp>
        <p:nvSpPr>
          <p:cNvPr id="22" name="テキスト ボックス 21">
            <a:extLst>
              <a:ext uri="{FF2B5EF4-FFF2-40B4-BE49-F238E27FC236}">
                <a16:creationId xmlns:a16="http://schemas.microsoft.com/office/drawing/2014/main" id="{98611D4C-6F9B-E34F-DC24-E413484A19C9}"/>
              </a:ext>
            </a:extLst>
          </p:cNvPr>
          <p:cNvSpPr txBox="1">
            <a:spLocks noChangeAspect="1"/>
          </p:cNvSpPr>
          <p:nvPr/>
        </p:nvSpPr>
        <p:spPr>
          <a:xfrm>
            <a:off x="459350" y="1705909"/>
            <a:ext cx="5314275" cy="4056715"/>
          </a:xfrm>
          <a:prstGeom prst="rect">
            <a:avLst/>
          </a:prstGeom>
          <a:noFill/>
        </p:spPr>
        <p:txBody>
          <a:bodyPr wrap="square" rtlCol="0">
            <a:noAutofit/>
          </a:bodyPr>
          <a:lstStyle/>
          <a:p>
            <a:pPr marL="0" indent="0">
              <a:spcBef>
                <a:spcPts val="600"/>
              </a:spcBef>
              <a:buNone/>
            </a:pPr>
            <a:r>
              <a:rPr lang="ja-JP" altLang="en-US" sz="2000" b="1" dirty="0">
                <a:highlight>
                  <a:srgbClr val="FFFF00"/>
                </a:highlight>
              </a:rPr>
              <a:t>局所電子回折図形の計算</a:t>
            </a:r>
            <a:endParaRPr lang="en-US" altLang="ja-JP" sz="2000" b="1" dirty="0">
              <a:highlight>
                <a:srgbClr val="FFFF00"/>
              </a:highlight>
            </a:endParaRPr>
          </a:p>
          <a:p>
            <a:pPr marL="0" indent="0">
              <a:spcBef>
                <a:spcPts val="600"/>
              </a:spcBef>
              <a:buNone/>
            </a:pPr>
            <a:r>
              <a:rPr lang="ja-JP" altLang="en-US" sz="2000" dirty="0"/>
              <a:t>・作成した構造モデルを</a:t>
            </a:r>
            <a:r>
              <a:rPr lang="en-US" altLang="ja-JP" sz="2000" dirty="0"/>
              <a:t>z</a:t>
            </a:r>
            <a:r>
              <a:rPr lang="ja-JP" altLang="en-US" sz="2000" dirty="0"/>
              <a:t>軸方向</a:t>
            </a:r>
            <a:endParaRPr lang="en-US" altLang="ja-JP" sz="2000" dirty="0"/>
          </a:p>
          <a:p>
            <a:pPr marL="0" indent="0">
              <a:spcBef>
                <a:spcPts val="600"/>
              </a:spcBef>
              <a:buNone/>
            </a:pPr>
            <a:r>
              <a:rPr lang="ja-JP" altLang="en-US" sz="2000" dirty="0"/>
              <a:t>が</a:t>
            </a:r>
            <a:r>
              <a:rPr lang="en-US" altLang="ja-JP" sz="2000" dirty="0"/>
              <a:t>2~3[nm]</a:t>
            </a:r>
            <a:r>
              <a:rPr lang="ja-JP" altLang="en-US" sz="2000" dirty="0"/>
              <a:t>になるようスライスし、</a:t>
            </a:r>
            <a:endParaRPr lang="en-US" altLang="ja-JP" sz="2000" dirty="0"/>
          </a:p>
          <a:p>
            <a:pPr marL="0" indent="0">
              <a:spcBef>
                <a:spcPts val="600"/>
              </a:spcBef>
              <a:buNone/>
            </a:pPr>
            <a:r>
              <a:rPr lang="ja-JP" altLang="en-US" sz="2000" dirty="0"/>
              <a:t>最も中心に近い部分に着目</a:t>
            </a:r>
            <a:endParaRPr lang="en-US" altLang="ja-JP" sz="2000" dirty="0"/>
          </a:p>
          <a:p>
            <a:pPr marL="0" indent="0">
              <a:spcBef>
                <a:spcPts val="600"/>
              </a:spcBef>
              <a:buNone/>
            </a:pPr>
            <a:r>
              <a:rPr lang="ja-JP" altLang="en-US" sz="2000" dirty="0"/>
              <a:t>・原子数：</a:t>
            </a:r>
            <a:r>
              <a:rPr lang="en-US" altLang="ja-JP" sz="2000" dirty="0"/>
              <a:t>21660(Cu</a:t>
            </a:r>
            <a:r>
              <a:rPr lang="ja-JP" altLang="en-US" sz="2000" dirty="0"/>
              <a:t>：</a:t>
            </a:r>
            <a:r>
              <a:rPr lang="en-US" altLang="ja-JP" sz="2000" dirty="0"/>
              <a:t>13822 Zr</a:t>
            </a:r>
            <a:r>
              <a:rPr lang="ja-JP" altLang="en-US" sz="2000" dirty="0"/>
              <a:t>：</a:t>
            </a:r>
            <a:r>
              <a:rPr lang="en-US" altLang="ja-JP" sz="2000" dirty="0"/>
              <a:t>6838)</a:t>
            </a:r>
          </a:p>
          <a:p>
            <a:pPr marL="0" indent="0">
              <a:spcBef>
                <a:spcPts val="600"/>
              </a:spcBef>
              <a:buNone/>
            </a:pPr>
            <a:r>
              <a:rPr lang="ja-JP" altLang="en-US" sz="2000" dirty="0"/>
              <a:t>・</a:t>
            </a:r>
            <a:r>
              <a:rPr lang="en-US" altLang="ja-JP" sz="2000" dirty="0"/>
              <a:t>x</a:t>
            </a:r>
            <a:r>
              <a:rPr lang="ja-JP" altLang="en-US" sz="2000" dirty="0"/>
              <a:t>方向</a:t>
            </a:r>
            <a:r>
              <a:rPr lang="en-US" altLang="ja-JP" sz="2000" dirty="0"/>
              <a:t>14×y</a:t>
            </a:r>
            <a:r>
              <a:rPr lang="ja-JP" altLang="en-US" sz="2000" dirty="0"/>
              <a:t>方向</a:t>
            </a:r>
            <a:r>
              <a:rPr lang="en-US" altLang="ja-JP" sz="2000" dirty="0"/>
              <a:t>14</a:t>
            </a:r>
            <a:r>
              <a:rPr lang="ja-JP" altLang="en-US" sz="2000" dirty="0"/>
              <a:t>に分割し、各範囲で電子回折図形を計算</a:t>
            </a:r>
            <a:endParaRPr lang="en-US" altLang="ja-JP" sz="2000" dirty="0"/>
          </a:p>
          <a:p>
            <a:pPr marL="0" indent="0">
              <a:spcBef>
                <a:spcPts val="600"/>
              </a:spcBef>
              <a:buNone/>
            </a:pPr>
            <a:r>
              <a:rPr lang="ja-JP" altLang="en-US" sz="2000" dirty="0"/>
              <a:t>・加速電圧：</a:t>
            </a:r>
            <a:r>
              <a:rPr lang="en-US" altLang="ja-JP" sz="2000" dirty="0"/>
              <a:t>200[keV]</a:t>
            </a:r>
          </a:p>
          <a:p>
            <a:pPr marL="0" indent="0">
              <a:spcBef>
                <a:spcPts val="600"/>
              </a:spcBef>
              <a:buNone/>
            </a:pPr>
            <a:r>
              <a:rPr lang="ja-JP" altLang="en-US" sz="2000" dirty="0"/>
              <a:t>・半開き角：</a:t>
            </a:r>
            <a:r>
              <a:rPr lang="en-US" altLang="ja-JP" sz="2000" dirty="0"/>
              <a:t>3[</a:t>
            </a:r>
            <a:r>
              <a:rPr lang="en-US" altLang="ja-JP" sz="2000" dirty="0" err="1"/>
              <a:t>mrad</a:t>
            </a:r>
            <a:r>
              <a:rPr lang="en-US" altLang="ja-JP" sz="2000" dirty="0"/>
              <a:t>]</a:t>
            </a:r>
          </a:p>
          <a:p>
            <a:pPr marL="0" indent="0">
              <a:spcBef>
                <a:spcPts val="600"/>
              </a:spcBef>
              <a:buNone/>
            </a:pPr>
            <a:r>
              <a:rPr lang="ja-JP" altLang="en-US" sz="2000" dirty="0"/>
              <a:t>・振幅</a:t>
            </a:r>
            <a:r>
              <a:rPr lang="en-US" altLang="ja-JP" sz="2000" dirty="0" err="1"/>
              <a:t>Vmin</a:t>
            </a:r>
            <a:r>
              <a:rPr lang="ja-JP" altLang="en-US" sz="2000" dirty="0"/>
              <a:t>：</a:t>
            </a:r>
            <a:r>
              <a:rPr lang="en-US" altLang="ja-JP" sz="2000" dirty="0"/>
              <a:t>0</a:t>
            </a:r>
          </a:p>
          <a:p>
            <a:pPr marL="0" indent="0">
              <a:spcBef>
                <a:spcPts val="600"/>
              </a:spcBef>
              <a:buNone/>
            </a:pPr>
            <a:r>
              <a:rPr lang="ja-JP" altLang="en-US" sz="2000" dirty="0"/>
              <a:t>・振幅</a:t>
            </a:r>
            <a:r>
              <a:rPr lang="en-US" altLang="ja-JP" sz="2000" dirty="0"/>
              <a:t>Vmax</a:t>
            </a:r>
            <a:r>
              <a:rPr lang="ja-JP" altLang="en-US" sz="2000" dirty="0"/>
              <a:t>：</a:t>
            </a:r>
            <a:r>
              <a:rPr lang="en-US" altLang="ja-JP" sz="2000" dirty="0"/>
              <a:t>1.0×10</a:t>
            </a:r>
            <a:r>
              <a:rPr lang="en-US" altLang="ja-JP" sz="2000" baseline="30000" dirty="0"/>
              <a:t>-5</a:t>
            </a:r>
            <a:endParaRPr lang="en-US" altLang="ja-JP" sz="2000" dirty="0"/>
          </a:p>
          <a:p>
            <a:pPr>
              <a:spcBef>
                <a:spcPts val="600"/>
              </a:spcBef>
            </a:pPr>
            <a:r>
              <a:rPr lang="ja-JP" altLang="en-US" sz="2000" dirty="0"/>
              <a:t>・</a:t>
            </a:r>
            <a:r>
              <a:rPr lang="en-US" altLang="ja-JP" sz="2000" dirty="0" err="1"/>
              <a:t>abTEM</a:t>
            </a:r>
            <a:r>
              <a:rPr lang="ja-JP" altLang="en-US" sz="2000" dirty="0"/>
              <a:t>を使用</a:t>
            </a:r>
            <a:endParaRPr lang="en-US" altLang="ja-JP" sz="2000" dirty="0"/>
          </a:p>
        </p:txBody>
      </p:sp>
      <p:sp>
        <p:nvSpPr>
          <p:cNvPr id="23" name="テキスト ボックス 22">
            <a:extLst>
              <a:ext uri="{FF2B5EF4-FFF2-40B4-BE49-F238E27FC236}">
                <a16:creationId xmlns:a16="http://schemas.microsoft.com/office/drawing/2014/main" id="{8B9B633D-C8B7-F82F-C2C8-4669FE742429}"/>
              </a:ext>
            </a:extLst>
          </p:cNvPr>
          <p:cNvSpPr txBox="1"/>
          <p:nvPr/>
        </p:nvSpPr>
        <p:spPr>
          <a:xfrm>
            <a:off x="6319574" y="1705909"/>
            <a:ext cx="5606127" cy="3093154"/>
          </a:xfrm>
          <a:prstGeom prst="rect">
            <a:avLst/>
          </a:prstGeom>
          <a:noFill/>
        </p:spPr>
        <p:txBody>
          <a:bodyPr wrap="square" rtlCol="0">
            <a:spAutoFit/>
          </a:bodyPr>
          <a:lstStyle/>
          <a:p>
            <a:pPr marL="0" indent="0">
              <a:spcBef>
                <a:spcPts val="600"/>
              </a:spcBef>
              <a:buNone/>
            </a:pPr>
            <a:r>
              <a:rPr lang="ja-JP" altLang="en-US" sz="2000" b="1" dirty="0">
                <a:highlight>
                  <a:srgbClr val="FFFF00"/>
                </a:highlight>
              </a:rPr>
              <a:t>中距離秩序構造の抽出</a:t>
            </a:r>
            <a:endParaRPr lang="en-US" altLang="ja-JP" sz="2000" b="1" dirty="0">
              <a:highlight>
                <a:srgbClr val="FFFF00"/>
              </a:highlight>
            </a:endParaRPr>
          </a:p>
          <a:p>
            <a:pPr marL="0" indent="0">
              <a:spcBef>
                <a:spcPts val="600"/>
              </a:spcBef>
              <a:buNone/>
            </a:pPr>
            <a:r>
              <a:rPr lang="ja-JP" altLang="en-US" sz="2000" dirty="0"/>
              <a:t>・計算された回折図形同士を</a:t>
            </a:r>
            <a:endParaRPr lang="en-US" altLang="ja-JP" sz="2000" dirty="0"/>
          </a:p>
          <a:p>
            <a:pPr marL="0" indent="0">
              <a:spcBef>
                <a:spcPts val="600"/>
              </a:spcBef>
              <a:buNone/>
            </a:pPr>
            <a:r>
              <a:rPr lang="ja-JP" altLang="en-US" sz="2000" dirty="0"/>
              <a:t>比較し、特徴的な図形を調査</a:t>
            </a:r>
            <a:endParaRPr lang="en-US" altLang="ja-JP" sz="2000" dirty="0"/>
          </a:p>
          <a:p>
            <a:pPr marL="0" indent="0">
              <a:spcBef>
                <a:spcPts val="600"/>
              </a:spcBef>
              <a:buNone/>
            </a:pPr>
            <a:r>
              <a:rPr lang="ja-JP" altLang="en-US" sz="2000" dirty="0"/>
              <a:t>・モデルから該当箇所付近の</a:t>
            </a:r>
            <a:endParaRPr lang="en-US" altLang="ja-JP" sz="2000" dirty="0"/>
          </a:p>
          <a:p>
            <a:pPr marL="0" indent="0">
              <a:spcBef>
                <a:spcPts val="600"/>
              </a:spcBef>
              <a:buNone/>
            </a:pPr>
            <a:r>
              <a:rPr lang="ja-JP" altLang="en-US" sz="2000" dirty="0"/>
              <a:t>構造を抽出</a:t>
            </a:r>
          </a:p>
          <a:p>
            <a:pPr marL="0" indent="0">
              <a:spcBef>
                <a:spcPts val="600"/>
              </a:spcBef>
              <a:buNone/>
            </a:pPr>
            <a:r>
              <a:rPr lang="ja-JP" altLang="en-US" sz="2000" dirty="0"/>
              <a:t>・構造について調査し、</a:t>
            </a:r>
            <a:endParaRPr lang="en-US" altLang="ja-JP" sz="2000" dirty="0"/>
          </a:p>
          <a:p>
            <a:pPr marL="0" indent="0">
              <a:spcBef>
                <a:spcPts val="600"/>
              </a:spcBef>
              <a:buNone/>
            </a:pPr>
            <a:r>
              <a:rPr lang="ja-JP" altLang="en-US" sz="2000" dirty="0"/>
              <a:t>コラム状の構造から中距離</a:t>
            </a:r>
            <a:endParaRPr lang="en-US" altLang="ja-JP" sz="2000" dirty="0"/>
          </a:p>
          <a:p>
            <a:pPr marL="0" indent="0">
              <a:spcBef>
                <a:spcPts val="600"/>
              </a:spcBef>
              <a:buNone/>
            </a:pPr>
            <a:r>
              <a:rPr lang="ja-JP" altLang="en-US" sz="2000" dirty="0"/>
              <a:t>秩序構造を抽出</a:t>
            </a:r>
            <a:endParaRPr lang="en-US" altLang="ja-JP" sz="2000" dirty="0"/>
          </a:p>
        </p:txBody>
      </p:sp>
      <p:sp>
        <p:nvSpPr>
          <p:cNvPr id="20" name="直方体 19">
            <a:extLst>
              <a:ext uri="{FF2B5EF4-FFF2-40B4-BE49-F238E27FC236}">
                <a16:creationId xmlns:a16="http://schemas.microsoft.com/office/drawing/2014/main" id="{B9F4CA96-2224-E2BF-9F40-02BAC5BEC85A}"/>
              </a:ext>
            </a:extLst>
          </p:cNvPr>
          <p:cNvSpPr/>
          <p:nvPr/>
        </p:nvSpPr>
        <p:spPr>
          <a:xfrm>
            <a:off x="4693625" y="2157186"/>
            <a:ext cx="1080000" cy="1080000"/>
          </a:xfrm>
          <a:prstGeom prst="cube">
            <a:avLst/>
          </a:prstGeom>
          <a:solidFill>
            <a:srgbClr val="4E95D9">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正方形/長方形 20">
            <a:extLst>
              <a:ext uri="{FF2B5EF4-FFF2-40B4-BE49-F238E27FC236}">
                <a16:creationId xmlns:a16="http://schemas.microsoft.com/office/drawing/2014/main" id="{6DDE7CAF-3811-08E2-F178-EBAF8FD4BF34}"/>
              </a:ext>
            </a:extLst>
          </p:cNvPr>
          <p:cNvSpPr/>
          <p:nvPr/>
        </p:nvSpPr>
        <p:spPr>
          <a:xfrm>
            <a:off x="4837625" y="2301186"/>
            <a:ext cx="792000" cy="792000"/>
          </a:xfrm>
          <a:prstGeom prst="rect">
            <a:avLst/>
          </a:prstGeom>
          <a:solidFill>
            <a:schemeClr val="accent1">
              <a:lumMod val="75000"/>
              <a:alpha val="67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96D7DE39-E313-EEC2-367C-54DA36626A43}"/>
              </a:ext>
            </a:extLst>
          </p:cNvPr>
          <p:cNvSpPr/>
          <p:nvPr/>
        </p:nvSpPr>
        <p:spPr>
          <a:xfrm>
            <a:off x="4892885" y="2249816"/>
            <a:ext cx="792000" cy="792000"/>
          </a:xfrm>
          <a:prstGeom prst="rect">
            <a:avLst/>
          </a:prstGeom>
          <a:solidFill>
            <a:schemeClr val="accent1">
              <a:lumMod val="75000"/>
              <a:alpha val="67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7688FDD3-24FE-1FE6-47DF-3D9688699237}"/>
              </a:ext>
            </a:extLst>
          </p:cNvPr>
          <p:cNvSpPr txBox="1"/>
          <p:nvPr/>
        </p:nvSpPr>
        <p:spPr>
          <a:xfrm>
            <a:off x="6319573" y="5017337"/>
            <a:ext cx="5606127" cy="1092607"/>
          </a:xfrm>
          <a:prstGeom prst="rect">
            <a:avLst/>
          </a:prstGeom>
          <a:noFill/>
        </p:spPr>
        <p:txBody>
          <a:bodyPr wrap="square">
            <a:spAutoFit/>
          </a:bodyPr>
          <a:lstStyle/>
          <a:p>
            <a:pPr marL="0" indent="0">
              <a:spcBef>
                <a:spcPts val="600"/>
              </a:spcBef>
              <a:buNone/>
            </a:pPr>
            <a:r>
              <a:rPr lang="ja-JP" altLang="en-US" sz="2000" b="1" dirty="0">
                <a:highlight>
                  <a:srgbClr val="FFFF00"/>
                </a:highlight>
              </a:rPr>
              <a:t>逆空間と実空間の対応関係の検討</a:t>
            </a:r>
            <a:endParaRPr lang="en-US" altLang="ja-JP" sz="2000" b="1" dirty="0">
              <a:highlight>
                <a:srgbClr val="FFFF00"/>
              </a:highlight>
            </a:endParaRPr>
          </a:p>
          <a:p>
            <a:pPr marL="0" indent="0">
              <a:spcBef>
                <a:spcPts val="600"/>
              </a:spcBef>
              <a:buNone/>
            </a:pPr>
            <a:r>
              <a:rPr lang="ja-JP" altLang="en-US" sz="2000" dirty="0"/>
              <a:t>・構造とその回折図形の比較結果から、どのような関連性が見られるかを考察</a:t>
            </a:r>
            <a:endParaRPr kumimoji="1" lang="ja-JP" altLang="en-US" sz="2000" b="1" dirty="0">
              <a:highlight>
                <a:srgbClr val="FFFF00"/>
              </a:highlight>
            </a:endParaRPr>
          </a:p>
        </p:txBody>
      </p:sp>
      <p:pic>
        <p:nvPicPr>
          <p:cNvPr id="7" name="図 6" descr="カラフルな光のcg&#10;&#10;自動的に生成された説明">
            <a:extLst>
              <a:ext uri="{FF2B5EF4-FFF2-40B4-BE49-F238E27FC236}">
                <a16:creationId xmlns:a16="http://schemas.microsoft.com/office/drawing/2014/main" id="{96916AB3-F4B3-37B4-9E46-2E6A196C5F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7900" y="2189992"/>
            <a:ext cx="1917801" cy="2124987"/>
          </a:xfrm>
          <a:prstGeom prst="rect">
            <a:avLst/>
          </a:prstGeom>
        </p:spPr>
      </p:pic>
    </p:spTree>
    <p:extLst>
      <p:ext uri="{BB962C8B-B14F-4D97-AF65-F5344CB8AC3E}">
        <p14:creationId xmlns:p14="http://schemas.microsoft.com/office/powerpoint/2010/main" val="3490493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43CF5A0-0481-527A-4445-DAD164BB9B6C}"/>
              </a:ext>
            </a:extLst>
          </p:cNvPr>
          <p:cNvSpPr>
            <a:spLocks noGrp="1"/>
          </p:cNvSpPr>
          <p:nvPr>
            <p:ph type="title"/>
          </p:nvPr>
        </p:nvSpPr>
        <p:spPr>
          <a:xfrm>
            <a:off x="1371599" y="294538"/>
            <a:ext cx="9895951" cy="1033669"/>
          </a:xfrm>
        </p:spPr>
        <p:txBody>
          <a:bodyPr>
            <a:normAutofit/>
          </a:bodyPr>
          <a:lstStyle/>
          <a:p>
            <a:r>
              <a:rPr kumimoji="1" lang="ja-JP" altLang="en-US" sz="4000" b="1" dirty="0">
                <a:solidFill>
                  <a:srgbClr val="FFFFFF"/>
                </a:solidFill>
              </a:rPr>
              <a:t>結果１ </a:t>
            </a:r>
            <a:r>
              <a:rPr kumimoji="1" lang="en-US" altLang="ja-JP" sz="4000" b="1" dirty="0">
                <a:solidFill>
                  <a:srgbClr val="FFFFFF"/>
                </a:solidFill>
              </a:rPr>
              <a:t>–</a:t>
            </a:r>
            <a:r>
              <a:rPr kumimoji="1" lang="ja-JP" altLang="en-US" sz="4000" b="1" dirty="0">
                <a:solidFill>
                  <a:srgbClr val="FFFFFF"/>
                </a:solidFill>
              </a:rPr>
              <a:t>ガラス構造モデル</a:t>
            </a:r>
            <a:r>
              <a:rPr lang="ja-JP" altLang="en-US" sz="4000" b="1" dirty="0">
                <a:solidFill>
                  <a:srgbClr val="FFFFFF"/>
                </a:solidFill>
              </a:rPr>
              <a:t>の作成</a:t>
            </a:r>
            <a:endParaRPr kumimoji="1" lang="ja-JP" altLang="en-US" sz="4000" b="1" dirty="0">
              <a:solidFill>
                <a:srgbClr val="FFFFFF"/>
              </a:solidFill>
            </a:endParaRPr>
          </a:p>
        </p:txBody>
      </p:sp>
      <p:sp>
        <p:nvSpPr>
          <p:cNvPr id="13" name="テキスト ボックス 12">
            <a:extLst>
              <a:ext uri="{FF2B5EF4-FFF2-40B4-BE49-F238E27FC236}">
                <a16:creationId xmlns:a16="http://schemas.microsoft.com/office/drawing/2014/main" id="{4ADD2EAE-DD92-16F7-987C-9470D658240A}"/>
              </a:ext>
            </a:extLst>
          </p:cNvPr>
          <p:cNvSpPr txBox="1"/>
          <p:nvPr/>
        </p:nvSpPr>
        <p:spPr>
          <a:xfrm>
            <a:off x="123612" y="1708675"/>
            <a:ext cx="4122810" cy="1631216"/>
          </a:xfrm>
          <a:prstGeom prst="rect">
            <a:avLst/>
          </a:prstGeom>
          <a:noFill/>
        </p:spPr>
        <p:txBody>
          <a:bodyPr wrap="square">
            <a:spAutoFit/>
          </a:bodyPr>
          <a:lstStyle/>
          <a:p>
            <a:pPr>
              <a:lnSpc>
                <a:spcPct val="150000"/>
              </a:lnSpc>
            </a:pPr>
            <a:r>
              <a:rPr lang="ja-JP" altLang="en-US" sz="2000" b="1" dirty="0">
                <a:highlight>
                  <a:srgbClr val="FFFF00"/>
                </a:highlight>
              </a:rPr>
              <a:t>作成した構造モデル</a:t>
            </a:r>
            <a:endParaRPr lang="en-US" altLang="ja-JP" sz="2000" b="1" dirty="0">
              <a:highlight>
                <a:srgbClr val="FFFF00"/>
              </a:highlight>
            </a:endParaRPr>
          </a:p>
          <a:p>
            <a:pPr>
              <a:lnSpc>
                <a:spcPct val="150000"/>
              </a:lnSpc>
            </a:pPr>
            <a:r>
              <a:rPr lang="ja-JP" altLang="en-US" sz="2000" dirty="0"/>
              <a:t>・原子数：</a:t>
            </a:r>
            <a:r>
              <a:rPr lang="en-US" altLang="ja-JP" sz="2000" dirty="0"/>
              <a:t>108000</a:t>
            </a:r>
          </a:p>
          <a:p>
            <a:r>
              <a:rPr lang="ja-JP" altLang="en-US" sz="2000" dirty="0"/>
              <a:t>・大きさ：</a:t>
            </a:r>
            <a:endParaRPr lang="en-US" altLang="ja-JP" sz="2000" dirty="0"/>
          </a:p>
          <a:p>
            <a:r>
              <a:rPr lang="en-US" altLang="ja-JP" sz="2000" dirty="0"/>
              <a:t>120.55× 120.55×120.55[Å]</a:t>
            </a:r>
          </a:p>
        </p:txBody>
      </p:sp>
      <p:graphicFrame>
        <p:nvGraphicFramePr>
          <p:cNvPr id="24" name="グラフ 23">
            <a:extLst>
              <a:ext uri="{FF2B5EF4-FFF2-40B4-BE49-F238E27FC236}">
                <a16:creationId xmlns:a16="http://schemas.microsoft.com/office/drawing/2014/main" id="{59EA5906-88B7-0F7F-2FD2-CB8012D1BCDB}"/>
              </a:ext>
            </a:extLst>
          </p:cNvPr>
          <p:cNvGraphicFramePr>
            <a:graphicFrameLocks/>
          </p:cNvGraphicFramePr>
          <p:nvPr>
            <p:extLst>
              <p:ext uri="{D42A27DB-BD31-4B8C-83A1-F6EECF244321}">
                <p14:modId xmlns:p14="http://schemas.microsoft.com/office/powerpoint/2010/main" val="90519238"/>
              </p:ext>
            </p:extLst>
          </p:nvPr>
        </p:nvGraphicFramePr>
        <p:xfrm>
          <a:off x="3874226" y="1590741"/>
          <a:ext cx="8083019" cy="3818459"/>
        </p:xfrm>
        <a:graphic>
          <a:graphicData uri="http://schemas.openxmlformats.org/drawingml/2006/chart">
            <c:chart xmlns:c="http://schemas.openxmlformats.org/drawingml/2006/chart" xmlns:r="http://schemas.openxmlformats.org/officeDocument/2006/relationships" r:id="rId2"/>
          </a:graphicData>
        </a:graphic>
      </p:graphicFrame>
      <p:sp>
        <p:nvSpPr>
          <p:cNvPr id="25" name="テキスト ボックス 24">
            <a:extLst>
              <a:ext uri="{FF2B5EF4-FFF2-40B4-BE49-F238E27FC236}">
                <a16:creationId xmlns:a16="http://schemas.microsoft.com/office/drawing/2014/main" id="{17A3B80F-DEB6-081F-0F82-1179E0941ACB}"/>
              </a:ext>
            </a:extLst>
          </p:cNvPr>
          <p:cNvSpPr txBox="1"/>
          <p:nvPr/>
        </p:nvSpPr>
        <p:spPr>
          <a:xfrm>
            <a:off x="4681706" y="5409200"/>
            <a:ext cx="6867185" cy="1600438"/>
          </a:xfrm>
          <a:prstGeom prst="rect">
            <a:avLst/>
          </a:prstGeom>
          <a:noFill/>
        </p:spPr>
        <p:txBody>
          <a:bodyPr wrap="square" rtlCol="0">
            <a:spAutoFit/>
          </a:bodyPr>
          <a:lstStyle/>
          <a:p>
            <a:r>
              <a:rPr lang="ja-JP" altLang="en-US" sz="2000" b="1" dirty="0"/>
              <a:t>金属結合半径</a:t>
            </a:r>
            <a:endParaRPr lang="en-US" altLang="ja-JP" sz="2000" b="1" dirty="0"/>
          </a:p>
          <a:p>
            <a:r>
              <a:rPr lang="ja-JP" altLang="en-US" sz="2000" dirty="0"/>
              <a:t>・</a:t>
            </a:r>
            <a:r>
              <a:rPr lang="en-US" altLang="ja-JP" sz="2000" dirty="0"/>
              <a:t>Cu</a:t>
            </a:r>
            <a:r>
              <a:rPr lang="ja-JP" altLang="en-US" sz="2000" dirty="0"/>
              <a:t>：</a:t>
            </a:r>
            <a:r>
              <a:rPr lang="en-US" altLang="ja-JP" sz="2000" dirty="0"/>
              <a:t>1.28</a:t>
            </a:r>
            <a:r>
              <a:rPr kumimoji="1" lang="en-US" altLang="ja-JP" sz="2000" dirty="0"/>
              <a:t>Å</a:t>
            </a:r>
            <a:r>
              <a:rPr kumimoji="1" lang="ja-JP" altLang="en-US" sz="2000" dirty="0"/>
              <a:t>　      </a:t>
            </a:r>
            <a:r>
              <a:rPr lang="ja-JP" altLang="en-US" sz="2000" dirty="0"/>
              <a:t>・</a:t>
            </a:r>
            <a:r>
              <a:rPr kumimoji="1" lang="en-US" altLang="ja-JP" sz="2000" dirty="0"/>
              <a:t>Zr</a:t>
            </a:r>
            <a:r>
              <a:rPr kumimoji="1" lang="ja-JP" altLang="en-US" sz="2000" dirty="0"/>
              <a:t>：</a:t>
            </a:r>
            <a:r>
              <a:rPr kumimoji="1" lang="en-US" altLang="ja-JP" sz="2000" dirty="0"/>
              <a:t>1.60Å</a:t>
            </a:r>
            <a:endParaRPr lang="en-US" altLang="ja-JP" sz="2000" b="1" dirty="0"/>
          </a:p>
          <a:p>
            <a:r>
              <a:rPr lang="ja-JP" altLang="en-US" sz="2000" b="1" dirty="0"/>
              <a:t>ピークの位置</a:t>
            </a:r>
            <a:endParaRPr lang="en-US" altLang="ja-JP" sz="2000" b="1" dirty="0"/>
          </a:p>
          <a:p>
            <a:r>
              <a:rPr lang="ja-JP" altLang="en-US" sz="2000" dirty="0"/>
              <a:t>・</a:t>
            </a:r>
            <a:r>
              <a:rPr lang="en-US" altLang="ja-JP" sz="2000" dirty="0"/>
              <a:t>Cu-Cu</a:t>
            </a:r>
            <a:r>
              <a:rPr lang="ja-JP" altLang="en-US" sz="2000" dirty="0"/>
              <a:t>：</a:t>
            </a:r>
            <a:r>
              <a:rPr lang="en-US" altLang="ja-JP" sz="2000" dirty="0"/>
              <a:t>2.55</a:t>
            </a:r>
            <a:r>
              <a:rPr kumimoji="1" lang="en-US" altLang="ja-JP" sz="2000" dirty="0"/>
              <a:t>Å</a:t>
            </a:r>
            <a:r>
              <a:rPr lang="ja-JP" altLang="en-US" sz="2000" dirty="0"/>
              <a:t>　・</a:t>
            </a:r>
            <a:r>
              <a:rPr lang="en-US" altLang="ja-JP" sz="2000" dirty="0"/>
              <a:t>Cu-Zr</a:t>
            </a:r>
            <a:r>
              <a:rPr lang="ja-JP" altLang="en-US" sz="2000" dirty="0"/>
              <a:t>：</a:t>
            </a:r>
            <a:r>
              <a:rPr lang="en-US" altLang="ja-JP" sz="2000" dirty="0"/>
              <a:t>2.75</a:t>
            </a:r>
            <a:r>
              <a:rPr kumimoji="1" lang="en-US" altLang="ja-JP" sz="2000" dirty="0"/>
              <a:t>Å</a:t>
            </a:r>
            <a:r>
              <a:rPr kumimoji="1" lang="ja-JP" altLang="en-US" sz="2000" dirty="0"/>
              <a:t>　</a:t>
            </a:r>
            <a:r>
              <a:rPr lang="ja-JP" altLang="en-US" sz="2000" dirty="0"/>
              <a:t>・</a:t>
            </a:r>
            <a:r>
              <a:rPr lang="en-US" altLang="ja-JP" sz="2000" dirty="0"/>
              <a:t>Zr-Zr</a:t>
            </a:r>
            <a:r>
              <a:rPr lang="ja-JP" altLang="en-US" sz="2000" dirty="0"/>
              <a:t>：</a:t>
            </a:r>
            <a:r>
              <a:rPr lang="en-US" altLang="ja-JP" sz="2000" dirty="0"/>
              <a:t>3.25</a:t>
            </a:r>
            <a:r>
              <a:rPr kumimoji="1" lang="en-US" altLang="ja-JP" sz="2000" dirty="0"/>
              <a:t>Å</a:t>
            </a:r>
          </a:p>
          <a:p>
            <a:endParaRPr kumimoji="1" lang="ja-JP" altLang="en-US" dirty="0"/>
          </a:p>
        </p:txBody>
      </p:sp>
      <p:pic>
        <p:nvPicPr>
          <p:cNvPr id="4" name="図 3">
            <a:extLst>
              <a:ext uri="{FF2B5EF4-FFF2-40B4-BE49-F238E27FC236}">
                <a16:creationId xmlns:a16="http://schemas.microsoft.com/office/drawing/2014/main" id="{C0B64340-5380-BBFC-1323-2B1E892D8884}"/>
              </a:ext>
            </a:extLst>
          </p:cNvPr>
          <p:cNvPicPr>
            <a:picLocks noChangeAspect="1"/>
          </p:cNvPicPr>
          <p:nvPr/>
        </p:nvPicPr>
        <p:blipFill>
          <a:blip r:embed="rId3"/>
          <a:stretch>
            <a:fillRect/>
          </a:stretch>
        </p:blipFill>
        <p:spPr>
          <a:xfrm>
            <a:off x="104315" y="3339891"/>
            <a:ext cx="3769911" cy="3406416"/>
          </a:xfrm>
          <a:prstGeom prst="rect">
            <a:avLst/>
          </a:prstGeom>
        </p:spPr>
      </p:pic>
    </p:spTree>
    <p:extLst>
      <p:ext uri="{BB962C8B-B14F-4D97-AF65-F5344CB8AC3E}">
        <p14:creationId xmlns:p14="http://schemas.microsoft.com/office/powerpoint/2010/main" val="3693555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5CB30C-E5C0-1CF6-BCF1-6DE53B47C0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D101B7A-A37D-AD8D-43D3-3E5A1653C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07242F9-3C62-94FE-4E4F-931A718AD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080851-23E0-68C9-7C69-4E4F4C293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1B1A00-5E04-D87B-482F-004E91954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C58518A-BBDD-B5C5-AE43-E6CC4927D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826AEF1-3C42-CB2B-AB7B-A4DECB67F3FB}"/>
              </a:ext>
            </a:extLst>
          </p:cNvPr>
          <p:cNvSpPr>
            <a:spLocks noGrp="1"/>
          </p:cNvSpPr>
          <p:nvPr>
            <p:ph type="title"/>
          </p:nvPr>
        </p:nvSpPr>
        <p:spPr>
          <a:xfrm>
            <a:off x="1371599" y="294538"/>
            <a:ext cx="9895951" cy="1033669"/>
          </a:xfrm>
        </p:spPr>
        <p:txBody>
          <a:bodyPr>
            <a:normAutofit/>
          </a:bodyPr>
          <a:lstStyle/>
          <a:p>
            <a:r>
              <a:rPr kumimoji="1" lang="ja-JP" altLang="en-US" sz="4000" b="1">
                <a:solidFill>
                  <a:srgbClr val="FFFFFF"/>
                </a:solidFill>
              </a:rPr>
              <a:t>結果２ </a:t>
            </a:r>
            <a:r>
              <a:rPr kumimoji="1" lang="en-US" altLang="ja-JP" sz="4000" b="1">
                <a:solidFill>
                  <a:srgbClr val="FFFFFF"/>
                </a:solidFill>
              </a:rPr>
              <a:t>–</a:t>
            </a:r>
            <a:r>
              <a:rPr kumimoji="1" lang="ja-JP" altLang="en-US" sz="4000" b="1">
                <a:solidFill>
                  <a:srgbClr val="FFFFFF"/>
                </a:solidFill>
              </a:rPr>
              <a:t>ガラス構造からの電子回折計算</a:t>
            </a:r>
            <a:endParaRPr kumimoji="1" lang="ja-JP" altLang="en-US" sz="4000" b="1" dirty="0">
              <a:solidFill>
                <a:srgbClr val="FFFFFF"/>
              </a:solidFill>
            </a:endParaRPr>
          </a:p>
        </p:txBody>
      </p:sp>
      <p:pic>
        <p:nvPicPr>
          <p:cNvPr id="1026" name="Picture 2">
            <a:extLst>
              <a:ext uri="{FF2B5EF4-FFF2-40B4-BE49-F238E27FC236}">
                <a16:creationId xmlns:a16="http://schemas.microsoft.com/office/drawing/2014/main" id="{83895C71-D19A-1AC7-6F8A-60E3C9BBE1D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625724" y="2087347"/>
            <a:ext cx="4933598" cy="2521373"/>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F269EE8D-859B-8E1B-0B65-AA295A1A1FF6}"/>
              </a:ext>
            </a:extLst>
          </p:cNvPr>
          <p:cNvSpPr txBox="1"/>
          <p:nvPr/>
        </p:nvSpPr>
        <p:spPr>
          <a:xfrm>
            <a:off x="6255724" y="4989459"/>
            <a:ext cx="5818388" cy="1323439"/>
          </a:xfrm>
          <a:prstGeom prst="rect">
            <a:avLst/>
          </a:prstGeom>
          <a:noFill/>
        </p:spPr>
        <p:txBody>
          <a:bodyPr wrap="square" rtlCol="0">
            <a:spAutoFit/>
          </a:bodyPr>
          <a:lstStyle/>
          <a:p>
            <a:r>
              <a:rPr lang="ja-JP" altLang="en-US" sz="2000" dirty="0"/>
              <a:t>・原子数</a:t>
            </a:r>
            <a:r>
              <a:rPr lang="en-US" altLang="ja-JP" sz="2000" dirty="0"/>
              <a:t>108000</a:t>
            </a:r>
            <a:r>
              <a:rPr lang="ja-JP" altLang="en-US" sz="2000" dirty="0"/>
              <a:t>の分子動力学モデルの</a:t>
            </a:r>
            <a:r>
              <a:rPr lang="en-US" altLang="ja-JP" sz="2000" dirty="0"/>
              <a:t>Z</a:t>
            </a:r>
            <a:r>
              <a:rPr lang="ja-JP" altLang="en-US" sz="2000" dirty="0"/>
              <a:t>軸方向から電子線を入射して電子回折図形を計算</a:t>
            </a:r>
            <a:endParaRPr kumimoji="1" lang="en-US" altLang="ja-JP" sz="2000" dirty="0"/>
          </a:p>
          <a:p>
            <a:r>
              <a:rPr kumimoji="1" lang="ja-JP" altLang="en-US" sz="2000" dirty="0"/>
              <a:t>・</a:t>
            </a:r>
            <a:r>
              <a:rPr lang="en-US" altLang="ja-JP" sz="2000" dirty="0"/>
              <a:t>Q=2πk=2.70[Å</a:t>
            </a:r>
            <a:r>
              <a:rPr lang="en-US" altLang="ja-JP" sz="2000" baseline="30000" dirty="0"/>
              <a:t>-1</a:t>
            </a:r>
            <a:r>
              <a:rPr lang="en-US" altLang="ja-JP" sz="2000" dirty="0"/>
              <a:t>]</a:t>
            </a:r>
            <a:r>
              <a:rPr lang="ja-JP" altLang="en-US" sz="2000" dirty="0"/>
              <a:t>付近ではっきりとした</a:t>
            </a:r>
            <a:endParaRPr lang="en-US" altLang="ja-JP" sz="2000" dirty="0"/>
          </a:p>
          <a:p>
            <a:r>
              <a:rPr lang="ja-JP" altLang="en-US" sz="2000" u="sng" dirty="0"/>
              <a:t>ハローリングの存在を確認</a:t>
            </a:r>
            <a:r>
              <a:rPr lang="ja-JP" altLang="en-US" sz="2000" dirty="0"/>
              <a:t>できる</a:t>
            </a:r>
            <a:endParaRPr lang="en-US" altLang="ja-JP" sz="2000" dirty="0"/>
          </a:p>
        </p:txBody>
      </p:sp>
      <p:sp>
        <p:nvSpPr>
          <p:cNvPr id="5" name="テキスト ボックス 4">
            <a:extLst>
              <a:ext uri="{FF2B5EF4-FFF2-40B4-BE49-F238E27FC236}">
                <a16:creationId xmlns:a16="http://schemas.microsoft.com/office/drawing/2014/main" id="{EE7F1020-9714-B412-B549-7CC565286315}"/>
              </a:ext>
            </a:extLst>
          </p:cNvPr>
          <p:cNvSpPr txBox="1"/>
          <p:nvPr/>
        </p:nvSpPr>
        <p:spPr>
          <a:xfrm>
            <a:off x="1600085" y="4561235"/>
            <a:ext cx="3826689" cy="923330"/>
          </a:xfrm>
          <a:prstGeom prst="rect">
            <a:avLst/>
          </a:prstGeom>
          <a:noFill/>
        </p:spPr>
        <p:txBody>
          <a:bodyPr wrap="none" rtlCol="0">
            <a:spAutoFit/>
          </a:bodyPr>
          <a:lstStyle/>
          <a:p>
            <a:r>
              <a:rPr kumimoji="1" lang="ja-JP" altLang="en-US" dirty="0"/>
              <a:t>作成したモデルの</a:t>
            </a:r>
            <a:r>
              <a:rPr kumimoji="1" lang="en-US" altLang="ja-JP" dirty="0"/>
              <a:t>X</a:t>
            </a:r>
            <a:r>
              <a:rPr kumimoji="1" lang="ja-JP" altLang="en-US" dirty="0"/>
              <a:t>線構造因子</a:t>
            </a:r>
            <a:r>
              <a:rPr kumimoji="1" lang="en-US" altLang="ja-JP" dirty="0"/>
              <a:t>S(Q)</a:t>
            </a:r>
          </a:p>
          <a:p>
            <a:endParaRPr lang="en-US" altLang="ja-JP" dirty="0"/>
          </a:p>
          <a:p>
            <a:endParaRPr kumimoji="1" lang="ja-JP" altLang="en-US" dirty="0"/>
          </a:p>
        </p:txBody>
      </p:sp>
      <p:sp>
        <p:nvSpPr>
          <p:cNvPr id="6" name="テキスト ボックス 5">
            <a:extLst>
              <a:ext uri="{FF2B5EF4-FFF2-40B4-BE49-F238E27FC236}">
                <a16:creationId xmlns:a16="http://schemas.microsoft.com/office/drawing/2014/main" id="{4C063E84-7145-B2A5-6832-199E0B834246}"/>
              </a:ext>
            </a:extLst>
          </p:cNvPr>
          <p:cNvSpPr txBox="1"/>
          <p:nvPr/>
        </p:nvSpPr>
        <p:spPr>
          <a:xfrm>
            <a:off x="6183329" y="4561235"/>
            <a:ext cx="5818388" cy="677108"/>
          </a:xfrm>
          <a:prstGeom prst="rect">
            <a:avLst/>
          </a:prstGeom>
          <a:noFill/>
        </p:spPr>
        <p:txBody>
          <a:bodyPr wrap="none" rtlCol="0">
            <a:spAutoFit/>
          </a:bodyPr>
          <a:lstStyle/>
          <a:p>
            <a:pPr algn="ctr"/>
            <a:r>
              <a:rPr kumimoji="1" lang="ja-JP" altLang="en-US" dirty="0"/>
              <a:t>作成した</a:t>
            </a:r>
            <a:r>
              <a:rPr lang="ja-JP" altLang="en-US" dirty="0"/>
              <a:t>構造</a:t>
            </a:r>
            <a:r>
              <a:rPr kumimoji="1" lang="ja-JP" altLang="en-US" dirty="0"/>
              <a:t>モデル全体から得られた電子回折図形</a:t>
            </a:r>
            <a:endParaRPr kumimoji="1" lang="en-US" altLang="ja-JP" dirty="0"/>
          </a:p>
          <a:p>
            <a:endParaRPr kumimoji="1" lang="ja-JP" altLang="en-US" sz="2000" dirty="0"/>
          </a:p>
        </p:txBody>
      </p:sp>
      <p:sp>
        <p:nvSpPr>
          <p:cNvPr id="19" name="テキスト ボックス 18">
            <a:extLst>
              <a:ext uri="{FF2B5EF4-FFF2-40B4-BE49-F238E27FC236}">
                <a16:creationId xmlns:a16="http://schemas.microsoft.com/office/drawing/2014/main" id="{CEFF36AE-AC3E-12FC-FF6D-4A668BB6CE1C}"/>
              </a:ext>
            </a:extLst>
          </p:cNvPr>
          <p:cNvSpPr txBox="1"/>
          <p:nvPr/>
        </p:nvSpPr>
        <p:spPr>
          <a:xfrm>
            <a:off x="557907" y="5022900"/>
            <a:ext cx="5294907" cy="1015663"/>
          </a:xfrm>
          <a:prstGeom prst="rect">
            <a:avLst/>
          </a:prstGeom>
          <a:noFill/>
        </p:spPr>
        <p:txBody>
          <a:bodyPr wrap="square" rtlCol="0">
            <a:spAutoFit/>
          </a:bodyPr>
          <a:lstStyle/>
          <a:p>
            <a:r>
              <a:rPr kumimoji="1" lang="ja-JP" altLang="en-US" sz="2000" dirty="0"/>
              <a:t>作成したモデルの構造因子は</a:t>
            </a:r>
            <a:r>
              <a:rPr kumimoji="1" lang="en-US" altLang="ja-JP" sz="2000" dirty="0"/>
              <a:t>Q=2.70</a:t>
            </a:r>
            <a:r>
              <a:rPr lang="en-US" altLang="ja-JP" sz="2000" dirty="0"/>
              <a:t> [Å</a:t>
            </a:r>
            <a:r>
              <a:rPr lang="en-US" altLang="ja-JP" sz="2000" baseline="30000" dirty="0"/>
              <a:t>-1</a:t>
            </a:r>
            <a:r>
              <a:rPr lang="en-US" altLang="ja-JP" sz="2000" dirty="0"/>
              <a:t>]</a:t>
            </a:r>
            <a:r>
              <a:rPr kumimoji="1" lang="ja-JP" altLang="en-US" sz="2000" dirty="0"/>
              <a:t>でピークが見られ、これは文献の実験データとほぼ一致 ⇒ </a:t>
            </a:r>
            <a:r>
              <a:rPr kumimoji="1" lang="ja-JP" altLang="en-US" sz="2000" u="sng" dirty="0"/>
              <a:t>モデルの妥当性</a:t>
            </a:r>
            <a:r>
              <a:rPr kumimoji="1" lang="ja-JP" altLang="en-US" sz="2000" dirty="0"/>
              <a:t>が確認できた</a:t>
            </a:r>
            <a:endParaRPr kumimoji="1" lang="en-US" altLang="ja-JP" sz="2000" dirty="0"/>
          </a:p>
        </p:txBody>
      </p:sp>
      <p:sp>
        <p:nvSpPr>
          <p:cNvPr id="22" name="テキスト ボックス 21">
            <a:extLst>
              <a:ext uri="{FF2B5EF4-FFF2-40B4-BE49-F238E27FC236}">
                <a16:creationId xmlns:a16="http://schemas.microsoft.com/office/drawing/2014/main" id="{24E9C182-0699-B017-7DA6-DB296B9E4AD4}"/>
              </a:ext>
            </a:extLst>
          </p:cNvPr>
          <p:cNvSpPr txBox="1"/>
          <p:nvPr/>
        </p:nvSpPr>
        <p:spPr>
          <a:xfrm>
            <a:off x="459350" y="1707304"/>
            <a:ext cx="1641796" cy="400110"/>
          </a:xfrm>
          <a:prstGeom prst="rect">
            <a:avLst/>
          </a:prstGeom>
          <a:noFill/>
        </p:spPr>
        <p:txBody>
          <a:bodyPr wrap="none" rtlCol="0">
            <a:spAutoFit/>
          </a:bodyPr>
          <a:lstStyle/>
          <a:p>
            <a:r>
              <a:rPr kumimoji="1" lang="en-US" altLang="ja-JP" sz="2000" b="1" dirty="0">
                <a:highlight>
                  <a:srgbClr val="FFFF00"/>
                </a:highlight>
              </a:rPr>
              <a:t>X</a:t>
            </a:r>
            <a:r>
              <a:rPr kumimoji="1" lang="ja-JP" altLang="en-US" sz="2000" b="1" dirty="0">
                <a:highlight>
                  <a:srgbClr val="FFFF00"/>
                </a:highlight>
              </a:rPr>
              <a:t>線構造因子</a:t>
            </a:r>
          </a:p>
        </p:txBody>
      </p:sp>
      <p:sp>
        <p:nvSpPr>
          <p:cNvPr id="23" name="テキスト ボックス 22">
            <a:extLst>
              <a:ext uri="{FF2B5EF4-FFF2-40B4-BE49-F238E27FC236}">
                <a16:creationId xmlns:a16="http://schemas.microsoft.com/office/drawing/2014/main" id="{D601B81F-4A4E-F143-EDEF-DBD01A665747}"/>
              </a:ext>
            </a:extLst>
          </p:cNvPr>
          <p:cNvSpPr txBox="1"/>
          <p:nvPr/>
        </p:nvSpPr>
        <p:spPr>
          <a:xfrm>
            <a:off x="6319574" y="1705910"/>
            <a:ext cx="1723549" cy="400110"/>
          </a:xfrm>
          <a:prstGeom prst="rect">
            <a:avLst/>
          </a:prstGeom>
          <a:noFill/>
        </p:spPr>
        <p:txBody>
          <a:bodyPr wrap="none" rtlCol="0">
            <a:spAutoFit/>
          </a:bodyPr>
          <a:lstStyle/>
          <a:p>
            <a:r>
              <a:rPr lang="ja-JP" altLang="en-US" sz="2000" b="1" dirty="0">
                <a:highlight>
                  <a:srgbClr val="FFFF00"/>
                </a:highlight>
              </a:rPr>
              <a:t>電子回折図形</a:t>
            </a:r>
            <a:endParaRPr kumimoji="1" lang="ja-JP" altLang="en-US" sz="2000" b="1" dirty="0">
              <a:highlight>
                <a:srgbClr val="FFFF00"/>
              </a:highlight>
            </a:endParaRPr>
          </a:p>
        </p:txBody>
      </p:sp>
      <p:sp>
        <p:nvSpPr>
          <p:cNvPr id="27" name="正方形/長方形 26">
            <a:extLst>
              <a:ext uri="{FF2B5EF4-FFF2-40B4-BE49-F238E27FC236}">
                <a16:creationId xmlns:a16="http://schemas.microsoft.com/office/drawing/2014/main" id="{867316B8-28F3-C2FD-4787-5596740DB9A1}"/>
              </a:ext>
            </a:extLst>
          </p:cNvPr>
          <p:cNvSpPr/>
          <p:nvPr/>
        </p:nvSpPr>
        <p:spPr>
          <a:xfrm>
            <a:off x="3704369" y="2178993"/>
            <a:ext cx="1817913" cy="7870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3411F106-2B5E-BA05-E884-8CB02D48F4BB}"/>
              </a:ext>
            </a:extLst>
          </p:cNvPr>
          <p:cNvSpPr txBox="1"/>
          <p:nvPr/>
        </p:nvSpPr>
        <p:spPr>
          <a:xfrm>
            <a:off x="459350" y="6237423"/>
            <a:ext cx="5492022" cy="646331"/>
          </a:xfrm>
          <a:prstGeom prst="rect">
            <a:avLst/>
          </a:prstGeom>
          <a:noFill/>
        </p:spPr>
        <p:txBody>
          <a:bodyPr wrap="square">
            <a:spAutoFit/>
          </a:bodyPr>
          <a:lstStyle/>
          <a:p>
            <a:r>
              <a:rPr kumimoji="1" lang="en-US" altLang="ja-JP" dirty="0"/>
              <a:t>Ref) Y. Liu </a:t>
            </a:r>
            <a:r>
              <a:rPr kumimoji="1" lang="en-US" altLang="ja-JP" i="1" dirty="0"/>
              <a:t>et al</a:t>
            </a:r>
            <a:r>
              <a:rPr kumimoji="1" lang="en-US" altLang="ja-JP" dirty="0"/>
              <a:t>.,</a:t>
            </a:r>
            <a:r>
              <a:rPr lang="ja-JP" altLang="en-US" dirty="0"/>
              <a:t> </a:t>
            </a:r>
            <a:r>
              <a:rPr lang="en-US" altLang="ja-JP" dirty="0"/>
              <a:t>J. Alloys</a:t>
            </a:r>
            <a:r>
              <a:rPr lang="ja-JP" altLang="en-US" dirty="0"/>
              <a:t> </a:t>
            </a:r>
            <a:r>
              <a:rPr lang="en-US" altLang="ja-JP" dirty="0"/>
              <a:t>Compd.</a:t>
            </a:r>
            <a:r>
              <a:rPr kumimoji="1" lang="en-US" altLang="ja-JP" dirty="0"/>
              <a:t> 932, 167591</a:t>
            </a:r>
            <a:r>
              <a:rPr lang="en-US" altLang="ja-JP" dirty="0"/>
              <a:t> (</a:t>
            </a:r>
            <a:r>
              <a:rPr kumimoji="1" lang="en-US" altLang="ja-JP" dirty="0"/>
              <a:t>2023)</a:t>
            </a:r>
            <a:endParaRPr kumimoji="1" lang="ja-JP" altLang="en-US" dirty="0"/>
          </a:p>
        </p:txBody>
      </p:sp>
      <p:pic>
        <p:nvPicPr>
          <p:cNvPr id="11" name="図 10" descr="グラフ, 折れ線グラフ, ヒストグラム&#10;&#10;自動的に生成された説明">
            <a:extLst>
              <a:ext uri="{FF2B5EF4-FFF2-40B4-BE49-F238E27FC236}">
                <a16:creationId xmlns:a16="http://schemas.microsoft.com/office/drawing/2014/main" id="{4763B1BE-89E1-B773-352C-5EFFC8D676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906" y="2059097"/>
            <a:ext cx="5132626" cy="2521847"/>
          </a:xfrm>
          <a:prstGeom prst="rect">
            <a:avLst/>
          </a:prstGeom>
        </p:spPr>
      </p:pic>
    </p:spTree>
    <p:extLst>
      <p:ext uri="{BB962C8B-B14F-4D97-AF65-F5344CB8AC3E}">
        <p14:creationId xmlns:p14="http://schemas.microsoft.com/office/powerpoint/2010/main" val="108145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89EAFD-3B3A-CCEE-AC4C-357FC2F606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D5D03C5-A11F-BA74-0F6E-DF95CC4F07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541E3A-AD3B-C8CB-52D1-5308520F48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03C5FF-1ABF-30BD-E75B-5DB5294650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81373A-C7CB-1BA4-EED0-C5B0C3FD6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368DD2-4045-2E71-E0EB-FF0F8BA9D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C6DAAC2-5364-D139-D5E0-C0628C8025A0}"/>
              </a:ext>
            </a:extLst>
          </p:cNvPr>
          <p:cNvSpPr>
            <a:spLocks noGrp="1"/>
          </p:cNvSpPr>
          <p:nvPr>
            <p:ph type="title"/>
          </p:nvPr>
        </p:nvSpPr>
        <p:spPr>
          <a:xfrm>
            <a:off x="1371599" y="294538"/>
            <a:ext cx="9895951" cy="1033669"/>
          </a:xfrm>
        </p:spPr>
        <p:txBody>
          <a:bodyPr>
            <a:normAutofit/>
          </a:bodyPr>
          <a:lstStyle/>
          <a:p>
            <a:r>
              <a:rPr kumimoji="1" lang="ja-JP" altLang="en-US" sz="4000" b="1" dirty="0">
                <a:solidFill>
                  <a:srgbClr val="FFFFFF"/>
                </a:solidFill>
              </a:rPr>
              <a:t>結果３</a:t>
            </a:r>
            <a:r>
              <a:rPr kumimoji="1" lang="en-US" altLang="ja-JP" sz="4000" b="1" dirty="0">
                <a:solidFill>
                  <a:srgbClr val="FFFFFF"/>
                </a:solidFill>
              </a:rPr>
              <a:t> –</a:t>
            </a:r>
            <a:r>
              <a:rPr kumimoji="1" lang="ja-JP" altLang="en-US" sz="4000" b="1" dirty="0">
                <a:solidFill>
                  <a:srgbClr val="FFFFFF"/>
                </a:solidFill>
              </a:rPr>
              <a:t>局所電子回折</a:t>
            </a:r>
            <a:r>
              <a:rPr lang="ja-JP" altLang="en-US" sz="4000" b="1" dirty="0">
                <a:solidFill>
                  <a:srgbClr val="FFFFFF"/>
                </a:solidFill>
              </a:rPr>
              <a:t>計算</a:t>
            </a:r>
            <a:endParaRPr kumimoji="1" lang="ja-JP" altLang="en-US" sz="4000" b="1" dirty="0">
              <a:solidFill>
                <a:srgbClr val="FFFFFF"/>
              </a:solidFill>
            </a:endParaRPr>
          </a:p>
        </p:txBody>
      </p:sp>
      <p:sp>
        <p:nvSpPr>
          <p:cNvPr id="22" name="テキスト ボックス 21">
            <a:extLst>
              <a:ext uri="{FF2B5EF4-FFF2-40B4-BE49-F238E27FC236}">
                <a16:creationId xmlns:a16="http://schemas.microsoft.com/office/drawing/2014/main" id="{EE5FD563-38EA-6C79-DD1E-16E022C674B9}"/>
              </a:ext>
            </a:extLst>
          </p:cNvPr>
          <p:cNvSpPr txBox="1"/>
          <p:nvPr/>
        </p:nvSpPr>
        <p:spPr>
          <a:xfrm>
            <a:off x="306950" y="1707304"/>
            <a:ext cx="4801314" cy="1554272"/>
          </a:xfrm>
          <a:prstGeom prst="rect">
            <a:avLst/>
          </a:prstGeom>
          <a:noFill/>
        </p:spPr>
        <p:txBody>
          <a:bodyPr wrap="none" rtlCol="0">
            <a:spAutoFit/>
          </a:bodyPr>
          <a:lstStyle/>
          <a:p>
            <a:pPr marL="0" indent="0">
              <a:spcBef>
                <a:spcPts val="600"/>
              </a:spcBef>
              <a:buNone/>
            </a:pPr>
            <a:r>
              <a:rPr lang="ja-JP" altLang="en-US" sz="2000" b="1" dirty="0">
                <a:highlight>
                  <a:srgbClr val="FFFF00"/>
                </a:highlight>
              </a:rPr>
              <a:t>スライスしたモデルと局所電子回折計算</a:t>
            </a:r>
            <a:endParaRPr lang="en-US" altLang="ja-JP" sz="2000" b="1" dirty="0">
              <a:highlight>
                <a:srgbClr val="FFFF00"/>
              </a:highlight>
            </a:endParaRPr>
          </a:p>
          <a:p>
            <a:pPr>
              <a:lnSpc>
                <a:spcPct val="150000"/>
              </a:lnSpc>
            </a:pPr>
            <a:r>
              <a:rPr lang="ja-JP" altLang="en-US" sz="2000" dirty="0"/>
              <a:t>・原子数：</a:t>
            </a:r>
            <a:r>
              <a:rPr lang="en-US" altLang="ja-JP" sz="2000" dirty="0"/>
              <a:t>21660</a:t>
            </a:r>
          </a:p>
          <a:p>
            <a:r>
              <a:rPr lang="ja-JP" altLang="en-US" sz="2000" dirty="0"/>
              <a:t>・大きさ：</a:t>
            </a:r>
            <a:r>
              <a:rPr lang="en-US" altLang="ja-JP" sz="2000" dirty="0"/>
              <a:t>120.55× 120.55×25.00[Å]</a:t>
            </a:r>
          </a:p>
          <a:p>
            <a:pPr marL="0" indent="0">
              <a:spcBef>
                <a:spcPts val="600"/>
              </a:spcBef>
              <a:buNone/>
            </a:pPr>
            <a:endParaRPr lang="en-US" altLang="ja-JP" sz="2000" dirty="0"/>
          </a:p>
        </p:txBody>
      </p:sp>
      <p:sp>
        <p:nvSpPr>
          <p:cNvPr id="7" name="テキスト ボックス 6">
            <a:extLst>
              <a:ext uri="{FF2B5EF4-FFF2-40B4-BE49-F238E27FC236}">
                <a16:creationId xmlns:a16="http://schemas.microsoft.com/office/drawing/2014/main" id="{DDAF792E-045D-4744-8BDE-1FB5E6550B72}"/>
              </a:ext>
            </a:extLst>
          </p:cNvPr>
          <p:cNvSpPr txBox="1"/>
          <p:nvPr/>
        </p:nvSpPr>
        <p:spPr>
          <a:xfrm>
            <a:off x="5598299" y="6351139"/>
            <a:ext cx="6096000" cy="369332"/>
          </a:xfrm>
          <a:prstGeom prst="rect">
            <a:avLst/>
          </a:prstGeom>
          <a:noFill/>
        </p:spPr>
        <p:txBody>
          <a:bodyPr wrap="square">
            <a:spAutoFit/>
          </a:bodyPr>
          <a:lstStyle/>
          <a:p>
            <a:pPr algn="ctr"/>
            <a:r>
              <a:rPr lang="ja-JP" altLang="en-US" dirty="0"/>
              <a:t>スライス</a:t>
            </a:r>
            <a:r>
              <a:rPr kumimoji="1" lang="ja-JP" altLang="en-US" dirty="0"/>
              <a:t>したモデルから得られた局所電子回折図形</a:t>
            </a:r>
            <a:endParaRPr kumimoji="1" lang="en-US" altLang="ja-JP" dirty="0"/>
          </a:p>
        </p:txBody>
      </p:sp>
      <p:pic>
        <p:nvPicPr>
          <p:cNvPr id="3" name="Picture 12">
            <a:extLst>
              <a:ext uri="{FF2B5EF4-FFF2-40B4-BE49-F238E27FC236}">
                <a16:creationId xmlns:a16="http://schemas.microsoft.com/office/drawing/2014/main" id="{19C7A886-5D9A-7761-A8E1-E8B20743D8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168" t="6428" r="1140" b="9776"/>
          <a:stretch/>
        </p:blipFill>
        <p:spPr bwMode="auto">
          <a:xfrm>
            <a:off x="6426080" y="1767008"/>
            <a:ext cx="2194680" cy="22107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A8E27A67-33EB-9F6B-E47B-8AF2E63057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367" t="6954" b="9584"/>
          <a:stretch/>
        </p:blipFill>
        <p:spPr bwMode="auto">
          <a:xfrm>
            <a:off x="8620760" y="1780152"/>
            <a:ext cx="2208037" cy="219578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a:extLst>
              <a:ext uri="{FF2B5EF4-FFF2-40B4-BE49-F238E27FC236}">
                <a16:creationId xmlns:a16="http://schemas.microsoft.com/office/drawing/2014/main" id="{B3CB9FBF-651E-1422-F5F4-E64BEA7B991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914" t="6581" r="453" b="9977"/>
          <a:stretch/>
        </p:blipFill>
        <p:spPr bwMode="auto">
          <a:xfrm>
            <a:off x="8617226" y="3970768"/>
            <a:ext cx="2208533" cy="219578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CEA19BB0-EB14-0B3C-1E3B-AA8CC727281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479" t="1102" b="81913"/>
          <a:stretch/>
        </p:blipFill>
        <p:spPr bwMode="auto">
          <a:xfrm>
            <a:off x="6466840" y="1678671"/>
            <a:ext cx="4358919" cy="10065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687AEFD0-33FC-790D-D7EF-998DCE22759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479" t="1102" b="81913"/>
          <a:stretch/>
        </p:blipFill>
        <p:spPr bwMode="auto">
          <a:xfrm rot="16200000">
            <a:off x="4018906" y="3911517"/>
            <a:ext cx="4374000" cy="1009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CA72032-5FCB-BB54-8CB5-8DFCEE4A550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 t="16950" r="93804" b="23406"/>
          <a:stretch/>
        </p:blipFill>
        <p:spPr bwMode="auto">
          <a:xfrm>
            <a:off x="6152952" y="5842977"/>
            <a:ext cx="270090" cy="33060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a:extLst>
              <a:ext uri="{FF2B5EF4-FFF2-40B4-BE49-F238E27FC236}">
                <a16:creationId xmlns:a16="http://schemas.microsoft.com/office/drawing/2014/main" id="{B8BCC07E-8245-302E-1415-81C759F4A51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249" t="6881" r="543" b="9889"/>
          <a:stretch/>
        </p:blipFill>
        <p:spPr bwMode="auto">
          <a:xfrm>
            <a:off x="6426080" y="3975934"/>
            <a:ext cx="2208533" cy="219578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a:extLst>
              <a:ext uri="{FF2B5EF4-FFF2-40B4-BE49-F238E27FC236}">
                <a16:creationId xmlns:a16="http://schemas.microsoft.com/office/drawing/2014/main" id="{E8A3BE13-B381-EF84-8AFC-4B8F2FF3754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287" t="72109" r="87026" b="-1770"/>
          <a:stretch/>
        </p:blipFill>
        <p:spPr bwMode="auto">
          <a:xfrm>
            <a:off x="6403638" y="6189847"/>
            <a:ext cx="335046" cy="164410"/>
          </a:xfrm>
          <a:prstGeom prst="rect">
            <a:avLst/>
          </a:prstGeom>
          <a:noFill/>
          <a:extLst>
            <a:ext uri="{909E8E84-426E-40DD-AFC4-6F175D3DCCD1}">
              <a14:hiddenFill xmlns:a14="http://schemas.microsoft.com/office/drawing/2010/main">
                <a:solidFill>
                  <a:srgbClr val="FFFFFF"/>
                </a:solidFill>
              </a14:hiddenFill>
            </a:ext>
          </a:extLst>
        </p:spPr>
      </p:pic>
      <p:pic>
        <p:nvPicPr>
          <p:cNvPr id="23" name="図 22">
            <a:extLst>
              <a:ext uri="{FF2B5EF4-FFF2-40B4-BE49-F238E27FC236}">
                <a16:creationId xmlns:a16="http://schemas.microsoft.com/office/drawing/2014/main" id="{9917A9D4-9E7C-6260-83CD-EDEF63343CC9}"/>
              </a:ext>
            </a:extLst>
          </p:cNvPr>
          <p:cNvPicPr>
            <a:picLocks noChangeAspect="1"/>
          </p:cNvPicPr>
          <p:nvPr/>
        </p:nvPicPr>
        <p:blipFill>
          <a:blip r:embed="rId9"/>
          <a:stretch>
            <a:fillRect/>
          </a:stretch>
        </p:blipFill>
        <p:spPr>
          <a:xfrm>
            <a:off x="510531" y="2872405"/>
            <a:ext cx="4686490" cy="3942900"/>
          </a:xfrm>
          <a:prstGeom prst="rect">
            <a:avLst/>
          </a:prstGeom>
        </p:spPr>
      </p:pic>
      <p:sp>
        <p:nvSpPr>
          <p:cNvPr id="25" name="テキスト ボックス 24">
            <a:extLst>
              <a:ext uri="{FF2B5EF4-FFF2-40B4-BE49-F238E27FC236}">
                <a16:creationId xmlns:a16="http://schemas.microsoft.com/office/drawing/2014/main" id="{CE91068F-5A73-30CD-5008-F45B7AE1E2A6}"/>
              </a:ext>
            </a:extLst>
          </p:cNvPr>
          <p:cNvSpPr txBox="1"/>
          <p:nvPr/>
        </p:nvSpPr>
        <p:spPr>
          <a:xfrm>
            <a:off x="346214" y="4867709"/>
            <a:ext cx="1017611" cy="401897"/>
          </a:xfrm>
          <a:prstGeom prst="rect">
            <a:avLst/>
          </a:prstGeom>
          <a:noFill/>
        </p:spPr>
        <p:txBody>
          <a:bodyPr wrap="square">
            <a:spAutoFit/>
          </a:bodyPr>
          <a:lstStyle/>
          <a:p>
            <a:pPr marL="0" indent="0">
              <a:spcBef>
                <a:spcPts val="600"/>
              </a:spcBef>
              <a:buNone/>
            </a:pPr>
            <a:r>
              <a:rPr lang="en-US" altLang="ja-JP" sz="2000" dirty="0"/>
              <a:t>2.5 nm</a:t>
            </a:r>
            <a:endParaRPr kumimoji="1" lang="ja-JP" altLang="en-US" sz="2000" b="1" dirty="0">
              <a:highlight>
                <a:srgbClr val="FFFF00"/>
              </a:highlight>
            </a:endParaRPr>
          </a:p>
        </p:txBody>
      </p:sp>
      <p:sp>
        <p:nvSpPr>
          <p:cNvPr id="27" name="フローチャート: 組合せ 26">
            <a:extLst>
              <a:ext uri="{FF2B5EF4-FFF2-40B4-BE49-F238E27FC236}">
                <a16:creationId xmlns:a16="http://schemas.microsoft.com/office/drawing/2014/main" id="{B1CF2425-C106-C09D-A547-6A495D30BA46}"/>
              </a:ext>
            </a:extLst>
          </p:cNvPr>
          <p:cNvSpPr/>
          <p:nvPr/>
        </p:nvSpPr>
        <p:spPr>
          <a:xfrm>
            <a:off x="2467521" y="3759200"/>
            <a:ext cx="130529" cy="461824"/>
          </a:xfrm>
          <a:prstGeom prst="flowChartMerge">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4144BD9E-FFCA-90F6-D861-241A1E201A70}"/>
              </a:ext>
            </a:extLst>
          </p:cNvPr>
          <p:cNvSpPr txBox="1"/>
          <p:nvPr/>
        </p:nvSpPr>
        <p:spPr>
          <a:xfrm>
            <a:off x="2707607" y="3620780"/>
            <a:ext cx="877163" cy="369332"/>
          </a:xfrm>
          <a:prstGeom prst="rect">
            <a:avLst/>
          </a:prstGeom>
          <a:noFill/>
        </p:spPr>
        <p:txBody>
          <a:bodyPr wrap="none" rtlCol="0">
            <a:spAutoFit/>
          </a:bodyPr>
          <a:lstStyle/>
          <a:p>
            <a:r>
              <a:rPr kumimoji="1" lang="ja-JP" altLang="en-US" dirty="0"/>
              <a:t>電子線</a:t>
            </a:r>
          </a:p>
        </p:txBody>
      </p:sp>
    </p:spTree>
    <p:extLst>
      <p:ext uri="{BB962C8B-B14F-4D97-AF65-F5344CB8AC3E}">
        <p14:creationId xmlns:p14="http://schemas.microsoft.com/office/powerpoint/2010/main" val="1689523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BF9BBF-0A3B-627E-CFCC-B3CE9F9BC5A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CAC0BD-A880-EAAF-A968-E90AE5AE1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656F37B-003F-353C-92B4-829EDCD3F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457736-0D3C-9A2D-CDB9-2E3FD2AFD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ED748D0-77A9-44AC-2E1D-012E2B1CB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AE1AAD9-0F2A-5791-0192-4B78672ABF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D2B96AA-9181-657B-BC21-ABFA27BB95B8}"/>
              </a:ext>
            </a:extLst>
          </p:cNvPr>
          <p:cNvSpPr>
            <a:spLocks noGrp="1"/>
          </p:cNvSpPr>
          <p:nvPr>
            <p:ph type="title"/>
          </p:nvPr>
        </p:nvSpPr>
        <p:spPr>
          <a:xfrm>
            <a:off x="1371599" y="294538"/>
            <a:ext cx="9895951" cy="1033669"/>
          </a:xfrm>
        </p:spPr>
        <p:txBody>
          <a:bodyPr>
            <a:normAutofit/>
          </a:bodyPr>
          <a:lstStyle/>
          <a:p>
            <a:r>
              <a:rPr lang="ja-JP" altLang="en-US" sz="4000" b="1" dirty="0">
                <a:solidFill>
                  <a:srgbClr val="FFFFFF"/>
                </a:solidFill>
              </a:rPr>
              <a:t>結果４</a:t>
            </a:r>
            <a:r>
              <a:rPr kumimoji="1" lang="en-US" altLang="ja-JP" sz="4000" b="1" dirty="0">
                <a:solidFill>
                  <a:srgbClr val="FFFFFF"/>
                </a:solidFill>
              </a:rPr>
              <a:t> –</a:t>
            </a:r>
            <a:r>
              <a:rPr kumimoji="1" lang="ja-JP" altLang="en-US" sz="4000" b="1" dirty="0">
                <a:solidFill>
                  <a:srgbClr val="FFFFFF"/>
                </a:solidFill>
              </a:rPr>
              <a:t>回折パターン</a:t>
            </a:r>
          </a:p>
        </p:txBody>
      </p:sp>
      <p:sp>
        <p:nvSpPr>
          <p:cNvPr id="22" name="テキスト ボックス 21">
            <a:extLst>
              <a:ext uri="{FF2B5EF4-FFF2-40B4-BE49-F238E27FC236}">
                <a16:creationId xmlns:a16="http://schemas.microsoft.com/office/drawing/2014/main" id="{61838C83-74D4-2720-CBCE-D0F0420A6DF8}"/>
              </a:ext>
            </a:extLst>
          </p:cNvPr>
          <p:cNvSpPr txBox="1"/>
          <p:nvPr/>
        </p:nvSpPr>
        <p:spPr>
          <a:xfrm>
            <a:off x="271890" y="1866712"/>
            <a:ext cx="11870440" cy="400110"/>
          </a:xfrm>
          <a:prstGeom prst="rect">
            <a:avLst/>
          </a:prstGeom>
          <a:noFill/>
        </p:spPr>
        <p:txBody>
          <a:bodyPr wrap="square" rtlCol="0">
            <a:spAutoFit/>
          </a:bodyPr>
          <a:lstStyle/>
          <a:p>
            <a:pPr marL="0" indent="0">
              <a:spcBef>
                <a:spcPts val="600"/>
              </a:spcBef>
              <a:buNone/>
            </a:pPr>
            <a:r>
              <a:rPr lang="ja-JP" altLang="en-US" sz="2000" b="1" dirty="0">
                <a:highlight>
                  <a:srgbClr val="FFFF00"/>
                </a:highlight>
              </a:rPr>
              <a:t>主な局所電子回折図形のパターン</a:t>
            </a:r>
            <a:endParaRPr lang="en-US" altLang="ja-JP" sz="2000" b="1" dirty="0">
              <a:highlight>
                <a:srgbClr val="FFFF00"/>
              </a:highlight>
            </a:endParaRPr>
          </a:p>
        </p:txBody>
      </p:sp>
      <p:pic>
        <p:nvPicPr>
          <p:cNvPr id="5" name="Picture 2">
            <a:extLst>
              <a:ext uri="{FF2B5EF4-FFF2-40B4-BE49-F238E27FC236}">
                <a16:creationId xmlns:a16="http://schemas.microsoft.com/office/drawing/2014/main" id="{1F6DFBD2-30C0-9A74-3AFF-AE1A1CEF04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3239" y="2822404"/>
            <a:ext cx="2992793" cy="2880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6994901-8104-7CF0-F01A-B5CBB76FC5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0446" y="2839337"/>
            <a:ext cx="2992793" cy="288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4F5E3FC5-5737-9C81-9BB7-BA38E30CCC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7653" y="2839337"/>
            <a:ext cx="2992793" cy="2880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49E7AF68-0693-F551-A644-B31064DDC2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0" y="2822404"/>
            <a:ext cx="2992793" cy="2880000"/>
          </a:xfrm>
          <a:prstGeom prst="rect">
            <a:avLst/>
          </a:prstGeom>
          <a:noFill/>
          <a:extLst>
            <a:ext uri="{909E8E84-426E-40DD-AFC4-6F175D3DCCD1}">
              <a14:hiddenFill xmlns:a14="http://schemas.microsoft.com/office/drawing/2010/main">
                <a:solidFill>
                  <a:srgbClr val="FFFFFF"/>
                </a:solidFill>
              </a14:hiddenFill>
            </a:ext>
          </a:extLst>
        </p:spPr>
      </p:pic>
      <p:sp>
        <p:nvSpPr>
          <p:cNvPr id="19" name="テキスト ボックス 18">
            <a:extLst>
              <a:ext uri="{FF2B5EF4-FFF2-40B4-BE49-F238E27FC236}">
                <a16:creationId xmlns:a16="http://schemas.microsoft.com/office/drawing/2014/main" id="{40C17A44-0867-6888-5832-82707F33AAF1}"/>
              </a:ext>
            </a:extLst>
          </p:cNvPr>
          <p:cNvSpPr txBox="1"/>
          <p:nvPr/>
        </p:nvSpPr>
        <p:spPr>
          <a:xfrm>
            <a:off x="271890" y="2445916"/>
            <a:ext cx="11759332" cy="400110"/>
          </a:xfrm>
          <a:prstGeom prst="rect">
            <a:avLst/>
          </a:prstGeom>
          <a:noFill/>
        </p:spPr>
        <p:txBody>
          <a:bodyPr wrap="square">
            <a:spAutoFit/>
          </a:bodyPr>
          <a:lstStyle/>
          <a:p>
            <a:r>
              <a:rPr lang="ja-JP" altLang="en-US" sz="2000" dirty="0"/>
              <a:t>　　 　</a:t>
            </a:r>
            <a:r>
              <a:rPr lang="en-US" altLang="ja-JP" sz="2000" dirty="0"/>
              <a:t>A. </a:t>
            </a:r>
            <a:r>
              <a:rPr lang="ja-JP" altLang="en-US" sz="2000" dirty="0"/>
              <a:t>六回軸的　　　　　　 </a:t>
            </a:r>
            <a:r>
              <a:rPr lang="en-US" altLang="ja-JP" sz="2000" dirty="0"/>
              <a:t>B. </a:t>
            </a:r>
            <a:r>
              <a:rPr lang="ja-JP" altLang="en-US" sz="2000" dirty="0"/>
              <a:t>四回軸的　　　　　  　</a:t>
            </a:r>
            <a:r>
              <a:rPr lang="en-US" altLang="ja-JP" sz="2000" dirty="0"/>
              <a:t>C. </a:t>
            </a:r>
            <a:r>
              <a:rPr lang="ja-JP" altLang="en-US" sz="2000" dirty="0"/>
              <a:t>二回軸的　　　　 </a:t>
            </a:r>
            <a:r>
              <a:rPr lang="en-US" altLang="ja-JP" sz="2000" dirty="0"/>
              <a:t>D. </a:t>
            </a:r>
            <a:r>
              <a:rPr lang="ja-JP" altLang="en-US" sz="2000" dirty="0"/>
              <a:t>回折が見られない</a:t>
            </a:r>
          </a:p>
        </p:txBody>
      </p:sp>
      <p:sp>
        <p:nvSpPr>
          <p:cNvPr id="4" name="テキスト ボックス 3">
            <a:extLst>
              <a:ext uri="{FF2B5EF4-FFF2-40B4-BE49-F238E27FC236}">
                <a16:creationId xmlns:a16="http://schemas.microsoft.com/office/drawing/2014/main" id="{1A69DA69-8D43-DC51-0989-5178660BC31C}"/>
              </a:ext>
            </a:extLst>
          </p:cNvPr>
          <p:cNvSpPr txBox="1"/>
          <p:nvPr/>
        </p:nvSpPr>
        <p:spPr>
          <a:xfrm>
            <a:off x="390311" y="5729488"/>
            <a:ext cx="11633598" cy="400110"/>
          </a:xfrm>
          <a:prstGeom prst="rect">
            <a:avLst/>
          </a:prstGeom>
          <a:noFill/>
        </p:spPr>
        <p:txBody>
          <a:bodyPr wrap="square">
            <a:spAutoFit/>
          </a:bodyPr>
          <a:lstStyle/>
          <a:p>
            <a:pPr marL="0" indent="0" algn="ctr">
              <a:spcBef>
                <a:spcPts val="600"/>
              </a:spcBef>
              <a:buNone/>
            </a:pPr>
            <a:r>
              <a:rPr lang="ja-JP" altLang="en-US" sz="2000" dirty="0"/>
              <a:t>得られた電子回折図形について、図形的特徴に着目すると、以下の</a:t>
            </a:r>
            <a:r>
              <a:rPr lang="en-US" altLang="ja-JP" sz="2000" dirty="0"/>
              <a:t>4</a:t>
            </a:r>
            <a:r>
              <a:rPr lang="ja-JP" altLang="en-US" sz="2000" dirty="0"/>
              <a:t>つのパターンが確認できた</a:t>
            </a:r>
            <a:endParaRPr lang="en-US" altLang="ja-JP" sz="2000" dirty="0"/>
          </a:p>
        </p:txBody>
      </p:sp>
    </p:spTree>
    <p:extLst>
      <p:ext uri="{BB962C8B-B14F-4D97-AF65-F5344CB8AC3E}">
        <p14:creationId xmlns:p14="http://schemas.microsoft.com/office/powerpoint/2010/main" val="2281281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76FE7C-E74D-D855-12B2-E94A5ABB19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190338-89CA-B93D-9167-1ACFBFD72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96B5697-2D44-C6C6-3D5C-15917864C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C9297A1-8F4E-E782-D91C-3D3CBF4738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EA59279-CA90-2C57-0E21-253D51B4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8E27F1-342F-9AD1-E425-D8219A03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A95EF42-3CED-5F45-F3E1-E1459E13786D}"/>
              </a:ext>
            </a:extLst>
          </p:cNvPr>
          <p:cNvSpPr>
            <a:spLocks noGrp="1"/>
          </p:cNvSpPr>
          <p:nvPr>
            <p:ph type="title"/>
          </p:nvPr>
        </p:nvSpPr>
        <p:spPr>
          <a:xfrm>
            <a:off x="1371599" y="294538"/>
            <a:ext cx="9895951" cy="1033669"/>
          </a:xfrm>
        </p:spPr>
        <p:txBody>
          <a:bodyPr>
            <a:normAutofit/>
          </a:bodyPr>
          <a:lstStyle/>
          <a:p>
            <a:r>
              <a:rPr kumimoji="1" lang="ja-JP" altLang="en-US" sz="4000" b="1" dirty="0">
                <a:solidFill>
                  <a:srgbClr val="FFFFFF"/>
                </a:solidFill>
              </a:rPr>
              <a:t>結果５</a:t>
            </a:r>
            <a:r>
              <a:rPr kumimoji="1" lang="en-US" altLang="ja-JP" sz="4000" b="1" dirty="0">
                <a:solidFill>
                  <a:srgbClr val="FFFFFF"/>
                </a:solidFill>
              </a:rPr>
              <a:t> –</a:t>
            </a:r>
            <a:r>
              <a:rPr kumimoji="1" lang="ja-JP" altLang="en-US" sz="4000" b="1" dirty="0">
                <a:solidFill>
                  <a:srgbClr val="FFFFFF"/>
                </a:solidFill>
              </a:rPr>
              <a:t>中距離秩序構造の抽出</a:t>
            </a:r>
          </a:p>
        </p:txBody>
      </p:sp>
      <p:sp>
        <p:nvSpPr>
          <p:cNvPr id="22" name="テキスト ボックス 21">
            <a:extLst>
              <a:ext uri="{FF2B5EF4-FFF2-40B4-BE49-F238E27FC236}">
                <a16:creationId xmlns:a16="http://schemas.microsoft.com/office/drawing/2014/main" id="{9D76AC86-26BA-2D96-1BE4-8273BF5DFDA9}"/>
              </a:ext>
            </a:extLst>
          </p:cNvPr>
          <p:cNvSpPr txBox="1"/>
          <p:nvPr/>
        </p:nvSpPr>
        <p:spPr>
          <a:xfrm>
            <a:off x="231402" y="1707304"/>
            <a:ext cx="3310522" cy="400110"/>
          </a:xfrm>
          <a:prstGeom prst="rect">
            <a:avLst/>
          </a:prstGeom>
          <a:noFill/>
        </p:spPr>
        <p:txBody>
          <a:bodyPr wrap="none" rtlCol="0">
            <a:spAutoFit/>
          </a:bodyPr>
          <a:lstStyle/>
          <a:p>
            <a:pPr marL="0" indent="0">
              <a:spcBef>
                <a:spcPts val="600"/>
              </a:spcBef>
              <a:buNone/>
            </a:pPr>
            <a:r>
              <a:rPr lang="ja-JP" altLang="en-US" sz="2000" b="1" dirty="0">
                <a:highlight>
                  <a:srgbClr val="FFFF00"/>
                </a:highlight>
              </a:rPr>
              <a:t>位置</a:t>
            </a:r>
            <a:r>
              <a:rPr lang="en-US" altLang="ja-JP" sz="2000" b="1" dirty="0">
                <a:highlight>
                  <a:srgbClr val="FFFF00"/>
                </a:highlight>
              </a:rPr>
              <a:t>(9,10)</a:t>
            </a:r>
            <a:r>
              <a:rPr lang="ja-JP" altLang="en-US" sz="2000" b="1" dirty="0">
                <a:highlight>
                  <a:srgbClr val="FFFF00"/>
                </a:highlight>
              </a:rPr>
              <a:t>と</a:t>
            </a:r>
            <a:r>
              <a:rPr lang="en-US" altLang="ja-JP" sz="2000" b="1" dirty="0">
                <a:highlight>
                  <a:srgbClr val="FFFF00"/>
                </a:highlight>
              </a:rPr>
              <a:t>(10,10)</a:t>
            </a:r>
            <a:r>
              <a:rPr lang="ja-JP" altLang="en-US" sz="2000" b="1" dirty="0">
                <a:highlight>
                  <a:srgbClr val="FFFF00"/>
                </a:highlight>
              </a:rPr>
              <a:t>の比較</a:t>
            </a:r>
            <a:endParaRPr lang="en-US" altLang="ja-JP" sz="2000" dirty="0"/>
          </a:p>
        </p:txBody>
      </p:sp>
      <p:pic>
        <p:nvPicPr>
          <p:cNvPr id="3" name="Picture 4">
            <a:extLst>
              <a:ext uri="{FF2B5EF4-FFF2-40B4-BE49-F238E27FC236}">
                <a16:creationId xmlns:a16="http://schemas.microsoft.com/office/drawing/2014/main" id="{82ED0A15-5644-B6C9-1F7B-372581F74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906" y="2485921"/>
            <a:ext cx="4269169" cy="2286843"/>
          </a:xfrm>
          <a:prstGeom prst="rect">
            <a:avLst/>
          </a:prstGeom>
          <a:noFill/>
          <a:extLst>
            <a:ext uri="{909E8E84-426E-40DD-AFC4-6F175D3DCCD1}">
              <a14:hiddenFill xmlns:a14="http://schemas.microsoft.com/office/drawing/2010/main">
                <a:solidFill>
                  <a:srgbClr val="FFFFFF"/>
                </a:solidFill>
              </a14:hiddenFill>
            </a:ext>
          </a:extLst>
        </p:spPr>
      </p:pic>
      <p:pic>
        <p:nvPicPr>
          <p:cNvPr id="4" name="コンテンツ プレースホルダー 4">
            <a:extLst>
              <a:ext uri="{FF2B5EF4-FFF2-40B4-BE49-F238E27FC236}">
                <a16:creationId xmlns:a16="http://schemas.microsoft.com/office/drawing/2014/main" id="{6532BF92-1C60-218C-18EB-F945A3D77323}"/>
              </a:ext>
            </a:extLst>
          </p:cNvPr>
          <p:cNvPicPr>
            <a:picLocks noGrp="1" noChangeAspect="1"/>
          </p:cNvPicPr>
          <p:nvPr>
            <p:ph sz="half" idx="1"/>
          </p:nvPr>
        </p:nvPicPr>
        <p:blipFill>
          <a:blip r:embed="rId4"/>
          <a:stretch>
            <a:fillRect/>
          </a:stretch>
        </p:blipFill>
        <p:spPr>
          <a:xfrm>
            <a:off x="606143" y="4962528"/>
            <a:ext cx="2200543" cy="1600934"/>
          </a:xfrm>
          <a:prstGeom prst="rect">
            <a:avLst/>
          </a:prstGeom>
        </p:spPr>
      </p:pic>
      <p:sp>
        <p:nvSpPr>
          <p:cNvPr id="13" name="テキスト ボックス 12">
            <a:extLst>
              <a:ext uri="{FF2B5EF4-FFF2-40B4-BE49-F238E27FC236}">
                <a16:creationId xmlns:a16="http://schemas.microsoft.com/office/drawing/2014/main" id="{0E141CB2-47FA-31DE-46E4-160A38850F06}"/>
              </a:ext>
            </a:extLst>
          </p:cNvPr>
          <p:cNvSpPr txBox="1"/>
          <p:nvPr/>
        </p:nvSpPr>
        <p:spPr>
          <a:xfrm>
            <a:off x="2806686" y="5062095"/>
            <a:ext cx="2494130" cy="1323439"/>
          </a:xfrm>
          <a:prstGeom prst="rect">
            <a:avLst/>
          </a:prstGeom>
          <a:noFill/>
        </p:spPr>
        <p:txBody>
          <a:bodyPr wrap="square">
            <a:spAutoFit/>
          </a:bodyPr>
          <a:lstStyle/>
          <a:p>
            <a:r>
              <a:rPr lang="en-US" altLang="ja-JP" sz="2000" dirty="0"/>
              <a:t>x</a:t>
            </a:r>
            <a:r>
              <a:rPr kumimoji="1" lang="ja-JP" altLang="en-US" sz="2000" dirty="0"/>
              <a:t>範囲</a:t>
            </a:r>
            <a:r>
              <a:rPr kumimoji="1" lang="en-US" altLang="ja-JP" sz="2000" dirty="0"/>
              <a:t>=0.571~0.714</a:t>
            </a:r>
          </a:p>
          <a:p>
            <a:r>
              <a:rPr lang="en-US" altLang="ja-JP" sz="2000" dirty="0"/>
              <a:t>y</a:t>
            </a:r>
            <a:r>
              <a:rPr lang="ja-JP" altLang="en-US" sz="2000" dirty="0"/>
              <a:t>範囲</a:t>
            </a:r>
            <a:r>
              <a:rPr lang="en-US" altLang="ja-JP" sz="2000" dirty="0"/>
              <a:t>=0.643~0.714</a:t>
            </a:r>
          </a:p>
          <a:p>
            <a:r>
              <a:rPr lang="ja-JP" altLang="en-US" sz="2000" dirty="0"/>
              <a:t>原子数：</a:t>
            </a:r>
            <a:r>
              <a:rPr lang="en-US" altLang="ja-JP" sz="2000" dirty="0"/>
              <a:t>235</a:t>
            </a:r>
          </a:p>
          <a:p>
            <a:r>
              <a:rPr lang="en-US" altLang="ja-JP" sz="2000" dirty="0"/>
              <a:t>(Cu:142 Zr:93)</a:t>
            </a:r>
            <a:endParaRPr lang="ja-JP" altLang="en-US" sz="2000" dirty="0"/>
          </a:p>
        </p:txBody>
      </p:sp>
      <p:sp>
        <p:nvSpPr>
          <p:cNvPr id="20" name="テキスト ボックス 19">
            <a:extLst>
              <a:ext uri="{FF2B5EF4-FFF2-40B4-BE49-F238E27FC236}">
                <a16:creationId xmlns:a16="http://schemas.microsoft.com/office/drawing/2014/main" id="{ADA0F01D-49F0-1B1A-B977-8C8A5B5EC9B4}"/>
              </a:ext>
            </a:extLst>
          </p:cNvPr>
          <p:cNvSpPr txBox="1"/>
          <p:nvPr/>
        </p:nvSpPr>
        <p:spPr>
          <a:xfrm>
            <a:off x="854557" y="2157676"/>
            <a:ext cx="4296732" cy="369332"/>
          </a:xfrm>
          <a:prstGeom prst="rect">
            <a:avLst/>
          </a:prstGeom>
          <a:noFill/>
        </p:spPr>
        <p:txBody>
          <a:bodyPr wrap="square">
            <a:spAutoFit/>
          </a:bodyPr>
          <a:lstStyle/>
          <a:p>
            <a:pPr algn="ctr"/>
            <a:r>
              <a:rPr kumimoji="1" lang="ja-JP" altLang="en-US" dirty="0"/>
              <a:t>位置</a:t>
            </a:r>
            <a:r>
              <a:rPr kumimoji="1" lang="en-US" altLang="ja-JP" dirty="0"/>
              <a:t>(9,10)</a:t>
            </a:r>
            <a:r>
              <a:rPr kumimoji="1" lang="ja-JP" altLang="en-US" dirty="0"/>
              <a:t>と</a:t>
            </a:r>
            <a:r>
              <a:rPr kumimoji="1" lang="en-US" altLang="ja-JP" dirty="0"/>
              <a:t>(10,10)</a:t>
            </a:r>
            <a:r>
              <a:rPr kumimoji="1" lang="ja-JP" altLang="en-US" dirty="0"/>
              <a:t>の局所電子回折図形</a:t>
            </a:r>
            <a:endParaRPr kumimoji="1" lang="en-US" altLang="ja-JP" dirty="0"/>
          </a:p>
        </p:txBody>
      </p:sp>
      <p:sp>
        <p:nvSpPr>
          <p:cNvPr id="30" name="テキスト ボックス 29">
            <a:extLst>
              <a:ext uri="{FF2B5EF4-FFF2-40B4-BE49-F238E27FC236}">
                <a16:creationId xmlns:a16="http://schemas.microsoft.com/office/drawing/2014/main" id="{645444AC-9496-2609-876C-434FB35D8498}"/>
              </a:ext>
            </a:extLst>
          </p:cNvPr>
          <p:cNvSpPr txBox="1"/>
          <p:nvPr/>
        </p:nvSpPr>
        <p:spPr>
          <a:xfrm>
            <a:off x="8899691" y="4772764"/>
            <a:ext cx="3169000" cy="1631216"/>
          </a:xfrm>
          <a:prstGeom prst="rect">
            <a:avLst/>
          </a:prstGeom>
          <a:noFill/>
        </p:spPr>
        <p:txBody>
          <a:bodyPr wrap="square">
            <a:spAutoFit/>
          </a:bodyPr>
          <a:lstStyle/>
          <a:p>
            <a:r>
              <a:rPr lang="ja-JP" altLang="en-US" sz="2000" dirty="0"/>
              <a:t>・原子は満遍なく存在</a:t>
            </a:r>
            <a:endParaRPr lang="en-US" altLang="ja-JP" sz="2000" dirty="0"/>
          </a:p>
          <a:p>
            <a:r>
              <a:rPr lang="ja-JP" altLang="en-US" sz="2000" dirty="0"/>
              <a:t>・回折図形上に綺麗な六回軸が見られた箇所に、特徴的なコラム状構造が見られた</a:t>
            </a:r>
            <a:endParaRPr lang="en-US" altLang="ja-JP" sz="2000" dirty="0"/>
          </a:p>
        </p:txBody>
      </p:sp>
      <p:pic>
        <p:nvPicPr>
          <p:cNvPr id="33" name="図 32">
            <a:extLst>
              <a:ext uri="{FF2B5EF4-FFF2-40B4-BE49-F238E27FC236}">
                <a16:creationId xmlns:a16="http://schemas.microsoft.com/office/drawing/2014/main" id="{76146BFD-4338-0F3C-C10F-78BF689B7929}"/>
              </a:ext>
            </a:extLst>
          </p:cNvPr>
          <p:cNvPicPr>
            <a:picLocks noChangeAspect="1"/>
          </p:cNvPicPr>
          <p:nvPr/>
        </p:nvPicPr>
        <p:blipFill>
          <a:blip r:embed="rId5"/>
          <a:stretch>
            <a:fillRect/>
          </a:stretch>
        </p:blipFill>
        <p:spPr>
          <a:xfrm>
            <a:off x="5783668" y="1726316"/>
            <a:ext cx="5775953" cy="2842332"/>
          </a:xfrm>
          <a:prstGeom prst="rect">
            <a:avLst/>
          </a:prstGeom>
        </p:spPr>
      </p:pic>
      <p:pic>
        <p:nvPicPr>
          <p:cNvPr id="35" name="図 34">
            <a:extLst>
              <a:ext uri="{FF2B5EF4-FFF2-40B4-BE49-F238E27FC236}">
                <a16:creationId xmlns:a16="http://schemas.microsoft.com/office/drawing/2014/main" id="{3204EC7D-067C-9FE2-CF4D-88B366AB5A70}"/>
              </a:ext>
            </a:extLst>
          </p:cNvPr>
          <p:cNvPicPr>
            <a:picLocks noChangeAspect="1"/>
          </p:cNvPicPr>
          <p:nvPr/>
        </p:nvPicPr>
        <p:blipFill>
          <a:blip r:embed="rId6"/>
          <a:stretch>
            <a:fillRect/>
          </a:stretch>
        </p:blipFill>
        <p:spPr>
          <a:xfrm>
            <a:off x="5783668" y="4748911"/>
            <a:ext cx="3116023" cy="1861507"/>
          </a:xfrm>
          <a:prstGeom prst="rect">
            <a:avLst/>
          </a:prstGeom>
        </p:spPr>
      </p:pic>
      <p:pic>
        <p:nvPicPr>
          <p:cNvPr id="36" name="図 35">
            <a:extLst>
              <a:ext uri="{FF2B5EF4-FFF2-40B4-BE49-F238E27FC236}">
                <a16:creationId xmlns:a16="http://schemas.microsoft.com/office/drawing/2014/main" id="{F59B6F63-F758-9EA0-639A-6FB8C7C9954C}"/>
              </a:ext>
            </a:extLst>
          </p:cNvPr>
          <p:cNvPicPr>
            <a:picLocks noChangeAspect="1"/>
          </p:cNvPicPr>
          <p:nvPr/>
        </p:nvPicPr>
        <p:blipFill>
          <a:blip r:embed="rId7"/>
          <a:srcRect l="79496" t="-1" r="810" b="69568"/>
          <a:stretch/>
        </p:blipFill>
        <p:spPr>
          <a:xfrm>
            <a:off x="10782979" y="1726317"/>
            <a:ext cx="776641" cy="1016884"/>
          </a:xfrm>
          <a:prstGeom prst="rect">
            <a:avLst/>
          </a:prstGeom>
        </p:spPr>
      </p:pic>
      <p:pic>
        <p:nvPicPr>
          <p:cNvPr id="37" name="図 36">
            <a:extLst>
              <a:ext uri="{FF2B5EF4-FFF2-40B4-BE49-F238E27FC236}">
                <a16:creationId xmlns:a16="http://schemas.microsoft.com/office/drawing/2014/main" id="{3AAC4148-00DA-B0D7-69F1-97ADABE89FB8}"/>
              </a:ext>
            </a:extLst>
          </p:cNvPr>
          <p:cNvPicPr>
            <a:picLocks noChangeAspect="1"/>
          </p:cNvPicPr>
          <p:nvPr/>
        </p:nvPicPr>
        <p:blipFill>
          <a:blip r:embed="rId7"/>
          <a:srcRect l="79496" t="-1" r="810" b="69568"/>
          <a:stretch/>
        </p:blipFill>
        <p:spPr>
          <a:xfrm>
            <a:off x="8277799" y="4758545"/>
            <a:ext cx="621892" cy="814266"/>
          </a:xfrm>
          <a:prstGeom prst="rect">
            <a:avLst/>
          </a:prstGeom>
        </p:spPr>
      </p:pic>
    </p:spTree>
    <p:extLst>
      <p:ext uri="{BB962C8B-B14F-4D97-AF65-F5344CB8AC3E}">
        <p14:creationId xmlns:p14="http://schemas.microsoft.com/office/powerpoint/2010/main" val="407507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タイトル 4">
            <a:extLst>
              <a:ext uri="{FF2B5EF4-FFF2-40B4-BE49-F238E27FC236}">
                <a16:creationId xmlns:a16="http://schemas.microsoft.com/office/drawing/2014/main" id="{31F7D998-581A-1522-27F2-CB7D6B58F5EB}"/>
              </a:ext>
            </a:extLst>
          </p:cNvPr>
          <p:cNvSpPr>
            <a:spLocks noGrp="1"/>
          </p:cNvSpPr>
          <p:nvPr>
            <p:ph type="title"/>
          </p:nvPr>
        </p:nvSpPr>
        <p:spPr>
          <a:xfrm>
            <a:off x="1371599" y="294538"/>
            <a:ext cx="9895951" cy="1033669"/>
          </a:xfrm>
        </p:spPr>
        <p:txBody>
          <a:bodyPr>
            <a:normAutofit/>
          </a:bodyPr>
          <a:lstStyle/>
          <a:p>
            <a:r>
              <a:rPr lang="ja-JP" altLang="en-US" sz="4000" b="1" dirty="0">
                <a:solidFill>
                  <a:srgbClr val="FFFFFF"/>
                </a:solidFill>
              </a:rPr>
              <a:t>考察と結言</a:t>
            </a:r>
          </a:p>
        </p:txBody>
      </p:sp>
      <p:sp>
        <p:nvSpPr>
          <p:cNvPr id="6" name="コンテンツ プレースホルダー 5">
            <a:extLst>
              <a:ext uri="{FF2B5EF4-FFF2-40B4-BE49-F238E27FC236}">
                <a16:creationId xmlns:a16="http://schemas.microsoft.com/office/drawing/2014/main" id="{5A1D3D75-0AB6-6771-B5A8-8E0B491EE516}"/>
              </a:ext>
            </a:extLst>
          </p:cNvPr>
          <p:cNvSpPr>
            <a:spLocks noGrp="1"/>
          </p:cNvSpPr>
          <p:nvPr>
            <p:ph idx="1"/>
          </p:nvPr>
        </p:nvSpPr>
        <p:spPr>
          <a:xfrm>
            <a:off x="547033" y="3264293"/>
            <a:ext cx="11097928" cy="3168072"/>
          </a:xfrm>
        </p:spPr>
        <p:txBody>
          <a:bodyPr anchor="ctr">
            <a:noAutofit/>
          </a:bodyPr>
          <a:lstStyle/>
          <a:p>
            <a:pPr marL="0" indent="0">
              <a:buNone/>
            </a:pPr>
            <a:endParaRPr lang="en-US" altLang="ja-JP" sz="2000" b="1" dirty="0">
              <a:highlight>
                <a:srgbClr val="FFFF00"/>
              </a:highlight>
            </a:endParaRPr>
          </a:p>
          <a:p>
            <a:pPr marL="0" indent="0">
              <a:buNone/>
            </a:pPr>
            <a:r>
              <a:rPr lang="ja-JP" altLang="en-US" sz="2400" dirty="0"/>
              <a:t>・分子動力学計算を用いて、大きいサイズの</a:t>
            </a:r>
            <a:r>
              <a:rPr lang="en-US" altLang="ja-JP" sz="2400" dirty="0"/>
              <a:t>C</a:t>
            </a:r>
            <a:r>
              <a:rPr kumimoji="1" lang="en-US" altLang="ja-JP" sz="2400" dirty="0"/>
              <a:t>u</a:t>
            </a:r>
            <a:r>
              <a:rPr kumimoji="1" lang="en-US" altLang="ja-JP" sz="2400" baseline="-25000" dirty="0"/>
              <a:t>64</a:t>
            </a:r>
            <a:r>
              <a:rPr kumimoji="1" lang="en-US" altLang="ja-JP" sz="2400" dirty="0"/>
              <a:t>Zr</a:t>
            </a:r>
            <a:r>
              <a:rPr kumimoji="1" lang="en-US" altLang="ja-JP" sz="2400" baseline="-25000" dirty="0"/>
              <a:t>36</a:t>
            </a:r>
            <a:r>
              <a:rPr lang="ja-JP" altLang="en-US" sz="2400" dirty="0"/>
              <a:t>構造モデルを作成し、アモルファス構造であることと、モデルの妥当性を確認した</a:t>
            </a:r>
            <a:endParaRPr lang="en-US" altLang="ja-JP" sz="2400" dirty="0"/>
          </a:p>
          <a:p>
            <a:pPr marL="0" indent="0">
              <a:buNone/>
            </a:pPr>
            <a:r>
              <a:rPr lang="ja-JP" altLang="en-US" sz="2400" dirty="0"/>
              <a:t>・スライスした上記モデルの局所電子回析計算を実施したところ、４種類のパターンの回折が現れた</a:t>
            </a:r>
            <a:endParaRPr lang="en-US" altLang="ja-JP" sz="2400" dirty="0"/>
          </a:p>
          <a:p>
            <a:pPr marL="0" indent="0">
              <a:buNone/>
            </a:pPr>
            <a:r>
              <a:rPr lang="ja-JP" altLang="en-US" sz="2400" dirty="0"/>
              <a:t>・回折図形上にパターンが現れる箇所には、特徴的なコラム状構造が存在した</a:t>
            </a:r>
            <a:endParaRPr lang="en-US" altLang="ja-JP" sz="2400" dirty="0"/>
          </a:p>
          <a:p>
            <a:pPr marL="0" indent="0">
              <a:buNone/>
            </a:pPr>
            <a:r>
              <a:rPr lang="ja-JP" altLang="en-US" sz="2400" dirty="0"/>
              <a:t>・多面体構造同士が面を共有することで、同一方向に連結されるようなコラム状構造が形成されている</a:t>
            </a:r>
            <a:endParaRPr lang="en-US" altLang="ja-JP" sz="2400" dirty="0"/>
          </a:p>
        </p:txBody>
      </p:sp>
      <p:sp>
        <p:nvSpPr>
          <p:cNvPr id="2" name="四角形: 角を丸くする 1">
            <a:extLst>
              <a:ext uri="{FF2B5EF4-FFF2-40B4-BE49-F238E27FC236}">
                <a16:creationId xmlns:a16="http://schemas.microsoft.com/office/drawing/2014/main" id="{15363A7B-3F37-D7DA-ADF4-FEA26D41AC9F}"/>
              </a:ext>
            </a:extLst>
          </p:cNvPr>
          <p:cNvSpPr/>
          <p:nvPr/>
        </p:nvSpPr>
        <p:spPr>
          <a:xfrm>
            <a:off x="701961" y="1724550"/>
            <a:ext cx="10788073" cy="1543721"/>
          </a:xfrm>
          <a:prstGeom prst="roundRect">
            <a:avLst/>
          </a:prstGeom>
          <a:solidFill>
            <a:srgbClr val="156082">
              <a:alpha val="3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dirty="0">
                <a:solidFill>
                  <a:schemeClr val="tx1"/>
                </a:solidFill>
              </a:rPr>
              <a:t>本研究では、分子同力学計算を用いて構造モデルを作成し、そのモデルについて局所電子回折計算を実施し、実空間と逆空間を比較することにより、回折と中距離秩序構造の関係について検討した。以下に得られた結果を示す。</a:t>
            </a:r>
            <a:endParaRPr lang="en-US" altLang="ja-JP" sz="2400" dirty="0">
              <a:solidFill>
                <a:schemeClr val="tx1"/>
              </a:solidFill>
              <a:highlight>
                <a:srgbClr val="FFFF00"/>
              </a:highlight>
            </a:endParaRPr>
          </a:p>
        </p:txBody>
      </p:sp>
    </p:spTree>
    <p:extLst>
      <p:ext uri="{BB962C8B-B14F-4D97-AF65-F5344CB8AC3E}">
        <p14:creationId xmlns:p14="http://schemas.microsoft.com/office/powerpoint/2010/main" val="1142733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764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矢印: 右 11">
            <a:extLst>
              <a:ext uri="{FF2B5EF4-FFF2-40B4-BE49-F238E27FC236}">
                <a16:creationId xmlns:a16="http://schemas.microsoft.com/office/drawing/2014/main" id="{23C38D62-6E49-43A1-51D9-7F49FEEFB49E}"/>
              </a:ext>
            </a:extLst>
          </p:cNvPr>
          <p:cNvSpPr/>
          <p:nvPr/>
        </p:nvSpPr>
        <p:spPr>
          <a:xfrm>
            <a:off x="338328" y="3899360"/>
            <a:ext cx="11612880" cy="751025"/>
          </a:xfrm>
          <a:prstGeom prst="rightArrow">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5" name="テキスト ボックス 8">
            <a:extLst>
              <a:ext uri="{FF2B5EF4-FFF2-40B4-BE49-F238E27FC236}">
                <a16:creationId xmlns:a16="http://schemas.microsoft.com/office/drawing/2014/main" id="{CC7205EF-59C0-268C-3FED-63B9052E8245}"/>
              </a:ext>
            </a:extLst>
          </p:cNvPr>
          <p:cNvGraphicFramePr/>
          <p:nvPr>
            <p:extLst>
              <p:ext uri="{D42A27DB-BD31-4B8C-83A1-F6EECF244321}">
                <p14:modId xmlns:p14="http://schemas.microsoft.com/office/powerpoint/2010/main" val="562367600"/>
              </p:ext>
            </p:extLst>
          </p:nvPr>
        </p:nvGraphicFramePr>
        <p:xfrm>
          <a:off x="513211" y="2430171"/>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テキスト ボックス 6">
            <a:extLst>
              <a:ext uri="{FF2B5EF4-FFF2-40B4-BE49-F238E27FC236}">
                <a16:creationId xmlns:a16="http://schemas.microsoft.com/office/drawing/2014/main" id="{B3B9A9E4-D8AD-B986-251D-97776CF7A9F5}"/>
              </a:ext>
            </a:extLst>
          </p:cNvPr>
          <p:cNvSpPr txBox="1"/>
          <p:nvPr/>
        </p:nvSpPr>
        <p:spPr>
          <a:xfrm>
            <a:off x="152398" y="5194588"/>
            <a:ext cx="11887200" cy="1477328"/>
          </a:xfrm>
          <a:prstGeom prst="rect">
            <a:avLst/>
          </a:prstGeom>
          <a:noFill/>
        </p:spPr>
        <p:txBody>
          <a:bodyPr wrap="square">
            <a:spAutoFit/>
          </a:bodyPr>
          <a:lstStyle/>
          <a:p>
            <a:pPr marL="0" indent="0">
              <a:lnSpc>
                <a:spcPct val="150000"/>
              </a:lnSpc>
              <a:buNone/>
            </a:pPr>
            <a:r>
              <a:rPr lang="ja-JP" altLang="en-US" sz="2000" b="1" dirty="0">
                <a:highlight>
                  <a:srgbClr val="FFFF00"/>
                </a:highlight>
              </a:rPr>
              <a:t>まとめ</a:t>
            </a:r>
            <a:endParaRPr lang="en-US" altLang="ja-JP" sz="2000" b="1" dirty="0">
              <a:highlight>
                <a:srgbClr val="FFFF00"/>
              </a:highlight>
            </a:endParaRPr>
          </a:p>
          <a:p>
            <a:pPr marL="0" indent="0">
              <a:buNone/>
            </a:pPr>
            <a:r>
              <a:rPr lang="ja-JP" altLang="en-US" sz="2000" dirty="0"/>
              <a:t>・局所電子回析図形には、４種類のパターンの回折が現れた</a:t>
            </a:r>
            <a:endParaRPr lang="en-US" altLang="ja-JP" sz="2000" dirty="0"/>
          </a:p>
          <a:p>
            <a:pPr marL="0" indent="0">
              <a:buNone/>
            </a:pPr>
            <a:r>
              <a:rPr lang="ja-JP" altLang="en-US" sz="2000" dirty="0"/>
              <a:t>・パターンが現れる箇所には特徴的なコラム状構造が存在した</a:t>
            </a:r>
            <a:endParaRPr lang="en-US" altLang="ja-JP" sz="2000" dirty="0"/>
          </a:p>
          <a:p>
            <a:pPr marL="0" indent="0">
              <a:buNone/>
            </a:pPr>
            <a:r>
              <a:rPr lang="ja-JP" altLang="en-US" sz="2000" dirty="0"/>
              <a:t>・多面体構造同士が面を共有することで、同一方向に連結されるようなコラム状構造が形成されている</a:t>
            </a:r>
            <a:endParaRPr lang="en-US" altLang="ja-JP" sz="2000" dirty="0"/>
          </a:p>
        </p:txBody>
      </p:sp>
      <p:sp>
        <p:nvSpPr>
          <p:cNvPr id="11" name="四角形: 角を丸くする 10">
            <a:extLst>
              <a:ext uri="{FF2B5EF4-FFF2-40B4-BE49-F238E27FC236}">
                <a16:creationId xmlns:a16="http://schemas.microsoft.com/office/drawing/2014/main" id="{03E12095-D294-0A79-728A-5E29F580789F}"/>
              </a:ext>
            </a:extLst>
          </p:cNvPr>
          <p:cNvSpPr/>
          <p:nvPr/>
        </p:nvSpPr>
        <p:spPr>
          <a:xfrm>
            <a:off x="382523" y="2132749"/>
            <a:ext cx="11426950" cy="592163"/>
          </a:xfrm>
          <a:prstGeom prst="roundRect">
            <a:avLst/>
          </a:prstGeom>
          <a:solidFill>
            <a:schemeClr val="accent4">
              <a:lumMod val="20000"/>
              <a:lumOff val="8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buNone/>
            </a:pPr>
            <a:r>
              <a:rPr lang="ja-JP" altLang="en-US" sz="2000" b="1" dirty="0">
                <a:solidFill>
                  <a:schemeClr val="tx1"/>
                </a:solidFill>
              </a:rPr>
              <a:t>目的：中距離秩序構造と局所電子回折の直接的な関係を調べることにより、その抽出法を検討する</a:t>
            </a:r>
            <a:endParaRPr lang="en-US" altLang="ja-JP" sz="2000" b="1" dirty="0">
              <a:solidFill>
                <a:schemeClr val="tx1"/>
              </a:solidFill>
            </a:endParaRPr>
          </a:p>
        </p:txBody>
      </p:sp>
      <p:sp>
        <p:nvSpPr>
          <p:cNvPr id="14" name="テキスト ボックス 13">
            <a:extLst>
              <a:ext uri="{FF2B5EF4-FFF2-40B4-BE49-F238E27FC236}">
                <a16:creationId xmlns:a16="http://schemas.microsoft.com/office/drawing/2014/main" id="{4F30E8A5-27B7-C113-A49D-7BFF3934D4B9}"/>
              </a:ext>
            </a:extLst>
          </p:cNvPr>
          <p:cNvSpPr txBox="1"/>
          <p:nvPr/>
        </p:nvSpPr>
        <p:spPr>
          <a:xfrm>
            <a:off x="152398" y="2793856"/>
            <a:ext cx="2398778" cy="510011"/>
          </a:xfrm>
          <a:prstGeom prst="rect">
            <a:avLst/>
          </a:prstGeom>
          <a:noFill/>
        </p:spPr>
        <p:txBody>
          <a:bodyPr wrap="square">
            <a:spAutoFit/>
          </a:bodyPr>
          <a:lstStyle/>
          <a:p>
            <a:pPr marL="0" indent="0">
              <a:lnSpc>
                <a:spcPct val="150000"/>
              </a:lnSpc>
              <a:buNone/>
            </a:pPr>
            <a:r>
              <a:rPr lang="ja-JP" altLang="en-US" sz="2000" b="1" dirty="0">
                <a:highlight>
                  <a:srgbClr val="FFFF00"/>
                </a:highlight>
              </a:rPr>
              <a:t>研究の簡単な流れ</a:t>
            </a:r>
            <a:endParaRPr lang="en-US" altLang="ja-JP" sz="2000" b="1" dirty="0">
              <a:highlight>
                <a:srgbClr val="FFFF00"/>
              </a:highlight>
            </a:endParaRPr>
          </a:p>
        </p:txBody>
      </p:sp>
      <p:sp>
        <p:nvSpPr>
          <p:cNvPr id="18" name="テキスト ボックス 17">
            <a:extLst>
              <a:ext uri="{FF2B5EF4-FFF2-40B4-BE49-F238E27FC236}">
                <a16:creationId xmlns:a16="http://schemas.microsoft.com/office/drawing/2014/main" id="{13445ADB-102E-3B5D-C7B8-9289E22704D6}"/>
              </a:ext>
            </a:extLst>
          </p:cNvPr>
          <p:cNvSpPr txBox="1"/>
          <p:nvPr/>
        </p:nvSpPr>
        <p:spPr>
          <a:xfrm>
            <a:off x="152398" y="100963"/>
            <a:ext cx="11798810" cy="1785104"/>
          </a:xfrm>
          <a:prstGeom prst="rect">
            <a:avLst/>
          </a:prstGeom>
          <a:noFill/>
        </p:spPr>
        <p:txBody>
          <a:bodyPr wrap="square">
            <a:spAutoFit/>
          </a:bodyPr>
          <a:lstStyle/>
          <a:p>
            <a:pPr marL="0" indent="0">
              <a:lnSpc>
                <a:spcPct val="150000"/>
              </a:lnSpc>
              <a:buNone/>
            </a:pPr>
            <a:r>
              <a:rPr lang="ja-JP" altLang="en-US" sz="2000" b="1" dirty="0">
                <a:highlight>
                  <a:srgbClr val="FFFF00"/>
                </a:highlight>
              </a:rPr>
              <a:t>背景と目的</a:t>
            </a:r>
            <a:endParaRPr lang="en-US" altLang="ja-JP" sz="2000" b="1" dirty="0">
              <a:highlight>
                <a:srgbClr val="FFFF00"/>
              </a:highlight>
            </a:endParaRPr>
          </a:p>
          <a:p>
            <a:pPr marL="0" indent="0">
              <a:buNone/>
            </a:pPr>
            <a:r>
              <a:rPr lang="ja-JP" altLang="en-US" sz="2000" dirty="0"/>
              <a:t>・</a:t>
            </a:r>
            <a:r>
              <a:rPr kumimoji="1" lang="ja-JP" altLang="en-US" sz="2000" dirty="0"/>
              <a:t>従来、</a:t>
            </a:r>
            <a:r>
              <a:rPr lang="ja-JP" altLang="en-US" sz="2000" dirty="0"/>
              <a:t>金属ガラスに代表されるアモルファスの構造解析は、構造の平均情報について調べる形で行われていた</a:t>
            </a:r>
            <a:endParaRPr lang="en-US" altLang="ja-JP" sz="2000" dirty="0"/>
          </a:p>
          <a:p>
            <a:pPr marL="0" indent="0">
              <a:buNone/>
            </a:pPr>
            <a:r>
              <a:rPr lang="ja-JP" altLang="en-US" sz="2000" dirty="0"/>
              <a:t>・</a:t>
            </a:r>
            <a:r>
              <a:rPr kumimoji="1" lang="ja-JP" altLang="en-US" sz="2000" dirty="0"/>
              <a:t>局所構造については、現在中距離秩序構造が重要として議論されている</a:t>
            </a:r>
            <a:endParaRPr kumimoji="1" lang="en-US" altLang="ja-JP" sz="2000" dirty="0"/>
          </a:p>
          <a:p>
            <a:pPr marL="0" indent="0">
              <a:buNone/>
            </a:pPr>
            <a:r>
              <a:rPr lang="ja-JP" altLang="en-US" sz="2000" dirty="0"/>
              <a:t>・アモルファスの電子回折図形は、広域だとハローリングが現れるが、狭域だとスポットが現れる</a:t>
            </a:r>
          </a:p>
        </p:txBody>
      </p:sp>
      <p:sp>
        <p:nvSpPr>
          <p:cNvPr id="19" name="矢印: 下 18">
            <a:extLst>
              <a:ext uri="{FF2B5EF4-FFF2-40B4-BE49-F238E27FC236}">
                <a16:creationId xmlns:a16="http://schemas.microsoft.com/office/drawing/2014/main" id="{4F7988D1-F4BC-29F3-C82A-151EA1BF1997}"/>
              </a:ext>
            </a:extLst>
          </p:cNvPr>
          <p:cNvSpPr/>
          <p:nvPr/>
        </p:nvSpPr>
        <p:spPr>
          <a:xfrm>
            <a:off x="5948931" y="1885967"/>
            <a:ext cx="278133" cy="167281"/>
          </a:xfrm>
          <a:prstGeom prst="down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36385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B8A2E-C10E-A8B1-9966-6388D7FE86CB}"/>
            </a:ext>
          </a:extLst>
        </p:cNvPr>
        <p:cNvGrpSpPr/>
        <p:nvPr/>
      </p:nvGrpSpPr>
      <p:grpSpPr>
        <a:xfrm>
          <a:off x="0" y="0"/>
          <a:ext cx="0" cy="0"/>
          <a:chOff x="0" y="0"/>
          <a:chExt cx="0" cy="0"/>
        </a:xfrm>
      </p:grpSpPr>
      <p:sp>
        <p:nvSpPr>
          <p:cNvPr id="23" name="コンテンツ プレースホルダー 2">
            <a:extLst>
              <a:ext uri="{FF2B5EF4-FFF2-40B4-BE49-F238E27FC236}">
                <a16:creationId xmlns:a16="http://schemas.microsoft.com/office/drawing/2014/main" id="{CF0FFA9C-0FDA-85E3-9CA5-4A682C547E83}"/>
              </a:ext>
            </a:extLst>
          </p:cNvPr>
          <p:cNvSpPr txBox="1">
            <a:spLocks/>
          </p:cNvSpPr>
          <p:nvPr/>
        </p:nvSpPr>
        <p:spPr>
          <a:xfrm>
            <a:off x="6246188" y="2936250"/>
            <a:ext cx="4183194" cy="1385304"/>
          </a:xfrm>
          <a:prstGeom prst="rect">
            <a:avLst/>
          </a:prstGeom>
        </p:spPr>
        <p:txBody>
          <a:bodyPr vert="horz" lIns="63305" tIns="31652" rIns="63305" bIns="31652"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indent="0">
              <a:lnSpc>
                <a:spcPct val="110000"/>
              </a:lnSpc>
              <a:buNone/>
            </a:pPr>
            <a:r>
              <a:rPr lang="ja-JP" altLang="en-US" sz="900" b="1" dirty="0">
                <a:highlight>
                  <a:srgbClr val="FFFF00"/>
                </a:highlight>
              </a:rPr>
              <a:t>回折と構造の比較・検討</a:t>
            </a:r>
            <a:endParaRPr lang="en-US" altLang="ja-JP" sz="900" dirty="0"/>
          </a:p>
          <a:p>
            <a:pPr marL="0" indent="0">
              <a:lnSpc>
                <a:spcPct val="110000"/>
              </a:lnSpc>
              <a:buNone/>
            </a:pPr>
            <a:endParaRPr lang="en-US" altLang="ja-JP" sz="900" dirty="0"/>
          </a:p>
          <a:p>
            <a:pPr marL="0" indent="0">
              <a:lnSpc>
                <a:spcPct val="110000"/>
              </a:lnSpc>
              <a:buNone/>
            </a:pPr>
            <a:endParaRPr lang="en-US" altLang="ja-JP" sz="900" dirty="0"/>
          </a:p>
          <a:p>
            <a:pPr marL="0" indent="0">
              <a:lnSpc>
                <a:spcPct val="110000"/>
              </a:lnSpc>
              <a:buNone/>
            </a:pPr>
            <a:endParaRPr lang="en-US" altLang="ja-JP" sz="900" dirty="0"/>
          </a:p>
          <a:p>
            <a:pPr marL="0" indent="0">
              <a:lnSpc>
                <a:spcPct val="110000"/>
              </a:lnSpc>
              <a:buNone/>
            </a:pPr>
            <a:endParaRPr lang="en-US" altLang="ja-JP" sz="900" dirty="0"/>
          </a:p>
          <a:p>
            <a:pPr marL="0" indent="0">
              <a:lnSpc>
                <a:spcPct val="110000"/>
              </a:lnSpc>
              <a:buNone/>
            </a:pPr>
            <a:endParaRPr lang="en-US" altLang="ja-JP" sz="900" dirty="0"/>
          </a:p>
          <a:p>
            <a:pPr marL="0" indent="0">
              <a:lnSpc>
                <a:spcPct val="110000"/>
              </a:lnSpc>
              <a:buNone/>
            </a:pPr>
            <a:r>
              <a:rPr lang="ja-JP" altLang="en-US" sz="900" dirty="0"/>
              <a:t>・回折図形上にはっきりとしたスポットが見られた箇所には</a:t>
            </a:r>
            <a:br>
              <a:rPr lang="en-US" altLang="ja-JP" sz="900" dirty="0"/>
            </a:br>
            <a:r>
              <a:rPr lang="ja-JP" altLang="en-US" sz="900" dirty="0"/>
              <a:t>特徴的なコラム状 </a:t>
            </a:r>
            <a:r>
              <a:rPr lang="en-US" altLang="ja-JP" sz="900" dirty="0"/>
              <a:t>(</a:t>
            </a:r>
            <a:r>
              <a:rPr lang="ja-JP" altLang="en-US" sz="900" dirty="0"/>
              <a:t>柱状</a:t>
            </a:r>
            <a:r>
              <a:rPr lang="en-US" altLang="ja-JP" sz="900" dirty="0"/>
              <a:t>) </a:t>
            </a:r>
            <a:r>
              <a:rPr lang="ja-JP" altLang="en-US" sz="900" dirty="0"/>
              <a:t>の構造が</a:t>
            </a:r>
            <a:r>
              <a:rPr lang="en-US" altLang="ja-JP" sz="900" dirty="0"/>
              <a:t>Z</a:t>
            </a:r>
            <a:r>
              <a:rPr lang="ja-JP" altLang="en-US" sz="900" dirty="0"/>
              <a:t>軸方向に見られる</a:t>
            </a:r>
            <a:endParaRPr lang="en-US" altLang="ja-JP" sz="900" dirty="0"/>
          </a:p>
          <a:p>
            <a:pPr marL="0" indent="0">
              <a:lnSpc>
                <a:spcPct val="110000"/>
              </a:lnSpc>
              <a:buNone/>
            </a:pPr>
            <a:r>
              <a:rPr lang="ja-JP" altLang="en-US" sz="900" dirty="0"/>
              <a:t>・多面体構造同士が面を共有することで、右図のような</a:t>
            </a:r>
            <a:br>
              <a:rPr lang="en-US" altLang="ja-JP" sz="900" dirty="0"/>
            </a:br>
            <a:r>
              <a:rPr lang="ja-JP" altLang="en-US" sz="900" dirty="0"/>
              <a:t>同一方向に連結されるようなコラム状構造が形成されている</a:t>
            </a:r>
            <a:endParaRPr lang="en-US" altLang="ja-JP" sz="900" dirty="0"/>
          </a:p>
          <a:p>
            <a:pPr marL="0" indent="0">
              <a:lnSpc>
                <a:spcPct val="110000"/>
              </a:lnSpc>
              <a:buNone/>
            </a:pPr>
            <a:r>
              <a:rPr lang="ja-JP" altLang="en-US" sz="900" dirty="0"/>
              <a:t>・回折にスポットが見られない箇所も、原子は満遍なく存在する</a:t>
            </a:r>
            <a:endParaRPr lang="en-US" altLang="ja-JP" sz="900" dirty="0"/>
          </a:p>
        </p:txBody>
      </p:sp>
      <p:sp>
        <p:nvSpPr>
          <p:cNvPr id="3" name="コンテンツ プレースホルダー 2">
            <a:extLst>
              <a:ext uri="{FF2B5EF4-FFF2-40B4-BE49-F238E27FC236}">
                <a16:creationId xmlns:a16="http://schemas.microsoft.com/office/drawing/2014/main" id="{A3ECF446-199D-E68F-3BEC-79CC01A17606}"/>
              </a:ext>
            </a:extLst>
          </p:cNvPr>
          <p:cNvSpPr>
            <a:spLocks noGrp="1"/>
          </p:cNvSpPr>
          <p:nvPr>
            <p:ph idx="1"/>
          </p:nvPr>
        </p:nvSpPr>
        <p:spPr>
          <a:xfrm>
            <a:off x="300166" y="2352256"/>
            <a:ext cx="2806607" cy="1395350"/>
          </a:xfrm>
        </p:spPr>
        <p:txBody>
          <a:bodyPr anchor="ctr">
            <a:noAutofit/>
          </a:bodyPr>
          <a:lstStyle/>
          <a:p>
            <a:pPr marL="0" indent="0">
              <a:lnSpc>
                <a:spcPct val="110000"/>
              </a:lnSpc>
              <a:buNone/>
            </a:pPr>
            <a:r>
              <a:rPr lang="ja-JP" altLang="en-US" sz="900" b="1" dirty="0">
                <a:highlight>
                  <a:srgbClr val="FFFF00"/>
                </a:highlight>
              </a:rPr>
              <a:t>非晶質材料（アモルファス）について</a:t>
            </a:r>
            <a:endParaRPr lang="en-US" altLang="ja-JP" sz="900" b="1" dirty="0">
              <a:highlight>
                <a:srgbClr val="FFFF00"/>
              </a:highlight>
            </a:endParaRPr>
          </a:p>
          <a:p>
            <a:pPr marL="0" indent="0">
              <a:lnSpc>
                <a:spcPct val="110000"/>
              </a:lnSpc>
              <a:buNone/>
            </a:pPr>
            <a:r>
              <a:rPr lang="ja-JP" altLang="en-US" sz="900" dirty="0"/>
              <a:t>・固体の物質は、原子の配列が周期的な結晶</a:t>
            </a:r>
            <a:r>
              <a:rPr lang="en-US" altLang="ja-JP" sz="900" dirty="0"/>
              <a:t>(</a:t>
            </a:r>
            <a:r>
              <a:rPr lang="ja-JP" altLang="en-US" sz="900" dirty="0"/>
              <a:t>クリスタル</a:t>
            </a:r>
            <a:r>
              <a:rPr lang="en-US" altLang="ja-JP" sz="900" dirty="0"/>
              <a:t>)</a:t>
            </a:r>
            <a:r>
              <a:rPr lang="ja-JP" altLang="en-US" sz="900" dirty="0"/>
              <a:t>と、非周期的な非晶質</a:t>
            </a:r>
            <a:r>
              <a:rPr lang="en-US" altLang="ja-JP" sz="900" dirty="0"/>
              <a:t>(</a:t>
            </a:r>
            <a:r>
              <a:rPr lang="ja-JP" altLang="en-US" sz="900" dirty="0"/>
              <a:t>アモルファス</a:t>
            </a:r>
            <a:r>
              <a:rPr lang="en-US" altLang="ja-JP" sz="900" dirty="0"/>
              <a:t>)</a:t>
            </a:r>
            <a:r>
              <a:rPr lang="ja-JP" altLang="en-US" sz="900" dirty="0"/>
              <a:t>に大別される</a:t>
            </a:r>
            <a:endParaRPr lang="en-US" altLang="ja-JP" sz="900" dirty="0"/>
          </a:p>
          <a:p>
            <a:pPr marL="0" indent="0">
              <a:lnSpc>
                <a:spcPct val="110000"/>
              </a:lnSpc>
              <a:buNone/>
            </a:pPr>
            <a:r>
              <a:rPr lang="ja-JP" altLang="en-US" sz="900" dirty="0"/>
              <a:t>・アモルファスは結晶と異なり原子がランダムな配列なため、構造の特定が困難で、結晶に比べ研究も遅れている</a:t>
            </a:r>
            <a:endParaRPr lang="en-US" altLang="ja-JP" sz="900" dirty="0"/>
          </a:p>
          <a:p>
            <a:pPr marL="0" indent="0">
              <a:lnSpc>
                <a:spcPct val="110000"/>
              </a:lnSpc>
              <a:buNone/>
            </a:pPr>
            <a:r>
              <a:rPr lang="ja-JP" altLang="en-US" sz="900" dirty="0"/>
              <a:t>・代表的なアモルファスとして</a:t>
            </a:r>
            <a:r>
              <a:rPr lang="en-US" altLang="ja-JP" sz="900" dirty="0"/>
              <a:t>Cu-Zr</a:t>
            </a:r>
            <a:r>
              <a:rPr lang="ja-JP" altLang="en-US" sz="900" dirty="0"/>
              <a:t>系金属ガラスが挙げられる</a:t>
            </a:r>
            <a:endParaRPr lang="en-US" altLang="ja-JP" sz="900" dirty="0"/>
          </a:p>
          <a:p>
            <a:pPr marL="0" indent="0">
              <a:lnSpc>
                <a:spcPct val="110000"/>
              </a:lnSpc>
              <a:buNone/>
            </a:pPr>
            <a:r>
              <a:rPr lang="ja-JP" altLang="en-US" sz="900" dirty="0"/>
              <a:t>・</a:t>
            </a:r>
            <a:r>
              <a:rPr lang="en-US" altLang="ja-JP" sz="900" dirty="0"/>
              <a:t>Cu-Zr</a:t>
            </a:r>
            <a:r>
              <a:rPr lang="ja-JP" altLang="en-US" sz="900" dirty="0"/>
              <a:t>合金において、</a:t>
            </a:r>
            <a:r>
              <a:rPr lang="en-US" altLang="ja-JP" sz="900" dirty="0"/>
              <a:t>Cu</a:t>
            </a:r>
            <a:r>
              <a:rPr lang="en-US" altLang="ja-JP" sz="900" baseline="-25000" dirty="0"/>
              <a:t>64</a:t>
            </a:r>
            <a:r>
              <a:rPr lang="en-US" altLang="ja-JP" sz="900" dirty="0"/>
              <a:t>Zr</a:t>
            </a:r>
            <a:r>
              <a:rPr lang="en-US" altLang="ja-JP" sz="900" baseline="-25000" dirty="0"/>
              <a:t>36</a:t>
            </a:r>
            <a:r>
              <a:rPr lang="ja-JP" altLang="en-US" sz="900" dirty="0"/>
              <a:t>が最良のガラス形成性能</a:t>
            </a:r>
            <a:r>
              <a:rPr lang="en-US" altLang="ja-JP" sz="900" dirty="0"/>
              <a:t>(GFA)</a:t>
            </a:r>
            <a:r>
              <a:rPr lang="ja-JP" altLang="en-US" sz="900" dirty="0"/>
              <a:t>を示す</a:t>
            </a:r>
            <a:endParaRPr lang="en-US" altLang="ja-JP" sz="900" dirty="0"/>
          </a:p>
          <a:p>
            <a:pPr marL="0" indent="0">
              <a:lnSpc>
                <a:spcPct val="110000"/>
              </a:lnSpc>
              <a:buNone/>
            </a:pPr>
            <a:r>
              <a:rPr lang="ja-JP" altLang="en-US" sz="900" b="1" dirty="0">
                <a:highlight>
                  <a:srgbClr val="FFFF00"/>
                </a:highlight>
              </a:rPr>
              <a:t>中距離秩序構造 と回折について</a:t>
            </a:r>
            <a:endParaRPr lang="en-US" altLang="ja-JP" sz="900" b="1" dirty="0">
              <a:highlight>
                <a:srgbClr val="FFFF00"/>
              </a:highlight>
            </a:endParaRPr>
          </a:p>
          <a:p>
            <a:pPr marL="0" indent="0">
              <a:lnSpc>
                <a:spcPct val="110000"/>
              </a:lnSpc>
              <a:buNone/>
            </a:pPr>
            <a:r>
              <a:rPr lang="ja-JP" altLang="en-US" sz="900" dirty="0"/>
              <a:t>・アモルファスの局所構造において、長距離秩序は存在しないことが明らかになっており、現在中距離秩序が重要として議論されている</a:t>
            </a:r>
            <a:endParaRPr lang="en-US" altLang="ja-JP" sz="900" dirty="0"/>
          </a:p>
          <a:p>
            <a:pPr marL="0" indent="0">
              <a:lnSpc>
                <a:spcPct val="110000"/>
              </a:lnSpc>
              <a:buNone/>
            </a:pPr>
            <a:r>
              <a:rPr lang="ja-JP" altLang="en-US" sz="900" dirty="0"/>
              <a:t>・金属ガラスの中距離秩序構造は、平均構造情報を基にしたモデルから、ボロノイ多面体解析で抽出されてきた</a:t>
            </a:r>
            <a:endParaRPr lang="en-US" altLang="ja-JP" sz="900" dirty="0"/>
          </a:p>
          <a:p>
            <a:pPr marL="0" indent="0">
              <a:lnSpc>
                <a:spcPct val="110000"/>
              </a:lnSpc>
              <a:buNone/>
            </a:pPr>
            <a:r>
              <a:rPr lang="ja-JP" altLang="en-US" sz="900" dirty="0"/>
              <a:t>・短・中距離秩序構造の直接観察が局所電子回折実験により試みられてきている</a:t>
            </a:r>
            <a:endParaRPr lang="en-US" altLang="ja-JP" sz="900" dirty="0"/>
          </a:p>
          <a:p>
            <a:pPr marL="0" indent="0">
              <a:lnSpc>
                <a:spcPct val="110000"/>
              </a:lnSpc>
              <a:buNone/>
            </a:pPr>
            <a:r>
              <a:rPr lang="ja-JP" altLang="en-US" sz="900" dirty="0"/>
              <a:t>・しかし回折と構造の直接的な関係については不明な点も多い</a:t>
            </a:r>
            <a:endParaRPr lang="en-US" altLang="ja-JP" sz="900" dirty="0"/>
          </a:p>
        </p:txBody>
      </p:sp>
      <p:sp>
        <p:nvSpPr>
          <p:cNvPr id="5" name="テキスト ボックス 4">
            <a:extLst>
              <a:ext uri="{FF2B5EF4-FFF2-40B4-BE49-F238E27FC236}">
                <a16:creationId xmlns:a16="http://schemas.microsoft.com/office/drawing/2014/main" id="{E607BB39-DDDD-2C92-80E4-CDD2DA8E730A}"/>
              </a:ext>
            </a:extLst>
          </p:cNvPr>
          <p:cNvSpPr txBox="1"/>
          <p:nvPr/>
        </p:nvSpPr>
        <p:spPr>
          <a:xfrm>
            <a:off x="3106773" y="2180947"/>
            <a:ext cx="2652199" cy="215444"/>
          </a:xfrm>
          <a:prstGeom prst="rect">
            <a:avLst/>
          </a:prstGeom>
          <a:noFill/>
        </p:spPr>
        <p:txBody>
          <a:bodyPr wrap="square" rtlCol="0">
            <a:spAutoFit/>
          </a:bodyPr>
          <a:lstStyle/>
          <a:p>
            <a:r>
              <a:rPr lang="en-US" altLang="ja-JP" sz="800" dirty="0"/>
              <a:t>Ref) H.W. Sheng </a:t>
            </a:r>
            <a:r>
              <a:rPr lang="en-US" altLang="ja-JP" sz="800" i="1" dirty="0"/>
              <a:t>et al</a:t>
            </a:r>
            <a:r>
              <a:rPr lang="en-US" altLang="ja-JP" sz="800" dirty="0"/>
              <a:t>., Nature 436, 419-425 (2006)</a:t>
            </a:r>
            <a:endParaRPr lang="ja-JP" altLang="en-US" sz="800" dirty="0"/>
          </a:p>
        </p:txBody>
      </p:sp>
      <p:pic>
        <p:nvPicPr>
          <p:cNvPr id="6" name="図 5" descr="グラフ, バブル チャート&#10;&#10;自動的に生成された説明">
            <a:extLst>
              <a:ext uri="{FF2B5EF4-FFF2-40B4-BE49-F238E27FC236}">
                <a16:creationId xmlns:a16="http://schemas.microsoft.com/office/drawing/2014/main" id="{AA1B9750-BCAC-DF51-C471-10FDAB4A4B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0186" y="817522"/>
            <a:ext cx="2809408" cy="1325191"/>
          </a:xfrm>
          <a:prstGeom prst="rect">
            <a:avLst/>
          </a:prstGeom>
        </p:spPr>
      </p:pic>
      <p:pic>
        <p:nvPicPr>
          <p:cNvPr id="7" name="図 6">
            <a:extLst>
              <a:ext uri="{FF2B5EF4-FFF2-40B4-BE49-F238E27FC236}">
                <a16:creationId xmlns:a16="http://schemas.microsoft.com/office/drawing/2014/main" id="{D16749D9-EB67-C159-46CB-97255AB26B92}"/>
              </a:ext>
            </a:extLst>
          </p:cNvPr>
          <p:cNvPicPr>
            <a:picLocks noChangeAspect="1"/>
          </p:cNvPicPr>
          <p:nvPr/>
        </p:nvPicPr>
        <p:blipFill>
          <a:blip r:embed="rId4"/>
          <a:stretch>
            <a:fillRect/>
          </a:stretch>
        </p:blipFill>
        <p:spPr>
          <a:xfrm>
            <a:off x="3213697" y="2970722"/>
            <a:ext cx="2362386" cy="1494347"/>
          </a:xfrm>
          <a:prstGeom prst="rect">
            <a:avLst/>
          </a:prstGeom>
        </p:spPr>
      </p:pic>
      <p:sp>
        <p:nvSpPr>
          <p:cNvPr id="8" name="テキスト ボックス 7">
            <a:extLst>
              <a:ext uri="{FF2B5EF4-FFF2-40B4-BE49-F238E27FC236}">
                <a16:creationId xmlns:a16="http://schemas.microsoft.com/office/drawing/2014/main" id="{E87710C3-D66D-30D2-3B51-10DC82793B77}"/>
              </a:ext>
            </a:extLst>
          </p:cNvPr>
          <p:cNvSpPr txBox="1"/>
          <p:nvPr/>
        </p:nvSpPr>
        <p:spPr>
          <a:xfrm>
            <a:off x="3213698" y="4418524"/>
            <a:ext cx="2362386" cy="215444"/>
          </a:xfrm>
          <a:prstGeom prst="rect">
            <a:avLst/>
          </a:prstGeom>
          <a:noFill/>
        </p:spPr>
        <p:txBody>
          <a:bodyPr wrap="square" rtlCol="0">
            <a:spAutoFit/>
          </a:bodyPr>
          <a:lstStyle/>
          <a:p>
            <a:r>
              <a:rPr lang="en-US" altLang="ja-JP" sz="800" dirty="0"/>
              <a:t>Ref) A. Hirata, Microscopy 70, 171-177 (2021)</a:t>
            </a:r>
            <a:endParaRPr lang="ja-JP" altLang="en-US" sz="800" dirty="0"/>
          </a:p>
        </p:txBody>
      </p:sp>
      <p:sp>
        <p:nvSpPr>
          <p:cNvPr id="4" name="矢印: 右 3">
            <a:extLst>
              <a:ext uri="{FF2B5EF4-FFF2-40B4-BE49-F238E27FC236}">
                <a16:creationId xmlns:a16="http://schemas.microsoft.com/office/drawing/2014/main" id="{C9A9DFB9-C13B-305A-B98A-3372C90C2FB9}"/>
              </a:ext>
            </a:extLst>
          </p:cNvPr>
          <p:cNvSpPr/>
          <p:nvPr/>
        </p:nvSpPr>
        <p:spPr>
          <a:xfrm>
            <a:off x="887510" y="6127298"/>
            <a:ext cx="4522323" cy="292467"/>
          </a:xfrm>
          <a:prstGeom prst="rightArrow">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701"/>
          </a:p>
        </p:txBody>
      </p:sp>
      <p:graphicFrame>
        <p:nvGraphicFramePr>
          <p:cNvPr id="9" name="テキスト ボックス 8">
            <a:extLst>
              <a:ext uri="{FF2B5EF4-FFF2-40B4-BE49-F238E27FC236}">
                <a16:creationId xmlns:a16="http://schemas.microsoft.com/office/drawing/2014/main" id="{6539094C-60EB-F5A0-9CF9-F5C06018A6E2}"/>
              </a:ext>
            </a:extLst>
          </p:cNvPr>
          <p:cNvGraphicFramePr/>
          <p:nvPr>
            <p:extLst>
              <p:ext uri="{D42A27DB-BD31-4B8C-83A1-F6EECF244321}">
                <p14:modId xmlns:p14="http://schemas.microsoft.com/office/powerpoint/2010/main" val="475738591"/>
              </p:ext>
            </p:extLst>
          </p:nvPr>
        </p:nvGraphicFramePr>
        <p:xfrm>
          <a:off x="968524" y="5584315"/>
          <a:ext cx="4255549" cy="143673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四角形: 角を丸くする 9">
            <a:extLst>
              <a:ext uri="{FF2B5EF4-FFF2-40B4-BE49-F238E27FC236}">
                <a16:creationId xmlns:a16="http://schemas.microsoft.com/office/drawing/2014/main" id="{998A343A-CE19-EBC0-9580-9E4C5D25D18F}"/>
              </a:ext>
            </a:extLst>
          </p:cNvPr>
          <p:cNvSpPr/>
          <p:nvPr/>
        </p:nvSpPr>
        <p:spPr>
          <a:xfrm>
            <a:off x="481150" y="5379723"/>
            <a:ext cx="5277664" cy="288226"/>
          </a:xfrm>
          <a:prstGeom prst="roundRect">
            <a:avLst/>
          </a:prstGeom>
          <a:solidFill>
            <a:schemeClr val="accent4">
              <a:lumMod val="20000"/>
              <a:lumOff val="8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b="1" dirty="0">
                <a:solidFill>
                  <a:schemeClr val="tx1"/>
                </a:solidFill>
              </a:rPr>
              <a:t>目的：中距離秩序構造と局所電子回折の直接的な関係を調べることにより、その抽出法を検討する</a:t>
            </a:r>
            <a:endParaRPr lang="en-US" altLang="ja-JP" sz="900" b="1" dirty="0">
              <a:solidFill>
                <a:schemeClr val="tx1"/>
              </a:solidFill>
            </a:endParaRPr>
          </a:p>
        </p:txBody>
      </p:sp>
      <p:sp>
        <p:nvSpPr>
          <p:cNvPr id="11" name="テキスト ボックス 10">
            <a:extLst>
              <a:ext uri="{FF2B5EF4-FFF2-40B4-BE49-F238E27FC236}">
                <a16:creationId xmlns:a16="http://schemas.microsoft.com/office/drawing/2014/main" id="{E1AFC362-8CBF-4D22-2665-8564B6EEB295}"/>
              </a:ext>
            </a:extLst>
          </p:cNvPr>
          <p:cNvSpPr txBox="1"/>
          <p:nvPr/>
        </p:nvSpPr>
        <p:spPr>
          <a:xfrm>
            <a:off x="415870" y="5670188"/>
            <a:ext cx="1353228" cy="294761"/>
          </a:xfrm>
          <a:prstGeom prst="rect">
            <a:avLst/>
          </a:prstGeom>
          <a:noFill/>
        </p:spPr>
        <p:txBody>
          <a:bodyPr wrap="square">
            <a:spAutoFit/>
          </a:bodyPr>
          <a:lstStyle/>
          <a:p>
            <a:pPr>
              <a:lnSpc>
                <a:spcPct val="150000"/>
              </a:lnSpc>
            </a:pPr>
            <a:r>
              <a:rPr lang="ja-JP" altLang="en-US" sz="969" b="1" dirty="0">
                <a:highlight>
                  <a:srgbClr val="FFFF00"/>
                </a:highlight>
              </a:rPr>
              <a:t>研究の簡単な流れ</a:t>
            </a:r>
            <a:endParaRPr lang="en-US" altLang="ja-JP" sz="969" b="1" dirty="0">
              <a:highlight>
                <a:srgbClr val="FFFF00"/>
              </a:highlight>
            </a:endParaRPr>
          </a:p>
        </p:txBody>
      </p:sp>
      <p:sp>
        <p:nvSpPr>
          <p:cNvPr id="12" name="矢印: 下 11">
            <a:extLst>
              <a:ext uri="{FF2B5EF4-FFF2-40B4-BE49-F238E27FC236}">
                <a16:creationId xmlns:a16="http://schemas.microsoft.com/office/drawing/2014/main" id="{DC236F0A-5204-C6A2-2E7F-524ADD3DD4AC}"/>
              </a:ext>
            </a:extLst>
          </p:cNvPr>
          <p:cNvSpPr/>
          <p:nvPr/>
        </p:nvSpPr>
        <p:spPr>
          <a:xfrm>
            <a:off x="3065826" y="5285179"/>
            <a:ext cx="108312" cy="65143"/>
          </a:xfrm>
          <a:prstGeom prst="down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701" dirty="0"/>
          </a:p>
        </p:txBody>
      </p:sp>
      <p:sp>
        <p:nvSpPr>
          <p:cNvPr id="19" name="テキスト ボックス 18">
            <a:extLst>
              <a:ext uri="{FF2B5EF4-FFF2-40B4-BE49-F238E27FC236}">
                <a16:creationId xmlns:a16="http://schemas.microsoft.com/office/drawing/2014/main" id="{CC24FEAD-037D-9039-AC95-0F10BE68DB24}"/>
              </a:ext>
            </a:extLst>
          </p:cNvPr>
          <p:cNvSpPr txBox="1"/>
          <p:nvPr/>
        </p:nvSpPr>
        <p:spPr>
          <a:xfrm>
            <a:off x="218151" y="99728"/>
            <a:ext cx="5619426" cy="667747"/>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ja-JP" altLang="en-US" sz="1385" b="1" dirty="0">
                <a:solidFill>
                  <a:schemeClr val="bg1"/>
                </a:solidFill>
              </a:rPr>
              <a:t>局所電子回折計算による</a:t>
            </a:r>
            <a:r>
              <a:rPr lang="en-US" altLang="ja-JP" sz="1385" b="1" dirty="0">
                <a:solidFill>
                  <a:schemeClr val="bg1"/>
                </a:solidFill>
              </a:rPr>
              <a:t>Cu</a:t>
            </a:r>
            <a:r>
              <a:rPr lang="en-US" altLang="ja-JP" sz="1385" b="1" baseline="-25000" dirty="0">
                <a:solidFill>
                  <a:schemeClr val="bg1"/>
                </a:solidFill>
              </a:rPr>
              <a:t>64</a:t>
            </a:r>
            <a:r>
              <a:rPr lang="en-US" altLang="ja-JP" sz="1385" b="1" dirty="0">
                <a:solidFill>
                  <a:schemeClr val="bg1"/>
                </a:solidFill>
              </a:rPr>
              <a:t>Zr</a:t>
            </a:r>
            <a:r>
              <a:rPr lang="en-US" altLang="ja-JP" sz="1385" b="1" baseline="-25000" dirty="0">
                <a:solidFill>
                  <a:schemeClr val="bg1"/>
                </a:solidFill>
              </a:rPr>
              <a:t>36</a:t>
            </a:r>
            <a:r>
              <a:rPr lang="ja-JP" altLang="en-US" sz="1385" b="1" dirty="0">
                <a:solidFill>
                  <a:schemeClr val="bg1"/>
                </a:solidFill>
              </a:rPr>
              <a:t>金属ガラスにおける</a:t>
            </a:r>
            <a:endParaRPr lang="en-US" altLang="ja-JP" sz="1385" b="1" dirty="0">
              <a:solidFill>
                <a:schemeClr val="bg1"/>
              </a:solidFill>
            </a:endParaRPr>
          </a:p>
          <a:p>
            <a:pPr algn="ctr"/>
            <a:r>
              <a:rPr lang="ja-JP" altLang="en-US" sz="1385" b="1" dirty="0">
                <a:solidFill>
                  <a:schemeClr val="bg1"/>
                </a:solidFill>
              </a:rPr>
              <a:t>中距離秩序構造の抽出</a:t>
            </a:r>
          </a:p>
          <a:p>
            <a:pPr algn="ctr"/>
            <a:r>
              <a:rPr lang="ja-JP" altLang="en-US" sz="969" dirty="0">
                <a:solidFill>
                  <a:schemeClr val="bg1"/>
                </a:solidFill>
              </a:rPr>
              <a:t>早稲田大学基幹理工学研究科材料科学専攻　岩尾幸長</a:t>
            </a:r>
          </a:p>
        </p:txBody>
      </p:sp>
      <p:sp>
        <p:nvSpPr>
          <p:cNvPr id="22" name="テキスト ボックス 21">
            <a:extLst>
              <a:ext uri="{FF2B5EF4-FFF2-40B4-BE49-F238E27FC236}">
                <a16:creationId xmlns:a16="http://schemas.microsoft.com/office/drawing/2014/main" id="{6AD5C75F-BCD8-3BD0-DD2D-DF3912CDD4F1}"/>
              </a:ext>
            </a:extLst>
          </p:cNvPr>
          <p:cNvSpPr txBox="1"/>
          <p:nvPr/>
        </p:nvSpPr>
        <p:spPr>
          <a:xfrm>
            <a:off x="3028169" y="2352256"/>
            <a:ext cx="2809408" cy="507831"/>
          </a:xfrm>
          <a:prstGeom prst="rect">
            <a:avLst/>
          </a:prstGeom>
          <a:noFill/>
        </p:spPr>
        <p:txBody>
          <a:bodyPr wrap="square" rtlCol="0">
            <a:spAutoFit/>
          </a:bodyPr>
          <a:lstStyle/>
          <a:p>
            <a:r>
              <a:rPr lang="ja-JP" altLang="en-US" sz="900" dirty="0"/>
              <a:t>主に隣接する原子同士の配置を指す短距離秩序構造に対して、中距離秩序構造は</a:t>
            </a:r>
            <a:r>
              <a:rPr lang="en-US" altLang="ja-JP" sz="900" dirty="0"/>
              <a:t>1</a:t>
            </a:r>
            <a:r>
              <a:rPr lang="ja-JP" altLang="en-US" sz="900" dirty="0"/>
              <a:t>～</a:t>
            </a:r>
            <a:r>
              <a:rPr lang="en-US" altLang="ja-JP" sz="900" dirty="0"/>
              <a:t>2nm </a:t>
            </a:r>
            <a:r>
              <a:rPr lang="ja-JP" altLang="en-US" sz="900" dirty="0"/>
              <a:t>程度にわたる原子クラスタの繋がりや配置を表している</a:t>
            </a:r>
          </a:p>
        </p:txBody>
      </p:sp>
      <p:sp>
        <p:nvSpPr>
          <p:cNvPr id="25" name="テキスト ボックス 24">
            <a:extLst>
              <a:ext uri="{FF2B5EF4-FFF2-40B4-BE49-F238E27FC236}">
                <a16:creationId xmlns:a16="http://schemas.microsoft.com/office/drawing/2014/main" id="{7566477F-1140-7A7A-D3BD-50B9A7CA7DF9}"/>
              </a:ext>
            </a:extLst>
          </p:cNvPr>
          <p:cNvSpPr txBox="1"/>
          <p:nvPr/>
        </p:nvSpPr>
        <p:spPr>
          <a:xfrm>
            <a:off x="2952206" y="4561090"/>
            <a:ext cx="2885371" cy="646331"/>
          </a:xfrm>
          <a:prstGeom prst="rect">
            <a:avLst/>
          </a:prstGeom>
          <a:noFill/>
        </p:spPr>
        <p:txBody>
          <a:bodyPr wrap="square">
            <a:spAutoFit/>
          </a:bodyPr>
          <a:lstStyle/>
          <a:p>
            <a:r>
              <a:rPr lang="en-US" altLang="ja-JP" sz="900" dirty="0"/>
              <a:t>(a) : </a:t>
            </a:r>
            <a:r>
              <a:rPr lang="ja-JP" altLang="en-US" sz="900" dirty="0"/>
              <a:t>アモルファス薄膜の局所領域に電子線を当てることで電子回折図形を取得する</a:t>
            </a:r>
            <a:endParaRPr lang="en-US" altLang="ja-JP" sz="900" dirty="0"/>
          </a:p>
          <a:p>
            <a:r>
              <a:rPr lang="en-US" altLang="ja-JP" sz="900" dirty="0"/>
              <a:t>(b): </a:t>
            </a:r>
            <a:r>
              <a:rPr lang="ja-JP" altLang="en-US" sz="900" dirty="0"/>
              <a:t>アモルファスの電子回折図形は、広域だとハローリングが現れるが、狭域だとスポットが現れる</a:t>
            </a:r>
          </a:p>
        </p:txBody>
      </p:sp>
      <p:sp>
        <p:nvSpPr>
          <p:cNvPr id="2" name="コンテンツ プレースホルダー 2">
            <a:extLst>
              <a:ext uri="{FF2B5EF4-FFF2-40B4-BE49-F238E27FC236}">
                <a16:creationId xmlns:a16="http://schemas.microsoft.com/office/drawing/2014/main" id="{3AAF97DB-9584-383B-8F51-DDE2BEB33CA3}"/>
              </a:ext>
            </a:extLst>
          </p:cNvPr>
          <p:cNvSpPr txBox="1">
            <a:spLocks/>
          </p:cNvSpPr>
          <p:nvPr/>
        </p:nvSpPr>
        <p:spPr>
          <a:xfrm>
            <a:off x="6249119" y="702613"/>
            <a:ext cx="3534961" cy="1288736"/>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10000"/>
              </a:lnSpc>
              <a:buFont typeface="Arial" panose="020B0604020202020204" pitchFamily="34" charset="0"/>
              <a:buNone/>
            </a:pPr>
            <a:r>
              <a:rPr lang="ja-JP" altLang="en-US" sz="900" b="1" dirty="0">
                <a:highlight>
                  <a:srgbClr val="FFFF00"/>
                </a:highlight>
              </a:rPr>
              <a:t>局所電子回折計算</a:t>
            </a:r>
            <a:endParaRPr lang="en-US" altLang="ja-JP" sz="900" dirty="0"/>
          </a:p>
          <a:p>
            <a:pPr marL="0" indent="0">
              <a:lnSpc>
                <a:spcPct val="110000"/>
              </a:lnSpc>
              <a:buFont typeface="Arial" panose="020B0604020202020204" pitchFamily="34" charset="0"/>
              <a:buNone/>
            </a:pPr>
            <a:r>
              <a:rPr lang="ja-JP" altLang="en-US" sz="900" dirty="0"/>
              <a:t>・分子動力学シミュレーションを用いて、</a:t>
            </a:r>
            <a:r>
              <a:rPr lang="en-US" altLang="ja-JP" sz="900" dirty="0"/>
              <a:t> Cu</a:t>
            </a:r>
            <a:r>
              <a:rPr lang="en-US" altLang="ja-JP" sz="900" baseline="-25000" dirty="0"/>
              <a:t>64</a:t>
            </a:r>
            <a:r>
              <a:rPr lang="en-US" altLang="ja-JP" sz="900" dirty="0"/>
              <a:t>Zr</a:t>
            </a:r>
            <a:r>
              <a:rPr lang="en-US" altLang="ja-JP" sz="900" baseline="-25000" dirty="0"/>
              <a:t>36</a:t>
            </a:r>
            <a:r>
              <a:rPr lang="ja-JP" altLang="en-US" sz="900" dirty="0"/>
              <a:t>の構造モデルを作成</a:t>
            </a:r>
            <a:endParaRPr lang="en-US" altLang="ja-JP" sz="900" dirty="0"/>
          </a:p>
          <a:p>
            <a:pPr marL="0" indent="0">
              <a:lnSpc>
                <a:spcPct val="110000"/>
              </a:lnSpc>
              <a:buFont typeface="Arial" panose="020B0604020202020204" pitchFamily="34" charset="0"/>
              <a:buNone/>
            </a:pPr>
            <a:r>
              <a:rPr lang="ja-JP" altLang="en-US" sz="900" dirty="0"/>
              <a:t>・モデルの妥当性を確かめたのち、図のように</a:t>
            </a:r>
            <a:r>
              <a:rPr lang="en-US" altLang="ja-JP" sz="900" dirty="0"/>
              <a:t>2.5nm</a:t>
            </a:r>
            <a:r>
              <a:rPr lang="ja-JP" altLang="en-US" sz="900" dirty="0"/>
              <a:t>でスライス</a:t>
            </a:r>
            <a:endParaRPr lang="en-US" altLang="ja-JP" sz="900" dirty="0"/>
          </a:p>
          <a:p>
            <a:pPr marL="0" indent="0">
              <a:lnSpc>
                <a:spcPct val="110000"/>
              </a:lnSpc>
              <a:buFont typeface="Arial" panose="020B0604020202020204" pitchFamily="34" charset="0"/>
              <a:buNone/>
            </a:pPr>
            <a:r>
              <a:rPr lang="ja-JP" altLang="en-US" sz="900" dirty="0"/>
              <a:t>・局所範囲にて</a:t>
            </a:r>
            <a:r>
              <a:rPr lang="en-US" altLang="ja-JP" sz="900" dirty="0"/>
              <a:t>Z</a:t>
            </a:r>
            <a:r>
              <a:rPr lang="ja-JP" altLang="en-US" sz="900" dirty="0"/>
              <a:t>軸方向</a:t>
            </a:r>
            <a:br>
              <a:rPr lang="en-US" altLang="ja-JP" sz="900" dirty="0"/>
            </a:br>
            <a:r>
              <a:rPr lang="ja-JP" altLang="en-US" sz="900" dirty="0"/>
              <a:t>に電子線を照射して電子</a:t>
            </a:r>
            <a:br>
              <a:rPr lang="en-US" altLang="ja-JP" sz="900" dirty="0"/>
            </a:br>
            <a:r>
              <a:rPr lang="ja-JP" altLang="en-US" sz="900" dirty="0"/>
              <a:t>回折図形を計算</a:t>
            </a:r>
            <a:br>
              <a:rPr lang="en-US" altLang="ja-JP" sz="900" dirty="0"/>
            </a:br>
            <a:r>
              <a:rPr lang="en-US" altLang="ja-JP" sz="900" dirty="0"/>
              <a:t>	</a:t>
            </a:r>
            <a:r>
              <a:rPr lang="ja-JP" altLang="en-US" sz="900" dirty="0"/>
              <a:t>↓</a:t>
            </a:r>
            <a:br>
              <a:rPr lang="en-US" altLang="ja-JP" sz="900" dirty="0"/>
            </a:br>
            <a:r>
              <a:rPr lang="ja-JP" altLang="en-US" sz="900" dirty="0"/>
              <a:t>これを位置を少しづつ</a:t>
            </a:r>
            <a:br>
              <a:rPr lang="en-US" altLang="ja-JP" sz="900" dirty="0"/>
            </a:br>
            <a:r>
              <a:rPr lang="ja-JP" altLang="en-US" sz="900" dirty="0"/>
              <a:t>変えながら繰り返す</a:t>
            </a:r>
            <a:endParaRPr lang="en-US" altLang="ja-JP" sz="900" dirty="0"/>
          </a:p>
          <a:p>
            <a:pPr marL="0" indent="0">
              <a:lnSpc>
                <a:spcPct val="110000"/>
              </a:lnSpc>
              <a:buFont typeface="Arial" panose="020B0604020202020204" pitchFamily="34" charset="0"/>
              <a:buNone/>
            </a:pPr>
            <a:endParaRPr lang="en-US" altLang="ja-JP" sz="900" dirty="0"/>
          </a:p>
        </p:txBody>
      </p:sp>
      <p:sp>
        <p:nvSpPr>
          <p:cNvPr id="15" name="テキスト ボックス 14">
            <a:extLst>
              <a:ext uri="{FF2B5EF4-FFF2-40B4-BE49-F238E27FC236}">
                <a16:creationId xmlns:a16="http://schemas.microsoft.com/office/drawing/2014/main" id="{DD4E5F4A-D2D5-D6FC-70D1-9AFE4A096465}"/>
              </a:ext>
            </a:extLst>
          </p:cNvPr>
          <p:cNvSpPr txBox="1"/>
          <p:nvPr/>
        </p:nvSpPr>
        <p:spPr>
          <a:xfrm>
            <a:off x="9922130" y="2082341"/>
            <a:ext cx="1969704" cy="230832"/>
          </a:xfrm>
          <a:prstGeom prst="rect">
            <a:avLst/>
          </a:prstGeom>
          <a:noFill/>
        </p:spPr>
        <p:txBody>
          <a:bodyPr wrap="square">
            <a:spAutoFit/>
          </a:bodyPr>
          <a:lstStyle/>
          <a:p>
            <a:r>
              <a:rPr lang="ja-JP" altLang="en-US" sz="900" dirty="0"/>
              <a:t>計算した局所電子回折図形の一部</a:t>
            </a:r>
          </a:p>
        </p:txBody>
      </p:sp>
      <p:pic>
        <p:nvPicPr>
          <p:cNvPr id="16" name="コンテンツ プレースホルダー 26">
            <a:extLst>
              <a:ext uri="{FF2B5EF4-FFF2-40B4-BE49-F238E27FC236}">
                <a16:creationId xmlns:a16="http://schemas.microsoft.com/office/drawing/2014/main" id="{71026D96-F719-0150-BE22-9973D9ED8B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20279" y="1162269"/>
            <a:ext cx="1402373" cy="1111362"/>
          </a:xfrm>
          <a:prstGeom prst="rect">
            <a:avLst/>
          </a:prstGeom>
        </p:spPr>
      </p:pic>
      <p:pic>
        <p:nvPicPr>
          <p:cNvPr id="17" name="Picture 4">
            <a:extLst>
              <a:ext uri="{FF2B5EF4-FFF2-40B4-BE49-F238E27FC236}">
                <a16:creationId xmlns:a16="http://schemas.microsoft.com/office/drawing/2014/main" id="{7A6B4DC5-BDCF-A155-D2B4-07DFF8CDB3F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367" t="6954" b="9584"/>
          <a:stretch/>
        </p:blipFill>
        <p:spPr bwMode="auto">
          <a:xfrm>
            <a:off x="9953118" y="255349"/>
            <a:ext cx="1813735" cy="180366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0D36E16D-42E3-6A0E-4D18-5DDFD5F1682D}"/>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670" t="7023"/>
          <a:stretch>
            <a:fillRect/>
          </a:stretch>
        </p:blipFill>
        <p:spPr bwMode="auto">
          <a:xfrm>
            <a:off x="8823878" y="2734411"/>
            <a:ext cx="2265638" cy="1171385"/>
          </a:xfrm>
          <a:prstGeom prst="rect">
            <a:avLst/>
          </a:prstGeom>
          <a:noFill/>
          <a:extLst>
            <a:ext uri="{909E8E84-426E-40DD-AFC4-6F175D3DCCD1}">
              <a14:hiddenFill xmlns:a14="http://schemas.microsoft.com/office/drawing/2010/main">
                <a:solidFill>
                  <a:srgbClr val="FFFFFF"/>
                </a:solidFill>
              </a14:hiddenFill>
            </a:ext>
          </a:extLst>
        </p:spPr>
      </p:pic>
      <p:pic>
        <p:nvPicPr>
          <p:cNvPr id="20" name="図 19">
            <a:extLst>
              <a:ext uri="{FF2B5EF4-FFF2-40B4-BE49-F238E27FC236}">
                <a16:creationId xmlns:a16="http://schemas.microsoft.com/office/drawing/2014/main" id="{9B3FD655-730B-C8D8-5E56-7E7DABADC0D9}"/>
              </a:ext>
            </a:extLst>
          </p:cNvPr>
          <p:cNvPicPr>
            <a:picLocks noChangeAspect="1"/>
          </p:cNvPicPr>
          <p:nvPr/>
        </p:nvPicPr>
        <p:blipFill>
          <a:blip r:embed="rId13"/>
          <a:stretch>
            <a:fillRect/>
          </a:stretch>
        </p:blipFill>
        <p:spPr>
          <a:xfrm>
            <a:off x="6638985" y="2749395"/>
            <a:ext cx="2076513" cy="1021846"/>
          </a:xfrm>
          <a:prstGeom prst="rect">
            <a:avLst/>
          </a:prstGeom>
        </p:spPr>
      </p:pic>
      <p:pic>
        <p:nvPicPr>
          <p:cNvPr id="21" name="図 20">
            <a:extLst>
              <a:ext uri="{FF2B5EF4-FFF2-40B4-BE49-F238E27FC236}">
                <a16:creationId xmlns:a16="http://schemas.microsoft.com/office/drawing/2014/main" id="{852F5833-B5C5-AE2F-0C2D-F182D218EF19}"/>
              </a:ext>
            </a:extLst>
          </p:cNvPr>
          <p:cNvPicPr>
            <a:picLocks noChangeAspect="1"/>
          </p:cNvPicPr>
          <p:nvPr/>
        </p:nvPicPr>
        <p:blipFill>
          <a:blip r:embed="rId14"/>
          <a:stretch>
            <a:fillRect/>
          </a:stretch>
        </p:blipFill>
        <p:spPr>
          <a:xfrm>
            <a:off x="9995124" y="3949550"/>
            <a:ext cx="1447576" cy="864780"/>
          </a:xfrm>
          <a:prstGeom prst="rect">
            <a:avLst/>
          </a:prstGeom>
        </p:spPr>
      </p:pic>
      <p:sp>
        <p:nvSpPr>
          <p:cNvPr id="24" name="テキスト ボックス 23">
            <a:extLst>
              <a:ext uri="{FF2B5EF4-FFF2-40B4-BE49-F238E27FC236}">
                <a16:creationId xmlns:a16="http://schemas.microsoft.com/office/drawing/2014/main" id="{3980C0E0-1FE9-003A-A4B0-E23E76955B86}"/>
              </a:ext>
            </a:extLst>
          </p:cNvPr>
          <p:cNvSpPr txBox="1"/>
          <p:nvPr/>
        </p:nvSpPr>
        <p:spPr>
          <a:xfrm>
            <a:off x="7379277" y="2535833"/>
            <a:ext cx="3149023" cy="239104"/>
          </a:xfrm>
          <a:prstGeom prst="rect">
            <a:avLst/>
          </a:prstGeom>
          <a:noFill/>
        </p:spPr>
        <p:txBody>
          <a:bodyPr wrap="square">
            <a:spAutoFit/>
          </a:bodyPr>
          <a:lstStyle/>
          <a:p>
            <a:pPr>
              <a:lnSpc>
                <a:spcPct val="110000"/>
              </a:lnSpc>
            </a:pPr>
            <a:r>
              <a:rPr lang="ja-JP" altLang="en-US" sz="900" dirty="0"/>
              <a:t>ある箇所の隣り合う二つの回折図形と、該当箇所の構造</a:t>
            </a:r>
            <a:endParaRPr lang="en-US" altLang="ja-JP" sz="900" dirty="0"/>
          </a:p>
        </p:txBody>
      </p:sp>
      <p:pic>
        <p:nvPicPr>
          <p:cNvPr id="26" name="Picture 4">
            <a:extLst>
              <a:ext uri="{FF2B5EF4-FFF2-40B4-BE49-F238E27FC236}">
                <a16:creationId xmlns:a16="http://schemas.microsoft.com/office/drawing/2014/main" id="{2C7AD4EA-27D2-D8E6-7BC4-915A4FFDDD00}"/>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6947" t="5856"/>
          <a:stretch>
            <a:fillRect/>
          </a:stretch>
        </p:blipFill>
        <p:spPr bwMode="auto">
          <a:xfrm>
            <a:off x="9021466" y="5147578"/>
            <a:ext cx="639977" cy="62307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a:extLst>
              <a:ext uri="{FF2B5EF4-FFF2-40B4-BE49-F238E27FC236}">
                <a16:creationId xmlns:a16="http://schemas.microsoft.com/office/drawing/2014/main" id="{D18E9177-4A5B-8DD9-B7F1-0E9E7BE8B5D4}"/>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6947" t="5856"/>
          <a:stretch>
            <a:fillRect/>
          </a:stretch>
        </p:blipFill>
        <p:spPr bwMode="auto">
          <a:xfrm>
            <a:off x="9714057" y="5144885"/>
            <a:ext cx="639976" cy="62307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14445692-7A61-9414-C420-5B138A2C77A6}"/>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6578" t="5856"/>
          <a:stretch>
            <a:fillRect/>
          </a:stretch>
        </p:blipFill>
        <p:spPr bwMode="auto">
          <a:xfrm>
            <a:off x="10411080" y="5153594"/>
            <a:ext cx="642512" cy="62307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a:extLst>
              <a:ext uri="{FF2B5EF4-FFF2-40B4-BE49-F238E27FC236}">
                <a16:creationId xmlns:a16="http://schemas.microsoft.com/office/drawing/2014/main" id="{035CF720-1561-6580-B148-B55958BB9812}"/>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7316" t="5856"/>
          <a:stretch>
            <a:fillRect/>
          </a:stretch>
        </p:blipFill>
        <p:spPr bwMode="auto">
          <a:xfrm>
            <a:off x="11116844" y="5153593"/>
            <a:ext cx="637435" cy="623077"/>
          </a:xfrm>
          <a:prstGeom prst="rect">
            <a:avLst/>
          </a:prstGeom>
          <a:noFill/>
          <a:extLst>
            <a:ext uri="{909E8E84-426E-40DD-AFC4-6F175D3DCCD1}">
              <a14:hiddenFill xmlns:a14="http://schemas.microsoft.com/office/drawing/2010/main">
                <a:solidFill>
                  <a:srgbClr val="FFFFFF"/>
                </a:solidFill>
              </a14:hiddenFill>
            </a:ext>
          </a:extLst>
        </p:spPr>
      </p:pic>
      <p:sp>
        <p:nvSpPr>
          <p:cNvPr id="30" name="コンテンツ プレースホルダー 2">
            <a:extLst>
              <a:ext uri="{FF2B5EF4-FFF2-40B4-BE49-F238E27FC236}">
                <a16:creationId xmlns:a16="http://schemas.microsoft.com/office/drawing/2014/main" id="{CD7901D7-B0E0-9890-F74D-8FBA46C2933E}"/>
              </a:ext>
            </a:extLst>
          </p:cNvPr>
          <p:cNvSpPr txBox="1">
            <a:spLocks/>
          </p:cNvSpPr>
          <p:nvPr/>
        </p:nvSpPr>
        <p:spPr>
          <a:xfrm>
            <a:off x="6246188" y="5133086"/>
            <a:ext cx="2768310" cy="960460"/>
          </a:xfrm>
          <a:prstGeom prst="rect">
            <a:avLst/>
          </a:prstGeom>
        </p:spPr>
        <p:txBody>
          <a:bodyPr vert="horz" lIns="63305" tIns="31652" rIns="63305" bIns="31652"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indent="0">
              <a:lnSpc>
                <a:spcPct val="110000"/>
              </a:lnSpc>
              <a:buNone/>
            </a:pPr>
            <a:r>
              <a:rPr lang="ja-JP" altLang="en-US" sz="900" b="1" dirty="0">
                <a:highlight>
                  <a:srgbClr val="FFFF00"/>
                </a:highlight>
              </a:rPr>
              <a:t>課題と今後について</a:t>
            </a:r>
            <a:endParaRPr lang="en-US" altLang="ja-JP" sz="900" dirty="0"/>
          </a:p>
          <a:p>
            <a:pPr marL="0" indent="0">
              <a:lnSpc>
                <a:spcPct val="110000"/>
              </a:lnSpc>
              <a:buNone/>
            </a:pPr>
            <a:r>
              <a:rPr lang="ja-JP" altLang="en-US" sz="900" dirty="0"/>
              <a:t>・より具体的にどのような局所構造があるのかを、</a:t>
            </a:r>
            <a:br>
              <a:rPr lang="en-US" altLang="ja-JP" sz="900" dirty="0"/>
            </a:br>
            <a:r>
              <a:rPr lang="ja-JP" altLang="en-US" sz="900" dirty="0"/>
              <a:t>回折図形からわかるようにしたい</a:t>
            </a:r>
            <a:endParaRPr lang="en-US" altLang="ja-JP" sz="900" dirty="0"/>
          </a:p>
          <a:p>
            <a:pPr marL="0" indent="0">
              <a:lnSpc>
                <a:spcPct val="110000"/>
              </a:lnSpc>
              <a:buNone/>
            </a:pPr>
            <a:r>
              <a:rPr lang="ja-JP" altLang="en-US" sz="900" dirty="0"/>
              <a:t>・全ての回折図形は右の</a:t>
            </a:r>
            <a:r>
              <a:rPr lang="en-US" altLang="ja-JP" sz="900" dirty="0"/>
              <a:t>4</a:t>
            </a:r>
            <a:r>
              <a:rPr lang="ja-JP" altLang="en-US" sz="900" dirty="0"/>
              <a:t>つのパターンに分類でき、</a:t>
            </a:r>
            <a:br>
              <a:rPr lang="en-US" altLang="ja-JP" sz="900" dirty="0"/>
            </a:br>
            <a:r>
              <a:rPr lang="ja-JP" altLang="en-US" sz="900" dirty="0"/>
              <a:t>対応する構造にもある程度の一貫性が見られた</a:t>
            </a:r>
            <a:endParaRPr lang="en-US" altLang="ja-JP" sz="900" dirty="0"/>
          </a:p>
          <a:p>
            <a:pPr marL="0" indent="0">
              <a:lnSpc>
                <a:spcPct val="110000"/>
              </a:lnSpc>
              <a:buNone/>
            </a:pPr>
            <a:endParaRPr lang="en-US" altLang="ja-JP" sz="900" dirty="0"/>
          </a:p>
        </p:txBody>
      </p:sp>
      <p:sp>
        <p:nvSpPr>
          <p:cNvPr id="31" name="テキスト ボックス 30">
            <a:extLst>
              <a:ext uri="{FF2B5EF4-FFF2-40B4-BE49-F238E27FC236}">
                <a16:creationId xmlns:a16="http://schemas.microsoft.com/office/drawing/2014/main" id="{85389A87-0156-712D-C1E1-DBBAE6C2FFA0}"/>
              </a:ext>
            </a:extLst>
          </p:cNvPr>
          <p:cNvSpPr txBox="1"/>
          <p:nvPr/>
        </p:nvSpPr>
        <p:spPr>
          <a:xfrm>
            <a:off x="9017315" y="5767962"/>
            <a:ext cx="2992652" cy="200055"/>
          </a:xfrm>
          <a:prstGeom prst="rect">
            <a:avLst/>
          </a:prstGeom>
          <a:noFill/>
        </p:spPr>
        <p:txBody>
          <a:bodyPr wrap="square">
            <a:spAutoFit/>
          </a:bodyPr>
          <a:lstStyle/>
          <a:p>
            <a:r>
              <a:rPr lang="ja-JP" altLang="en-US" sz="700" dirty="0"/>
              <a:t>  </a:t>
            </a:r>
            <a:r>
              <a:rPr lang="en-US" altLang="ja-JP" sz="700" dirty="0"/>
              <a:t>A. </a:t>
            </a:r>
            <a:r>
              <a:rPr lang="ja-JP" altLang="en-US" sz="700" dirty="0"/>
              <a:t>六回軸的　  　</a:t>
            </a:r>
            <a:r>
              <a:rPr lang="en-US" altLang="ja-JP" sz="700" dirty="0"/>
              <a:t>B. </a:t>
            </a:r>
            <a:r>
              <a:rPr lang="ja-JP" altLang="en-US" sz="700" dirty="0"/>
              <a:t>四回軸的　     </a:t>
            </a:r>
            <a:r>
              <a:rPr lang="en-US" altLang="ja-JP" sz="700" dirty="0"/>
              <a:t>C. </a:t>
            </a:r>
            <a:r>
              <a:rPr lang="ja-JP" altLang="en-US" sz="700" dirty="0"/>
              <a:t>二回軸的　</a:t>
            </a:r>
            <a:r>
              <a:rPr lang="en-US" altLang="ja-JP" sz="700" dirty="0"/>
              <a:t>D. </a:t>
            </a:r>
            <a:r>
              <a:rPr lang="ja-JP" altLang="en-US" sz="700" dirty="0"/>
              <a:t>回折が見られない</a:t>
            </a:r>
          </a:p>
        </p:txBody>
      </p:sp>
      <p:sp>
        <p:nvSpPr>
          <p:cNvPr id="32" name="四角形: 角を丸くする 31">
            <a:extLst>
              <a:ext uri="{FF2B5EF4-FFF2-40B4-BE49-F238E27FC236}">
                <a16:creationId xmlns:a16="http://schemas.microsoft.com/office/drawing/2014/main" id="{F4E1174F-2DFB-8729-9A53-7569F0F14E8D}"/>
              </a:ext>
            </a:extLst>
          </p:cNvPr>
          <p:cNvSpPr/>
          <p:nvPr/>
        </p:nvSpPr>
        <p:spPr>
          <a:xfrm>
            <a:off x="6480799" y="6208401"/>
            <a:ext cx="5196657" cy="365125"/>
          </a:xfrm>
          <a:prstGeom prst="roundRect">
            <a:avLst/>
          </a:prstGeom>
          <a:solidFill>
            <a:schemeClr val="accent4">
              <a:lumMod val="20000"/>
              <a:lumOff val="8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b="1" dirty="0">
                <a:solidFill>
                  <a:schemeClr val="tx1"/>
                </a:solidFill>
              </a:rPr>
              <a:t>今後：回折図形のパターンと構造の対応関係について、機械学習を用いて精度を上げていく</a:t>
            </a:r>
            <a:endParaRPr lang="en-US" altLang="ja-JP" sz="900" b="1" dirty="0">
              <a:solidFill>
                <a:schemeClr val="tx1"/>
              </a:solidFill>
            </a:endParaRPr>
          </a:p>
        </p:txBody>
      </p:sp>
      <p:sp>
        <p:nvSpPr>
          <p:cNvPr id="33" name="矢印: 下 32">
            <a:extLst>
              <a:ext uri="{FF2B5EF4-FFF2-40B4-BE49-F238E27FC236}">
                <a16:creationId xmlns:a16="http://schemas.microsoft.com/office/drawing/2014/main" id="{4F76FF5D-9B0C-4C7D-E663-C906A4F22E1A}"/>
              </a:ext>
            </a:extLst>
          </p:cNvPr>
          <p:cNvSpPr/>
          <p:nvPr/>
        </p:nvSpPr>
        <p:spPr>
          <a:xfrm>
            <a:off x="9021466" y="6082872"/>
            <a:ext cx="108312" cy="65143"/>
          </a:xfrm>
          <a:prstGeom prst="down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701"/>
          </a:p>
        </p:txBody>
      </p:sp>
    </p:spTree>
    <p:extLst>
      <p:ext uri="{BB962C8B-B14F-4D97-AF65-F5344CB8AC3E}">
        <p14:creationId xmlns:p14="http://schemas.microsoft.com/office/powerpoint/2010/main" val="26227012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中間発表</Template>
  <TotalTime>38360</TotalTime>
  <Words>1861</Words>
  <Application>Microsoft Office PowerPoint</Application>
  <PresentationFormat>ワイド画面</PresentationFormat>
  <Paragraphs>177</Paragraphs>
  <Slides>13</Slides>
  <Notes>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游ゴシック</vt:lpstr>
      <vt:lpstr>游ゴシック Light</vt:lpstr>
      <vt:lpstr>Arial</vt:lpstr>
      <vt:lpstr>Office テーマ</vt:lpstr>
      <vt:lpstr>局所電子回折計算による Cu64Zr36金属ガラスにおける 中距離秩序構造の抽出</vt:lpstr>
      <vt:lpstr>背景・目的</vt:lpstr>
      <vt:lpstr>方法１</vt:lpstr>
      <vt:lpstr>方法２</vt:lpstr>
      <vt:lpstr>結果１ –ガラス構造モデルの作成</vt:lpstr>
      <vt:lpstr>結果２ –ガラス構造からの電子回折計算</vt:lpstr>
      <vt:lpstr>結果３ –局所電子回折計算</vt:lpstr>
      <vt:lpstr>結果４ –回折パターン</vt:lpstr>
      <vt:lpstr>結果５ –中距離秩序構造の抽出</vt:lpstr>
      <vt:lpstr>考察と結言</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Yukinaga Iwao</dc:creator>
  <cp:lastModifiedBy>Yukinaga Iwao</cp:lastModifiedBy>
  <cp:revision>1</cp:revision>
  <cp:lastPrinted>2025-02-06T11:33:10Z</cp:lastPrinted>
  <dcterms:created xsi:type="dcterms:W3CDTF">2024-11-21T18:05:37Z</dcterms:created>
  <dcterms:modified xsi:type="dcterms:W3CDTF">2025-06-26T09:20:03Z</dcterms:modified>
</cp:coreProperties>
</file>